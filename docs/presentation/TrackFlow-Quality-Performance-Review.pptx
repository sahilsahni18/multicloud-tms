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71474291-5abb-93d1-3294-a74f999b068e}">
          <p14:sldIdLst>
            <p14:sldId id="256"/>
            <p14:sldId id="257"/>
          </p14:sldIdLst>
        </p14:section>
        <p14:section name="Sonar" id="{e5138ae5-fed3-ccea-1cbd-2552c4142d2e}">
          <p14:sldIdLst>
            <p14:sldId id="258"/>
            <p14:sldId id="259"/>
            <p14:sldId id="260"/>
          </p14:sldIdLst>
        </p14:section>
        <p14:section name="Design patterns" id="{e5b395e7-3a94-1b20-aa1f-4020c0f0b9b2}">
          <p14:sldIdLst>
            <p14:sldId id="261"/>
            <p14:sldId id="262"/>
            <p14:sldId id="263"/>
          </p14:sldIdLst>
        </p14:section>
        <p14:section name="Load test" id="{97059911-bd8b-cc62-1f3c-747c181fb5e8}">
          <p14:sldIdLst>
            <p14:sldId id="264"/>
            <p14:sldId id="265"/>
            <p14:sldId id="266"/>
            <p14:sldId id="267"/>
          </p14:sldIdLst>
        </p14:section>
        <p14:section name="Fix and result" id="{c4a6890f-a218-5abe-47fa-a91f32209eec}">
          <p14:sldIdLst>
            <p14:sldId id="268"/>
            <p14:sldId id="269"/>
            <p14:sldId id="270"/>
            <p14:sldId id="271"/>
          </p14:sldIdLst>
        </p14:section>
        <p14:section name="Next steps" id="{af255cbe-d5c4-f157-0f06-2107abf80b91}">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B4D"/>
                </a:solidFill>
                <a:latin typeface="+mn-lt"/>
              </a:defRPr>
            </a:pPr>
            <a:r>
              <a:rPr sz="1400" b="0" i="0" u="none" strike="noStrike">
                <a:solidFill>
                  <a:srgbClr val="172B4D"/>
                </a:solidFill>
                <a:latin typeface="+mn-lt"/>
              </a:rPr>
              <a:t>Issues by type</a:t>
            </a:r>
          </a:p>
        </c:rich>
      </c:tx>
      <c:layout/>
      <c:overlay val="0"/>
    </c:title>
    <c:autoTitleDeleted val="0"/>
    <c:plotArea>
      <c:layout/>
      <c:barChart>
        <c:barDir val="col"/>
        <c:grouping val="clustered"/>
        <c:varyColors val="0"/>
        <c:ser>
          <c:idx val="0"/>
          <c:order val="0"/>
          <c:tx>
            <c:strRef>
              <c:f>Sheet1!$B$1</c:f>
              <c:strCache>
                <c:ptCount val="1"/>
                <c:pt idx="0">
                  <c:v>First scan</c:v>
                </c:pt>
              </c:strCache>
            </c:strRef>
          </c:tx>
          <c:spPr>
            <a:solidFill>
              <a:srgbClr val="C9372C"/>
            </a:solidFill>
            <a:effectLst/>
          </c:spPr>
          <c:invertIfNegative val="0"/>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cat>
            <c:multiLvlStrRef>
              <c:f>Sheet1!$A$2:$A$4</c:f>
              <c:multiLvlStrCache>
                <c:ptCount val="3"/>
                <c:lvl>
                  <c:pt idx="0">
                    <c:v>Bugs</c:v>
                  </c:pt>
                  <c:pt idx="1">
                    <c:v>Vulnerabilities</c:v>
                  </c:pt>
                  <c:pt idx="2">
                    <c:v>Code smells</c:v>
                  </c:pt>
                </c:lvl>
              </c:multiLvlStrCache>
            </c:multiLvlStrRef>
          </c:cat>
          <c:val>
            <c:numRef>
              <c:f>Sheet1!$B$2:$B$4</c:f>
              <c:numCache>
                <c:formatCode>General</c:formatCode>
                <c:ptCount val="3"/>
                <c:pt idx="0">
                  <c:v>14</c:v>
                </c:pt>
                <c:pt idx="1">
                  <c:v>11</c:v>
                </c:pt>
                <c:pt idx="2">
                  <c:v>3</c:v>
                </c:pt>
              </c:numCache>
            </c:numRef>
          </c:val>
        </c:ser>
        <c:ser>
          <c:idx val="1"/>
          <c:order val="1"/>
          <c:tx>
            <c:strRef>
              <c:f>Sheet1!$C$1</c:f>
              <c:strCache>
                <c:ptCount val="1"/>
                <c:pt idx="0">
                  <c:v>After fixes</c:v>
                </c:pt>
              </c:strCache>
            </c:strRef>
          </c:tx>
          <c:spPr>
            <a:solidFill>
              <a:srgbClr val="1F845A"/>
            </a:solidFill>
            <a:effectLst/>
          </c:spPr>
          <c:invertIfNegative val="0"/>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cat>
            <c:multiLvlStrRef>
              <c:f>Sheet1!$A$2:$A$4</c:f>
              <c:multiLvlStrCache>
                <c:ptCount val="3"/>
                <c:lvl>
                  <c:pt idx="0">
                    <c:v>Bugs</c:v>
                  </c:pt>
                  <c:pt idx="1">
                    <c:v>Vulnerabilities</c:v>
                  </c:pt>
                  <c:pt idx="2">
                    <c:v>Code smells</c:v>
                  </c:pt>
                </c:lvl>
              </c:multiLvlStrCache>
            </c:multiLvlStrRef>
          </c:cat>
          <c:val>
            <c:numRef>
              <c:f>Sheet1!$C$2:$C$4</c:f>
              <c:numCache>
                <c:formatCode>General</c:formatCode>
                <c:ptCount val="3"/>
                <c:pt idx="0">
                  <c:v>0</c:v>
                </c:pt>
                <c:pt idx="1">
                  <c:v>0</c:v>
                </c:pt>
                <c:pt idx="2">
                  <c:v>0</c:v>
                </c:pt>
              </c:numCache>
            </c:numRef>
          </c:val>
        </c:ser>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B4D"/>
                </a:solidFill>
                <a:latin typeface="+mn-lt"/>
              </a:defRPr>
            </a:pPr>
            <a:endParaRPr lang="en-US"/>
          </a:p>
        </c:txPr>
        <c:crossAx val="2094734552"/>
        <c:crosses val="autoZero"/>
        <c:auto val="1"/>
        <c:lblAlgn val="ctr"/>
        <c:noMultiLvlLbl val="1"/>
      </c:catAx>
      <c:valAx>
        <c:axId val="2094734552"/>
        <c:scaling>
          <c:orientation val="minMax"/>
          <c:max val="16"/>
        </c:scaling>
        <c:delete val="0"/>
        <c:axPos val="l"/>
        <c:majorGridlines>
          <c:spPr>
            <a:ln w="9525" cap="flat">
              <a:solidFill>
                <a:srgbClr val="DF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C8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B4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B4D"/>
                </a:solidFill>
                <a:latin typeface="+mn-lt"/>
              </a:defRPr>
            </a:pPr>
            <a:r>
              <a:rPr sz="1400" b="0" i="0" u="none" strike="noStrike">
                <a:solidFill>
                  <a:srgbClr val="172B4D"/>
                </a:solidFill>
                <a:latin typeface="+mn-lt"/>
              </a:rPr>
              <a:t>Traffic mix (each request is one API call)</a:t>
            </a:r>
          </a:p>
        </c:rich>
      </c:tx>
      <c:layout/>
      <c:overlay val="0"/>
    </c:title>
    <c:autoTitleDeleted val="0"/>
    <c:plotArea>
      <c:layout/>
      <c:doughnutChart>
        <c:varyColors val="1"/>
        <c:ser>
          <c:idx val="0"/>
          <c:order val="0"/>
          <c:tx>
            <c:strRef>
              <c:f>Sheet1!$B$1</c:f>
              <c:strCache>
                <c:ptCount val="1"/>
                <c:pt idx="0">
                  <c:v>Traffic mix</c:v>
                </c:pt>
              </c:strCache>
            </c:strRef>
          </c:tx>
          <c:spPr>
            <a:solidFill>
              <a:schemeClr val="accent1"/>
            </a:solidFill>
            <a:ln w="9525" cap="flat">
              <a:solidFill>
                <a:srgbClr val="F9F9F9"/>
              </a:solidFill>
              <a:prstDash val="solid"/>
              <a:round/>
            </a:ln>
            <a:effectLst/>
          </c:spPr>
          <c:dPt>
            <c:idx val="0"/>
            <c:bubble3D val="0"/>
            <c:spPr>
              <a:solidFill>
                <a:srgbClr val="0C66E4"/>
              </a:solidFill>
              <a:effectLst/>
            </c:spPr>
          </c:dPt>
          <c:dPt>
            <c:idx val="1"/>
            <c:bubble3D val="0"/>
            <c:spPr>
              <a:solidFill>
                <a:srgbClr val="6E5DC6"/>
              </a:solidFill>
              <a:effectLst/>
            </c:spPr>
          </c:dPt>
          <c:dPt>
            <c:idx val="2"/>
            <c:bubble3D val="0"/>
            <c:spPr>
              <a:solidFill>
                <a:srgbClr val="0078D4"/>
              </a:solidFill>
              <a:effectLst/>
            </c:spPr>
          </c:dPt>
          <c:dPt>
            <c:idx val="3"/>
            <c:bubble3D val="0"/>
            <c:spPr>
              <a:solidFill>
                <a:srgbClr val="FF9900"/>
              </a:solidFill>
              <a:effectLst/>
            </c:spPr>
          </c:dPt>
          <c:dPt>
            <c:idx val="4"/>
            <c:bubble3D val="0"/>
            <c:spPr>
              <a:solidFill>
                <a:srgbClr val="1F845A"/>
              </a:solidFill>
              <a:effectLst/>
            </c:spPr>
          </c:dPt>
          <c:dPt>
            <c:idx val="5"/>
            <c:bubble3D val="0"/>
            <c:spPr>
              <a:solidFill>
                <a:srgbClr val="8590A2"/>
              </a:solidFill>
              <a:effectLst/>
            </c:spPr>
          </c:dPt>
          <c:dPt>
            <c:idx val="6"/>
            <c:bubble3D val="0"/>
            <c:spPr>
              <a:solidFill>
                <a:srgbClr val="C9372C"/>
              </a:solidFill>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4"/>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5"/>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6"/>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Sheet1!$A$2:$A$8</c:f>
              <c:strCache>
                <c:ptCount val="7"/>
                <c:pt idx="0">
                  <c:v>Ticket list</c:v>
                </c:pt>
                <c:pt idx="1">
                  <c:v>Ticket detail</c:v>
                </c:pt>
                <c:pt idx="2">
                  <c:v>Timeline</c:v>
                </c:pt>
                <c:pt idx="3">
                  <c:v>Dashboard</c:v>
                </c:pt>
                <c:pt idx="4">
                  <c:v>Projects</c:v>
                </c:pt>
                <c:pt idx="5">
                  <c:v>Search</c:v>
                </c:pt>
                <c:pt idx="6">
                  <c:v>New comment</c:v>
                </c:pt>
              </c:strCache>
            </c:strRef>
          </c:cat>
          <c:val>
            <c:numRef>
              <c:f>Sheet1!$B$2:$B$8</c:f>
              <c:numCache>
                <c:ptCount val="7"/>
                <c:pt idx="0">
                  <c:v>35</c:v>
                </c:pt>
                <c:pt idx="1">
                  <c:v>20</c:v>
                </c:pt>
                <c:pt idx="2">
                  <c:v>15</c:v>
                </c:pt>
                <c:pt idx="3">
                  <c:v>10</c:v>
                </c:pt>
                <c:pt idx="4">
                  <c:v>10</c:v>
                </c:pt>
                <c:pt idx="5">
                  <c:v>5</c:v>
                </c:pt>
                <c:pt idx="6">
                  <c:v>5</c:v>
                </c:pt>
              </c:numCache>
            </c:numRef>
          </c:val>
        </c:ser>
        <c:firstSliceAng val="0"/>
        <c:holeSize val="55"/>
      </c:doughnutChart>
      <c:spPr>
        <a:noFill/>
        <a:ln>
          <a:noFill/>
        </a:ln>
        <a:effectLst/>
      </c:spPr>
    </c:plotArea>
    <c:legend>
      <c:legendPos val="r"/>
      <c:overlay val="0"/>
      <c:txPr>
        <a:bodyPr/>
        <a:lstStyle/>
        <a:p>
          <a:pPr>
            <a:defRPr sz="1200">
              <a:solidFill>
                <a:srgbClr val="172B4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B4D"/>
                </a:solidFill>
                <a:latin typeface="+mn-lt"/>
              </a:defRPr>
            </a:pPr>
            <a:r>
              <a:rPr sz="1400" b="0" i="0" u="none" strike="noStrike">
                <a:solidFill>
                  <a:srgbClr val="172B4D"/>
                </a:solidFill>
                <a:latin typeface="+mn-lt"/>
              </a:rPr>
              <a:t>p95 latency (ms) by load (requests per second)</a:t>
            </a:r>
          </a:p>
        </c:rich>
      </c:tx>
      <c:layout/>
      <c:overlay val="0"/>
    </c:title>
    <c:autoTitleDeleted val="0"/>
    <c:plotArea>
      <c:layout/>
      <c:barChart>
        <c:barDir val="col"/>
        <c:grouping val="clustered"/>
        <c:varyColors val="0"/>
        <c:ser>
          <c:idx val="0"/>
          <c:order val="0"/>
          <c:tx>
            <c:strRef>
              <c:f>Sheet1!$B$1</c:f>
              <c:strCache>
                <c:ptCount val="1"/>
                <c:pt idx="0">
                  <c:v>p95 (ms)</c:v>
                </c:pt>
              </c:strCache>
            </c:strRef>
          </c:tx>
          <c:spPr>
            <a:solidFill>
              <a:srgbClr val="0C66E4"/>
            </a:solidFill>
            <a:effectLst/>
          </c:spPr>
          <c:invertIfNegative val="0"/>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dPt>
            <c:idx val="0"/>
            <c:invertIfNegative val="0"/>
            <c:bubble3D val="0"/>
            <c:spPr>
              <a:solidFill>
                <a:srgbClr val="0C66E4"/>
              </a:solidFill>
              <a:effectLst/>
            </c:spPr>
          </c:dPt>
          <c:dPt>
            <c:idx val="1"/>
            <c:invertIfNegative val="0"/>
            <c:bubble3D val="0"/>
            <c:spPr>
              <a:solidFill>
                <a:srgbClr val="0C66E4"/>
              </a:solidFill>
              <a:effectLst/>
            </c:spPr>
          </c:dPt>
          <c:dPt>
            <c:idx val="2"/>
            <c:invertIfNegative val="0"/>
            <c:bubble3D val="0"/>
            <c:spPr>
              <a:solidFill>
                <a:srgbClr val="0C66E4"/>
              </a:solidFill>
              <a:effectLst/>
            </c:spPr>
          </c:dPt>
          <c:dPt>
            <c:idx val="3"/>
            <c:invertIfNegative val="0"/>
            <c:bubble3D val="0"/>
            <c:spPr>
              <a:solidFill>
                <a:srgbClr val="0C66E4"/>
              </a:solidFill>
              <a:effectLst/>
            </c:spPr>
          </c:dPt>
          <c:dPt>
            <c:idx val="4"/>
            <c:invertIfNegative val="0"/>
            <c:bubble3D val="0"/>
            <c:spPr>
              <a:solidFill>
                <a:srgbClr val="0C66E4"/>
              </a:solidFill>
              <a:effectLst/>
            </c:spPr>
          </c:dPt>
          <c:dPt>
            <c:idx val="5"/>
            <c:invertIfNegative val="0"/>
            <c:bubble3D val="0"/>
            <c:spPr>
              <a:solidFill>
                <a:srgbClr val="0C66E4"/>
              </a:solidFill>
              <a:effectLst/>
            </c:spPr>
          </c:dPt>
          <c:dPt>
            <c:idx val="6"/>
            <c:invertIfNegative val="0"/>
            <c:bubble3D val="0"/>
            <c:spPr>
              <a:solidFill>
                <a:srgbClr val="0C66E4"/>
              </a:solidFill>
              <a:effectLst/>
            </c:spPr>
          </c:dPt>
          <c:dPt>
            <c:idx val="7"/>
            <c:invertIfNegative val="0"/>
            <c:bubble3D val="0"/>
            <c:spPr>
              <a:solidFill>
                <a:srgbClr val="C9372C"/>
              </a:solidFill>
              <a:effectLst/>
            </c:spPr>
          </c:dPt>
          <c:dPt>
            <c:idx val="8"/>
            <c:invertIfNegative val="0"/>
            <c:bubble3D val="0"/>
            <c:spPr>
              <a:solidFill>
                <a:srgbClr val="C9372C"/>
              </a:solidFill>
              <a:effectLst/>
            </c:spPr>
          </c:dPt>
          <c:cat>
            <c:multiLvlStrRef>
              <c:f>Sheet1!$A$2:$A$10</c:f>
              <c:multiLvlStrCache>
                <c:ptCount val="9"/>
                <c:lvl>
                  <c:pt idx="0">
                    <c:v>100</c:v>
                  </c:pt>
                  <c:pt idx="1">
                    <c:v>140</c:v>
                  </c:pt>
                  <c:pt idx="2">
                    <c:v>180</c:v>
                  </c:pt>
                  <c:pt idx="3">
                    <c:v>220</c:v>
                  </c:pt>
                  <c:pt idx="4">
                    <c:v>260</c:v>
                  </c:pt>
                  <c:pt idx="5">
                    <c:v>300</c:v>
                  </c:pt>
                  <c:pt idx="6">
                    <c:v>340</c:v>
                  </c:pt>
                  <c:pt idx="7">
                    <c:v>380</c:v>
                  </c:pt>
                  <c:pt idx="8">
                    <c:v>420</c:v>
                  </c:pt>
                </c:lvl>
              </c:multiLvlStrCache>
            </c:multiLvlStrRef>
          </c:cat>
          <c:val>
            <c:numRef>
              <c:f>Sheet1!$B$2:$B$10</c:f>
              <c:numCache>
                <c:formatCode>General</c:formatCode>
                <c:ptCount val="9"/>
                <c:pt idx="0">
                  <c:v>75</c:v>
                </c:pt>
                <c:pt idx="1">
                  <c:v>17</c:v>
                </c:pt>
                <c:pt idx="2">
                  <c:v>17</c:v>
                </c:pt>
                <c:pt idx="3">
                  <c:v>18</c:v>
                </c:pt>
                <c:pt idx="4">
                  <c:v>22</c:v>
                </c:pt>
                <c:pt idx="5">
                  <c:v>21</c:v>
                </c:pt>
                <c:pt idx="6">
                  <c:v>17</c:v>
                </c:pt>
                <c:pt idx="7">
                  <c:v>1876</c:v>
                </c:pt>
                <c:pt idx="8">
                  <c:v>3680</c:v>
                </c:pt>
              </c:numCache>
            </c:numRef>
          </c:val>
        </c:ser>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B4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F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C8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B4D"/>
                </a:solidFill>
                <a:latin typeface="+mn-lt"/>
              </a:defRPr>
            </a:pPr>
            <a:r>
              <a:rPr sz="1400" b="0" i="0" u="none" strike="noStrike">
                <a:solidFill>
                  <a:srgbClr val="172B4D"/>
                </a:solidFill>
                <a:latin typeface="+mn-lt"/>
              </a:rPr>
              <a:t>Database time per minute at load (seconds)</a:t>
            </a:r>
          </a:p>
        </c:rich>
      </c:tx>
      <c:layout/>
      <c:overlay val="0"/>
    </c:title>
    <c:autoTitleDeleted val="0"/>
    <c:plotArea>
      <c:layout/>
      <c:barChart>
        <c:barDir val="bar"/>
        <c:grouping val="clustered"/>
        <c:varyColors val="0"/>
        <c:ser>
          <c:idx val="0"/>
          <c:order val="0"/>
          <c:tx>
            <c:strRef>
              <c:f>Sheet1!$B$1</c:f>
              <c:strCache>
                <c:ptCount val="1"/>
                <c:pt idx="0">
                  <c:v>DB seconds per minute</c:v>
                </c:pt>
              </c:strCache>
            </c:strRef>
          </c:tx>
          <c:spPr>
            <a:solidFill>
              <a:srgbClr val="FF9900"/>
            </a:solidFill>
            <a:effectLst/>
          </c:spPr>
          <c:invertIfNegative val="0"/>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cat>
            <c:multiLvlStrRef>
              <c:f>Sheet1!$A$2:$A$5</c:f>
              <c:multiLvlStrCache>
                <c:ptCount val="4"/>
                <c:lvl>
                  <c:pt idx="0">
                    <c:v>Ticket list + page count</c:v>
                  </c:pt>
                  <c:pt idx="1">
                    <c:v>Dashboard</c:v>
                  </c:pt>
                  <c:pt idx="2">
                    <c:v>SET autocommit + COMMIT</c:v>
                  </c:pt>
                  <c:pt idx="3">
                    <c:v>Project list stats</c:v>
                  </c:pt>
                </c:lvl>
              </c:multiLvlStrCache>
            </c:multiLvlStrRef>
          </c:cat>
          <c:val>
            <c:numRef>
              <c:f>Sheet1!$B$2:$B$5</c:f>
              <c:numCache>
                <c:formatCode>General</c:formatCode>
                <c:ptCount val="4"/>
                <c:pt idx="0">
                  <c:v>100</c:v>
                </c:pt>
                <c:pt idx="1">
                  <c:v>70</c:v>
                </c:pt>
                <c:pt idx="2">
                  <c:v>37</c:v>
                </c:pt>
                <c:pt idx="3">
                  <c:v>28</c:v>
                </c:pt>
              </c:numCache>
            </c:numRef>
          </c:val>
        </c:ser>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B4D"/>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FE1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C8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B4D"/>
                </a:solidFill>
                <a:latin typeface="+mn-lt"/>
              </a:defRPr>
            </a:pPr>
            <a:r>
              <a:rPr sz="1400" b="0" i="0" u="none" strike="noStrike">
                <a:solidFill>
                  <a:srgbClr val="172B4D"/>
                </a:solidFill>
                <a:latin typeface="+mn-lt"/>
              </a:rPr>
              <a:t>Requests per second</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8590A2"/>
            </a:solidFill>
            <a:effectLst/>
          </c:spPr>
          <c:invertIfNegative val="0"/>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cat>
            <c:multiLvlStrRef>
              <c:f>Sheet1!$A$2:$A$4</c:f>
              <c:multiLvlStrCache>
                <c:ptCount val="3"/>
                <c:lvl>
                  <c:pt idx="0">
                    <c:v>Last healthy load</c:v>
                  </c:pt>
                  <c:pt idx="1">
                    <c:v>Failure point</c:v>
                  </c:pt>
                  <c:pt idx="2">
                    <c:v>Max throughput</c:v>
                  </c:pt>
                </c:lvl>
              </c:multiLvlStrCache>
            </c:multiLvlStrRef>
          </c:cat>
          <c:val>
            <c:numRef>
              <c:f>Sheet1!$B$2:$B$4</c:f>
              <c:numCache>
                <c:formatCode>General</c:formatCode>
                <c:ptCount val="3"/>
                <c:pt idx="0">
                  <c:v>340</c:v>
                </c:pt>
                <c:pt idx="1">
                  <c:v>380</c:v>
                </c:pt>
                <c:pt idx="2">
                  <c:v>376</c:v>
                </c:pt>
              </c:numCache>
            </c:numRef>
          </c:val>
        </c:ser>
        <c:ser>
          <c:idx val="1"/>
          <c:order val="1"/>
          <c:tx>
            <c:strRef>
              <c:f>Sheet1!$C$1</c:f>
              <c:strCache>
                <c:ptCount val="1"/>
                <c:pt idx="0">
                  <c:v>After</c:v>
                </c:pt>
              </c:strCache>
            </c:strRef>
          </c:tx>
          <c:spPr>
            <a:solidFill>
              <a:srgbClr val="1F845A"/>
            </a:solidFill>
            <a:effectLst/>
          </c:spPr>
          <c:invertIfNegative val="0"/>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cat>
            <c:multiLvlStrRef>
              <c:f>Sheet1!$A$2:$A$4</c:f>
              <c:multiLvlStrCache>
                <c:ptCount val="3"/>
                <c:lvl>
                  <c:pt idx="0">
                    <c:v>Last healthy load</c:v>
                  </c:pt>
                  <c:pt idx="1">
                    <c:v>Failure point</c:v>
                  </c:pt>
                  <c:pt idx="2">
                    <c:v>Max throughput</c:v>
                  </c:pt>
                </c:lvl>
              </c:multiLvlStrCache>
            </c:multiLvlStrRef>
          </c:cat>
          <c:val>
            <c:numRef>
              <c:f>Sheet1!$C$2:$C$4</c:f>
              <c:numCache>
                <c:formatCode>General</c:formatCode>
                <c:ptCount val="3"/>
                <c:pt idx="0">
                  <c:v>540</c:v>
                </c:pt>
                <c:pt idx="1">
                  <c:v>600</c:v>
                </c:pt>
                <c:pt idx="2">
                  <c:v>555</c:v>
                </c:pt>
              </c:numCache>
            </c:numRef>
          </c:val>
        </c:ser>
        <c:dLbls>
          <c:numFmt formatCode="#,##0" sourceLinked="0"/>
          <c:txPr>
            <a:bodyPr/>
            <a:lstStyle/>
            <a:p>
              <a:pPr>
                <a:defRPr b="0" i="0" strike="noStrike" sz="1200" u="none">
                  <a:solidFill>
                    <a:srgbClr val="172B4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B4D"/>
                </a:solidFill>
                <a:latin typeface="+mn-lt"/>
              </a:defRPr>
            </a:pPr>
            <a:endParaRPr lang="en-US"/>
          </a:p>
        </c:txPr>
        <c:crossAx val="2094734552"/>
        <c:crosses val="autoZero"/>
        <c:auto val="1"/>
        <c:lblAlgn val="ctr"/>
        <c:noMultiLvlLbl val="1"/>
      </c:catAx>
      <c:valAx>
        <c:axId val="2094734552"/>
        <c:scaling>
          <c:orientation val="minMax"/>
          <c:max val="700"/>
        </c:scaling>
        <c:delete val="0"/>
        <c:axPos val="l"/>
        <c:majorGridlines>
          <c:spPr>
            <a:ln w="9525" cap="flat">
              <a:solidFill>
                <a:srgbClr val="DF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C8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B4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review answers the four things that were asked after the demo: run Sonar and find the smells, identify the design patterns, load test the application to find its failure point, and fix that point to raise it by more than 50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are done and pushed to the repository, each with a written report in the docs folder. The headline: zero open Sonar issues with A ratings everywhere, thirty documented patterns, and a failure point that moved from 380 to 600 requests per second on the same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static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 covered the whole repository, not just the Java code. 14 bugs, 11 vulnerabilities and 3 code smells on the first scan, all at zero now. Reliability went from C to A and security from E to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findings were fixed in code. The most important was a committed database password in the local Kubernetes setup. The 6 accepted ones are design decisions rather than defects, and each has its reason written next to the exclusion, so it is reviewable. The one open quality item is frontend test coverage at 16 percent, while the backend has 89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design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list with file references is in docs/design-patterns.md. Grouped here by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carry most of the design weight: Strategy for the deployment portal, Observer for after-commit events, the ticket state machine, and the policy and specification pair for access rules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runs the production image with the resources of one cloud pod, against a database sized like the cloud one, with a realistic mix of reads and five percent writes. Each version gets a fresh database and the exact same load ladder, and nothing else runs on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is flat around 17 to 22 milliseconds up to 340 requests per second, then at 380 it falls off a cliff to almost two seconds with dropped requests. That is the failure point. Both the database and the application CPU were saturated.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the application's own metrics and MySQL performance_schema. Three causes stood out: the ticket list loading far more than it shows, the dashboard running seven queries per view, and pure overhead from autocommit toggling around every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the fixes and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targets one measured cause. The test suite confirms the API behaves the same. I also tried MySQL driver tuning settings, but they made the backend stall, so they were removed. That is documented in the report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machine, same data, same ladder. The failure point moved from 380 to 600 requests per second, plus 58 percent, and the highest healthy load from 340 to 540, plus 59 percent. At 380, where the old code took almost two seconds, the new code answers in 7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the critical loads. Where the old code collapsed, the new code stays at 6 to 7 milliseconds until 540, and fails only at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transparent about limits: this is one pod on a replica, and the dashboard cache benefits from a small set of test users. Next steps are frontend tests, SonarCloud on every push, and scaling out since the single CPU is now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repository with written reports for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_TITLE">
    <p:bg>
      <p:bgPr>
        <a:solidFill>
          <a:srgbClr val="0B1B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86868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154680"/>
            <a:ext cx="8229600" cy="9144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_SECTION">
    <p:bg>
      <p:bgPr>
        <a:solidFill>
          <a:srgbClr val="0B1B3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7315200" cy="457200"/>
          </a:xfrm>
          <a:prstGeom prst="rect">
            <a:avLst/>
          </a:prstGeom>
          <a:noFill/>
          <a:ln/>
        </p:spPr>
        <p:txBody>
          <a:bodyPr wrap="square" rtlCol="0"/>
          <a:lstStyle>
            <a:lvl1pPr indent="0" marL="0">
              <a:buNone/>
              <a:defRPr lang="en-US" sz="1800" b="1"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2651760"/>
            <a:ext cx="105156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749040"/>
            <a:ext cx="1005840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E6C84"/>
                </a:solidFill>
              </a:rPr>
              <a:t>TrackFlow · Quality, design and performance review</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8686800" cy="1463040"/>
          </a:xfrm>
          <a:prstGeom prst="rect">
            <a:avLst/>
          </a:prstGeom>
          <a:noFill/>
          <a:ln/>
        </p:spPr>
        <p:txBody>
          <a:bodyPr wrap="square" lIns="0" tIns="0" rIns="0" bIns="0" rtlCol="0" anchor="b"/>
          <a:lstStyle/>
          <a:p>
            <a:pPr algn="l" indent="0" marL="0">
              <a:buNone/>
            </a:pPr>
            <a:r>
              <a:rPr lang="en-US" sz="4800" b="1" dirty="0">
                <a:solidFill>
                  <a:schemeClr val="bg1"/>
                </a:solidFill>
              </a:rPr>
              <a:t>Quality, design and performance review</a:t>
            </a:r>
            <a:endParaRPr lang="en-US" sz="4800" dirty="0"/>
          </a:p>
        </p:txBody>
      </p:sp>
      <p:sp>
        <p:nvSpPr>
          <p:cNvPr id="3" name="Text 0"/>
          <p:cNvSpPr/>
          <p:nvPr>
            <p:ph idx="101" type="body" hasCustomPrompt="1"/>
          </p:nvPr>
        </p:nvSpPr>
        <p:spPr>
          <a:xfrm>
            <a:off x="731520" y="3154680"/>
            <a:ext cx="8229600" cy="914400"/>
          </a:xfrm>
          <a:prstGeom prst="rect">
            <a:avLst/>
          </a:prstGeom>
          <a:noFill/>
          <a:ln/>
        </p:spPr>
        <p:txBody>
          <a:bodyPr wrap="square" lIns="0" tIns="0" rIns="0" bIns="0" rtlCol="0" anchor="t"/>
          <a:lstStyle/>
          <a:p>
            <a:pPr algn="l" indent="0" marL="0">
              <a:buNone/>
            </a:pPr>
            <a:r>
              <a:rPr lang="en-US" sz="2200" dirty="0">
                <a:solidFill>
                  <a:schemeClr val="bg2"/>
                </a:solidFill>
              </a:rPr>
              <a:t>TrackFlow: Sonar analysis, design patterns, load test and the fixes that raised the failure point by 58%</a:t>
            </a:r>
            <a:endParaRPr lang="en-US" sz="2200" dirty="0"/>
          </a:p>
        </p:txBody>
      </p:sp>
      <p:sp>
        <p:nvSpPr>
          <p:cNvPr id="4" name="Text 2"/>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chemeClr val="bg2"/>
                </a:solidFill>
              </a:rPr>
              <a:t>github.com/sahilsahni18/multicloud-tms</a:t>
            </a:r>
            <a:endParaRPr lang="en-US" sz="1400" dirty="0"/>
          </a:p>
        </p:txBody>
      </p:sp>
      <p:sp>
        <p:nvSpPr>
          <p:cNvPr id="5" name="Shape 3"/>
          <p:cNvSpPr/>
          <p:nvPr/>
        </p:nvSpPr>
        <p:spPr>
          <a:xfrm>
            <a:off x="9509760" y="1463040"/>
            <a:ext cx="914400" cy="9144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738360" y="1691640"/>
            <a:ext cx="457200" cy="457200"/>
          </a:xfrm>
          <a:prstGeom prst="rect">
            <a:avLst/>
          </a:prstGeom>
        </p:spPr>
      </p:pic>
      <p:sp>
        <p:nvSpPr>
          <p:cNvPr id="7" name="Shape 4"/>
          <p:cNvSpPr/>
          <p:nvPr/>
        </p:nvSpPr>
        <p:spPr>
          <a:xfrm>
            <a:off x="10607040" y="1463040"/>
            <a:ext cx="914400" cy="914400"/>
          </a:xfrm>
          <a:prstGeom prst="ellipse">
            <a:avLst/>
          </a:prstGeom>
          <a:solidFill>
            <a:schemeClr val="accent6"/>
          </a:solidFill>
          <a:ln/>
        </p:spPr>
      </p:sp>
      <p:pic>
        <p:nvPicPr>
          <p:cNvPr id="8" name="Image 1" descr="preencoded.png">    </p:cNvPr>
          <p:cNvPicPr>
            <a:picLocks noChangeAspect="1"/>
          </p:cNvPicPr>
          <p:nvPr/>
        </p:nvPicPr>
        <p:blipFill>
          <a:blip r:embed="rId2"/>
          <a:stretch>
            <a:fillRect/>
          </a:stretch>
        </p:blipFill>
        <p:spPr>
          <a:xfrm>
            <a:off x="10835640" y="1691640"/>
            <a:ext cx="457200" cy="457200"/>
          </a:xfrm>
          <a:prstGeom prst="rect">
            <a:avLst/>
          </a:prstGeom>
        </p:spPr>
      </p:pic>
      <p:sp>
        <p:nvSpPr>
          <p:cNvPr id="9" name="Shape 5"/>
          <p:cNvSpPr/>
          <p:nvPr/>
        </p:nvSpPr>
        <p:spPr>
          <a:xfrm>
            <a:off x="9509760" y="2560320"/>
            <a:ext cx="914400" cy="914400"/>
          </a:xfrm>
          <a:prstGeom prst="ellipse">
            <a:avLst/>
          </a:prstGeom>
          <a:solidFill>
            <a:schemeClr val="accent2"/>
          </a:solidFill>
          <a:ln/>
        </p:spPr>
      </p:sp>
      <p:pic>
        <p:nvPicPr>
          <p:cNvPr id="10" name="Image 2" descr="preencoded.png">    </p:cNvPr>
          <p:cNvPicPr>
            <a:picLocks noChangeAspect="1"/>
          </p:cNvPicPr>
          <p:nvPr/>
        </p:nvPicPr>
        <p:blipFill>
          <a:blip r:embed="rId3"/>
          <a:stretch>
            <a:fillRect/>
          </a:stretch>
        </p:blipFill>
        <p:spPr>
          <a:xfrm>
            <a:off x="9738360" y="2788920"/>
            <a:ext cx="457200" cy="457200"/>
          </a:xfrm>
          <a:prstGeom prst="rect">
            <a:avLst/>
          </a:prstGeom>
        </p:spPr>
      </p:pic>
      <p:sp>
        <p:nvSpPr>
          <p:cNvPr id="11" name="Shape 6"/>
          <p:cNvSpPr/>
          <p:nvPr/>
        </p:nvSpPr>
        <p:spPr>
          <a:xfrm>
            <a:off x="10607040" y="2560320"/>
            <a:ext cx="914400" cy="914400"/>
          </a:xfrm>
          <a:prstGeom prst="ellipse">
            <a:avLst/>
          </a:prstGeom>
          <a:solidFill>
            <a:schemeClr val="accent4"/>
          </a:solidFill>
          <a:ln/>
        </p:spPr>
      </p:sp>
      <p:pic>
        <p:nvPicPr>
          <p:cNvPr id="12" name="Image 3" descr="preencoded.png">    </p:cNvPr>
          <p:cNvPicPr>
            <a:picLocks noChangeAspect="1"/>
          </p:cNvPicPr>
          <p:nvPr/>
        </p:nvPicPr>
        <p:blipFill>
          <a:blip r:embed="rId4"/>
          <a:stretch>
            <a:fillRect/>
          </a:stretch>
        </p:blipFill>
        <p:spPr>
          <a:xfrm>
            <a:off x="10835640" y="278892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The four asks and the results</a:t>
            </a:r>
            <a:endParaRPr lang="en-US" sz="3200" dirty="0"/>
          </a:p>
        </p:txBody>
      </p:sp>
      <p:sp>
        <p:nvSpPr>
          <p:cNvPr id="3" name="Shape 1"/>
          <p:cNvSpPr/>
          <p:nvPr/>
        </p:nvSpPr>
        <p:spPr>
          <a:xfrm>
            <a:off x="548640" y="1325880"/>
            <a:ext cx="5440680" cy="2240280"/>
          </a:xfrm>
          <a:prstGeom prst="roundRect">
            <a:avLst>
              <a:gd name="adj" fmla="val 3265"/>
            </a:avLst>
          </a:prstGeom>
          <a:solidFill>
            <a:schemeClr val="bg2"/>
          </a:solidFill>
          <a:ln/>
        </p:spPr>
      </p:sp>
      <p:sp>
        <p:nvSpPr>
          <p:cNvPr id="4" name="Shape 2"/>
          <p:cNvSpPr/>
          <p:nvPr/>
        </p:nvSpPr>
        <p:spPr>
          <a:xfrm>
            <a:off x="822960" y="160020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6" name="Text 3"/>
          <p:cNvSpPr txBox="1"/>
          <p:nvPr/>
        </p:nvSpPr>
        <p:spPr>
          <a:xfrm>
            <a:off x="1737360" y="1673352"/>
            <a:ext cx="4023360" cy="548640"/>
          </a:xfrm>
          <a:prstGeom prst="rect">
            <a:avLst/>
          </a:prstGeom>
          <a:noFill/>
          <a:ln/>
        </p:spPr>
        <p:txBody>
          <a:bodyPr wrap="square" lIns="0" tIns="0" rIns="0" bIns="0" rtlCol="0" anchor="t"/>
          <a:lstStyle/>
          <a:p>
            <a:pPr indent="0" marL="0">
              <a:buNone/>
            </a:pPr>
            <a:r>
              <a:rPr lang="en-US" sz="1700" b="1" dirty="0">
                <a:solidFill>
                  <a:schemeClr val="tx1"/>
                </a:solidFill>
              </a:rPr>
              <a:t>1. Run Sonar and find all smells</a:t>
            </a:r>
            <a:endParaRPr lang="en-US" sz="1700" dirty="0"/>
          </a:p>
        </p:txBody>
      </p:sp>
      <p:sp>
        <p:nvSpPr>
          <p:cNvPr id="7" name="Text 4"/>
          <p:cNvSpPr txBox="1"/>
          <p:nvPr/>
        </p:nvSpPr>
        <p:spPr>
          <a:xfrm>
            <a:off x="822960" y="2423160"/>
            <a:ext cx="4937760" cy="457200"/>
          </a:xfrm>
          <a:prstGeom prst="rect">
            <a:avLst/>
          </a:prstGeom>
          <a:noFill/>
          <a:ln/>
        </p:spPr>
        <p:txBody>
          <a:bodyPr wrap="square" lIns="0" tIns="0" rIns="0" bIns="0" rtlCol="0" anchor="t"/>
          <a:lstStyle/>
          <a:p>
            <a:pPr indent="0" marL="0">
              <a:buNone/>
            </a:pPr>
            <a:r>
              <a:rPr lang="en-US" sz="2200" b="1" dirty="0">
                <a:solidFill>
                  <a:schemeClr val="accent1"/>
                </a:solidFill>
              </a:rPr>
              <a:t>28 issues found; 0 open now</a:t>
            </a:r>
            <a:endParaRPr lang="en-US" sz="2200" dirty="0"/>
          </a:p>
        </p:txBody>
      </p:sp>
      <p:sp>
        <p:nvSpPr>
          <p:cNvPr id="8" name="Text 5"/>
          <p:cNvSpPr txBox="1"/>
          <p:nvPr/>
        </p:nvSpPr>
        <p:spPr>
          <a:xfrm>
            <a:off x="822960" y="2926080"/>
            <a:ext cx="4937760" cy="411480"/>
          </a:xfrm>
          <a:prstGeom prst="rect">
            <a:avLst/>
          </a:prstGeom>
          <a:noFill/>
          <a:ln/>
        </p:spPr>
        <p:txBody>
          <a:bodyPr wrap="square" lIns="0" tIns="0" rIns="0" bIns="0" rtlCol="0" anchor="t"/>
          <a:lstStyle/>
          <a:p>
            <a:pPr indent="0" marL="0">
              <a:buNone/>
            </a:pPr>
            <a:r>
              <a:rPr lang="en-US" sz="1500" dirty="0">
                <a:solidFill>
                  <a:schemeClr val="tx2"/>
                </a:solidFill>
              </a:rPr>
              <a:t>Ratings C / E / A  →  A / A / A</a:t>
            </a:r>
            <a:endParaRPr lang="en-US" sz="1500" dirty="0"/>
          </a:p>
        </p:txBody>
      </p:sp>
      <p:sp>
        <p:nvSpPr>
          <p:cNvPr id="9" name="Shape 6"/>
          <p:cNvSpPr/>
          <p:nvPr/>
        </p:nvSpPr>
        <p:spPr>
          <a:xfrm>
            <a:off x="6172200" y="1325880"/>
            <a:ext cx="5440680" cy="2240280"/>
          </a:xfrm>
          <a:prstGeom prst="roundRect">
            <a:avLst>
              <a:gd name="adj" fmla="val 3265"/>
            </a:avLst>
          </a:prstGeom>
          <a:solidFill>
            <a:schemeClr val="bg2"/>
          </a:solidFill>
          <a:ln/>
        </p:spPr>
      </p:sp>
      <p:sp>
        <p:nvSpPr>
          <p:cNvPr id="10" name="Shape 7"/>
          <p:cNvSpPr/>
          <p:nvPr/>
        </p:nvSpPr>
        <p:spPr>
          <a:xfrm>
            <a:off x="6446520" y="1600200"/>
            <a:ext cx="731520" cy="731520"/>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6629400" y="1783080"/>
            <a:ext cx="365760" cy="365760"/>
          </a:xfrm>
          <a:prstGeom prst="rect">
            <a:avLst/>
          </a:prstGeom>
        </p:spPr>
      </p:pic>
      <p:sp>
        <p:nvSpPr>
          <p:cNvPr id="12" name="Text 8"/>
          <p:cNvSpPr txBox="1"/>
          <p:nvPr/>
        </p:nvSpPr>
        <p:spPr>
          <a:xfrm>
            <a:off x="7360920" y="1673352"/>
            <a:ext cx="4023360" cy="548640"/>
          </a:xfrm>
          <a:prstGeom prst="rect">
            <a:avLst/>
          </a:prstGeom>
          <a:noFill/>
          <a:ln/>
        </p:spPr>
        <p:txBody>
          <a:bodyPr wrap="square" lIns="0" tIns="0" rIns="0" bIns="0" rtlCol="0" anchor="t"/>
          <a:lstStyle/>
          <a:p>
            <a:pPr indent="0" marL="0">
              <a:buNone/>
            </a:pPr>
            <a:r>
              <a:rPr lang="en-US" sz="1700" b="1" dirty="0">
                <a:solidFill>
                  <a:schemeClr val="tx1"/>
                </a:solidFill>
              </a:rPr>
              <a:t>2. Design patterns applied</a:t>
            </a:r>
            <a:endParaRPr lang="en-US" sz="1700" dirty="0"/>
          </a:p>
        </p:txBody>
      </p:sp>
      <p:sp>
        <p:nvSpPr>
          <p:cNvPr id="13" name="Text 9"/>
          <p:cNvSpPr txBox="1"/>
          <p:nvPr/>
        </p:nvSpPr>
        <p:spPr>
          <a:xfrm>
            <a:off x="6446520" y="2423160"/>
            <a:ext cx="4937760" cy="457200"/>
          </a:xfrm>
          <a:prstGeom prst="rect">
            <a:avLst/>
          </a:prstGeom>
          <a:noFill/>
          <a:ln/>
        </p:spPr>
        <p:txBody>
          <a:bodyPr wrap="square" lIns="0" tIns="0" rIns="0" bIns="0" rtlCol="0" anchor="t"/>
          <a:lstStyle/>
          <a:p>
            <a:pPr indent="0" marL="0">
              <a:buNone/>
            </a:pPr>
            <a:r>
              <a:rPr lang="en-US" sz="2200" b="1" dirty="0">
                <a:solidFill>
                  <a:schemeClr val="accent6"/>
                </a:solidFill>
              </a:rPr>
              <a:t>30 patterns identified</a:t>
            </a:r>
            <a:endParaRPr lang="en-US" sz="2200" dirty="0"/>
          </a:p>
        </p:txBody>
      </p:sp>
      <p:sp>
        <p:nvSpPr>
          <p:cNvPr id="14" name="Text 10"/>
          <p:cNvSpPr txBox="1"/>
          <p:nvPr/>
        </p:nvSpPr>
        <p:spPr>
          <a:xfrm>
            <a:off x="6446520" y="2926080"/>
            <a:ext cx="4937760" cy="411480"/>
          </a:xfrm>
          <a:prstGeom prst="rect">
            <a:avLst/>
          </a:prstGeom>
          <a:noFill/>
          <a:ln/>
        </p:spPr>
        <p:txBody>
          <a:bodyPr wrap="square" lIns="0" tIns="0" rIns="0" bIns="0" rtlCol="0" anchor="t"/>
          <a:lstStyle/>
          <a:p>
            <a:pPr indent="0" marL="0">
              <a:buNone/>
            </a:pPr>
            <a:r>
              <a:rPr lang="en-US" sz="1500" dirty="0">
                <a:solidFill>
                  <a:schemeClr val="tx2"/>
                </a:solidFill>
              </a:rPr>
              <a:t>With the files where each one lives</a:t>
            </a:r>
            <a:endParaRPr lang="en-US" sz="1500" dirty="0"/>
          </a:p>
        </p:txBody>
      </p:sp>
      <p:sp>
        <p:nvSpPr>
          <p:cNvPr id="15" name="Shape 11"/>
          <p:cNvSpPr/>
          <p:nvPr/>
        </p:nvSpPr>
        <p:spPr>
          <a:xfrm>
            <a:off x="548640" y="3794760"/>
            <a:ext cx="5440680" cy="2240280"/>
          </a:xfrm>
          <a:prstGeom prst="roundRect">
            <a:avLst>
              <a:gd name="adj" fmla="val 3265"/>
            </a:avLst>
          </a:prstGeom>
          <a:solidFill>
            <a:schemeClr val="bg2"/>
          </a:solidFill>
          <a:ln/>
        </p:spPr>
      </p:sp>
      <p:sp>
        <p:nvSpPr>
          <p:cNvPr id="16" name="Shape 12"/>
          <p:cNvSpPr/>
          <p:nvPr/>
        </p:nvSpPr>
        <p:spPr>
          <a:xfrm>
            <a:off x="822960" y="4069080"/>
            <a:ext cx="731520" cy="73152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1005840" y="4251960"/>
            <a:ext cx="365760" cy="365760"/>
          </a:xfrm>
          <a:prstGeom prst="rect">
            <a:avLst/>
          </a:prstGeom>
        </p:spPr>
      </p:pic>
      <p:sp>
        <p:nvSpPr>
          <p:cNvPr id="18" name="Text 13"/>
          <p:cNvSpPr txBox="1"/>
          <p:nvPr/>
        </p:nvSpPr>
        <p:spPr>
          <a:xfrm>
            <a:off x="1737360" y="4142232"/>
            <a:ext cx="4023360" cy="548640"/>
          </a:xfrm>
          <a:prstGeom prst="rect">
            <a:avLst/>
          </a:prstGeom>
          <a:noFill/>
          <a:ln/>
        </p:spPr>
        <p:txBody>
          <a:bodyPr wrap="square" lIns="0" tIns="0" rIns="0" bIns="0" rtlCol="0" anchor="t"/>
          <a:lstStyle/>
          <a:p>
            <a:pPr indent="0" marL="0">
              <a:buNone/>
            </a:pPr>
            <a:r>
              <a:rPr lang="en-US" sz="1700" b="1" dirty="0">
                <a:solidFill>
                  <a:schemeClr val="tx1"/>
                </a:solidFill>
              </a:rPr>
              <a:t>3. Load test, find the failure point</a:t>
            </a:r>
            <a:endParaRPr lang="en-US" sz="1700" dirty="0"/>
          </a:p>
        </p:txBody>
      </p:sp>
      <p:sp>
        <p:nvSpPr>
          <p:cNvPr id="19" name="Text 14"/>
          <p:cNvSpPr txBox="1"/>
          <p:nvPr/>
        </p:nvSpPr>
        <p:spPr>
          <a:xfrm>
            <a:off x="822960" y="4892040"/>
            <a:ext cx="4937760" cy="457200"/>
          </a:xfrm>
          <a:prstGeom prst="rect">
            <a:avLst/>
          </a:prstGeom>
          <a:noFill/>
          <a:ln/>
        </p:spPr>
        <p:txBody>
          <a:bodyPr wrap="square" lIns="0" tIns="0" rIns="0" bIns="0" rtlCol="0" anchor="t"/>
          <a:lstStyle/>
          <a:p>
            <a:pPr indent="0" marL="0">
              <a:buNone/>
            </a:pPr>
            <a:r>
              <a:rPr lang="en-US" sz="2200" b="1" dirty="0">
                <a:solidFill>
                  <a:schemeClr val="accent2"/>
                </a:solidFill>
              </a:rPr>
              <a:t>Fails at 380 requests per second</a:t>
            </a:r>
            <a:endParaRPr lang="en-US" sz="2200" dirty="0"/>
          </a:p>
        </p:txBody>
      </p:sp>
      <p:sp>
        <p:nvSpPr>
          <p:cNvPr id="20" name="Text 15"/>
          <p:cNvSpPr txBox="1"/>
          <p:nvPr/>
        </p:nvSpPr>
        <p:spPr>
          <a:xfrm>
            <a:off x="822960" y="5394960"/>
            <a:ext cx="4937760" cy="411480"/>
          </a:xfrm>
          <a:prstGeom prst="rect">
            <a:avLst/>
          </a:prstGeom>
          <a:noFill/>
          <a:ln/>
        </p:spPr>
        <p:txBody>
          <a:bodyPr wrap="square" lIns="0" tIns="0" rIns="0" bIns="0" rtlCol="0" anchor="t"/>
          <a:lstStyle/>
          <a:p>
            <a:pPr indent="0" marL="0">
              <a:buNone/>
            </a:pPr>
            <a:r>
              <a:rPr lang="en-US" sz="1500" dirty="0">
                <a:solidFill>
                  <a:schemeClr val="tx2"/>
                </a:solidFill>
              </a:rPr>
              <a:t>Bottleneck: database work per request</a:t>
            </a:r>
            <a:endParaRPr lang="en-US" sz="1500" dirty="0"/>
          </a:p>
        </p:txBody>
      </p:sp>
      <p:sp>
        <p:nvSpPr>
          <p:cNvPr id="21" name="Shape 16"/>
          <p:cNvSpPr/>
          <p:nvPr/>
        </p:nvSpPr>
        <p:spPr>
          <a:xfrm>
            <a:off x="6172200" y="3794760"/>
            <a:ext cx="5440680" cy="2240280"/>
          </a:xfrm>
          <a:prstGeom prst="roundRect">
            <a:avLst>
              <a:gd name="adj" fmla="val 3265"/>
            </a:avLst>
          </a:prstGeom>
          <a:solidFill>
            <a:schemeClr val="bg2"/>
          </a:solidFill>
          <a:ln/>
        </p:spPr>
      </p:sp>
      <p:sp>
        <p:nvSpPr>
          <p:cNvPr id="22" name="Shape 17"/>
          <p:cNvSpPr/>
          <p:nvPr/>
        </p:nvSpPr>
        <p:spPr>
          <a:xfrm>
            <a:off x="6446520" y="4069080"/>
            <a:ext cx="731520" cy="731520"/>
          </a:xfrm>
          <a:prstGeom prst="ellipse">
            <a:avLst/>
          </a:prstGeom>
          <a:solidFill>
            <a:schemeClr val="accent4"/>
          </a:solidFill>
          <a:ln/>
        </p:spPr>
      </p:sp>
      <p:pic>
        <p:nvPicPr>
          <p:cNvPr id="23" name="Image 3" descr="preencoded.png">    </p:cNvPr>
          <p:cNvPicPr>
            <a:picLocks noChangeAspect="1"/>
          </p:cNvPicPr>
          <p:nvPr/>
        </p:nvPicPr>
        <p:blipFill>
          <a:blip r:embed="rId4"/>
          <a:stretch>
            <a:fillRect/>
          </a:stretch>
        </p:blipFill>
        <p:spPr>
          <a:xfrm>
            <a:off x="6629400" y="4251960"/>
            <a:ext cx="365760" cy="365760"/>
          </a:xfrm>
          <a:prstGeom prst="rect">
            <a:avLst/>
          </a:prstGeom>
        </p:spPr>
      </p:pic>
      <p:sp>
        <p:nvSpPr>
          <p:cNvPr id="24" name="Text 18"/>
          <p:cNvSpPr txBox="1"/>
          <p:nvPr/>
        </p:nvSpPr>
        <p:spPr>
          <a:xfrm>
            <a:off x="7360920" y="4142232"/>
            <a:ext cx="4023360" cy="548640"/>
          </a:xfrm>
          <a:prstGeom prst="rect">
            <a:avLst/>
          </a:prstGeom>
          <a:noFill/>
          <a:ln/>
        </p:spPr>
        <p:txBody>
          <a:bodyPr wrap="square" lIns="0" tIns="0" rIns="0" bIns="0" rtlCol="0" anchor="t"/>
          <a:lstStyle/>
          <a:p>
            <a:pPr indent="0" marL="0">
              <a:buNone/>
            </a:pPr>
            <a:r>
              <a:rPr lang="en-US" sz="1700" b="1" dirty="0">
                <a:solidFill>
                  <a:schemeClr val="tx1"/>
                </a:solidFill>
              </a:rPr>
              <a:t>4. Fix it, raise it by more than 50%</a:t>
            </a:r>
            <a:endParaRPr lang="en-US" sz="1700" dirty="0"/>
          </a:p>
        </p:txBody>
      </p:sp>
      <p:sp>
        <p:nvSpPr>
          <p:cNvPr id="25" name="Text 19"/>
          <p:cNvSpPr txBox="1"/>
          <p:nvPr/>
        </p:nvSpPr>
        <p:spPr>
          <a:xfrm>
            <a:off x="6446520" y="4892040"/>
            <a:ext cx="4937760" cy="457200"/>
          </a:xfrm>
          <a:prstGeom prst="rect">
            <a:avLst/>
          </a:prstGeom>
          <a:noFill/>
          <a:ln/>
        </p:spPr>
        <p:txBody>
          <a:bodyPr wrap="square" lIns="0" tIns="0" rIns="0" bIns="0" rtlCol="0" anchor="t"/>
          <a:lstStyle/>
          <a:p>
            <a:pPr indent="0" marL="0">
              <a:buNone/>
            </a:pPr>
            <a:r>
              <a:rPr lang="en-US" sz="2200" b="1" dirty="0">
                <a:solidFill>
                  <a:schemeClr val="accent4"/>
                </a:solidFill>
              </a:rPr>
              <a:t>Failure point 380 → 600 req/s</a:t>
            </a:r>
            <a:endParaRPr lang="en-US" sz="2200" dirty="0"/>
          </a:p>
        </p:txBody>
      </p:sp>
      <p:sp>
        <p:nvSpPr>
          <p:cNvPr id="26" name="Text 20"/>
          <p:cNvSpPr txBox="1"/>
          <p:nvPr/>
        </p:nvSpPr>
        <p:spPr>
          <a:xfrm>
            <a:off x="6446520" y="5394960"/>
            <a:ext cx="4937760" cy="411480"/>
          </a:xfrm>
          <a:prstGeom prst="rect">
            <a:avLst/>
          </a:prstGeom>
          <a:noFill/>
          <a:ln/>
        </p:spPr>
        <p:txBody>
          <a:bodyPr wrap="square" lIns="0" tIns="0" rIns="0" bIns="0" rtlCol="0" anchor="t"/>
          <a:lstStyle/>
          <a:p>
            <a:pPr indent="0" marL="0">
              <a:buNone/>
            </a:pPr>
            <a:r>
              <a:rPr lang="en-US" sz="1500" dirty="0">
                <a:solidFill>
                  <a:schemeClr val="tx2"/>
                </a:solidFill>
              </a:rPr>
              <a:t>+58% (healthy load +59%)</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7315200" cy="457200"/>
          </a:xfrm>
          <a:prstGeom prst="rect">
            <a:avLst/>
          </a:prstGeom>
          <a:noFill/>
          <a:ln/>
        </p:spPr>
        <p:txBody>
          <a:bodyPr wrap="square" lIns="0" tIns="0" rIns="0" bIns="0" rtlCol="0"/>
          <a:lstStyle/>
          <a:p>
            <a:pPr indent="0" marL="0">
              <a:buNone/>
            </a:pPr>
            <a:r>
              <a:rPr lang="en-US" sz="1800" b="1" dirty="0">
                <a:solidFill>
                  <a:schemeClr val="accent2"/>
                </a:solidFill>
              </a:rPr>
              <a:t>01</a:t>
            </a:r>
            <a:endParaRPr lang="en-US" sz="1800" dirty="0"/>
          </a:p>
        </p:txBody>
      </p:sp>
      <p:sp>
        <p:nvSpPr>
          <p:cNvPr id="3" name="Text 0"/>
          <p:cNvSpPr/>
          <p:nvPr>
            <p:ph idx="101" type="title" hasCustomPrompt="1"/>
          </p:nvPr>
        </p:nvSpPr>
        <p:spPr>
          <a:xfrm>
            <a:off x="731520" y="265176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Static analysis with SonarQube</a:t>
            </a:r>
            <a:endParaRPr lang="en-US" sz="4400" dirty="0"/>
          </a:p>
        </p:txBody>
      </p:sp>
      <p:sp>
        <p:nvSpPr>
          <p:cNvPr id="4" name="Text 0"/>
          <p:cNvSpPr/>
          <p:nvPr>
            <p:ph idx="102" type="body" hasCustomPrompt="1"/>
          </p:nvPr>
        </p:nvSpPr>
        <p:spPr>
          <a:xfrm>
            <a:off x="731520" y="3749040"/>
            <a:ext cx="10058400" cy="822960"/>
          </a:xfrm>
          <a:prstGeom prst="rect">
            <a:avLst/>
          </a:prstGeom>
          <a:noFill/>
          <a:ln/>
        </p:spPr>
        <p:txBody>
          <a:bodyPr wrap="square" lIns="0" tIns="0" rIns="0" bIns="0" rtlCol="0" anchor="t"/>
          <a:lstStyle/>
          <a:p>
            <a:pPr indent="0" marL="0">
              <a:buNone/>
            </a:pPr>
            <a:r>
              <a:rPr lang="en-US" sz="2000" dirty="0">
                <a:solidFill>
                  <a:schemeClr val="bg2"/>
                </a:solidFill>
              </a:rPr>
              <a:t>Scope, findings, fixes and what was accepted</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Sonar: 28 findings, all handled</a:t>
            </a:r>
            <a:endParaRPr lang="en-US" sz="3200" dirty="0"/>
          </a:p>
        </p:txBody>
      </p:sp>
      <p:graphicFrame>
        <p:nvGraphicFramePr>
          <p:cNvPr id="3" name="Chart 0" descr=""/>
          <p:cNvGraphicFramePr/>
          <p:nvPr/>
        </p:nvGraphicFramePr>
        <p:xfrm>
          <a:off x="548640" y="128016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949440" y="1280160"/>
            <a:ext cx="4663440" cy="2743200"/>
          </a:xfrm>
          <a:prstGeom prst="roundRect">
            <a:avLst>
              <a:gd name="adj" fmla="val 2667"/>
            </a:avLst>
          </a:prstGeom>
          <a:solidFill>
            <a:schemeClr val="bg2"/>
          </a:solidFill>
          <a:ln/>
        </p:spPr>
      </p:sp>
      <p:sp>
        <p:nvSpPr>
          <p:cNvPr id="5" name="Text 2"/>
          <p:cNvSpPr txBox="1"/>
          <p:nvPr/>
        </p:nvSpPr>
        <p:spPr>
          <a:xfrm>
            <a:off x="7223760" y="1463040"/>
            <a:ext cx="3657600" cy="365760"/>
          </a:xfrm>
          <a:prstGeom prst="rect">
            <a:avLst/>
          </a:prstGeom>
          <a:noFill/>
          <a:ln/>
        </p:spPr>
        <p:txBody>
          <a:bodyPr wrap="square" lIns="0" tIns="0" rIns="0" bIns="0" rtlCol="0" anchor="t"/>
          <a:lstStyle/>
          <a:p>
            <a:pPr indent="0" marL="0">
              <a:buNone/>
            </a:pPr>
            <a:r>
              <a:rPr lang="en-US" sz="1800" b="1" dirty="0">
                <a:solidFill>
                  <a:schemeClr val="tx1"/>
                </a:solidFill>
              </a:rPr>
              <a:t>Ratings</a:t>
            </a:r>
            <a:endParaRPr lang="en-US" sz="1800" dirty="0"/>
          </a:p>
        </p:txBody>
      </p:sp>
      <p:sp>
        <p:nvSpPr>
          <p:cNvPr id="6" name="Text 3"/>
          <p:cNvSpPr txBox="1"/>
          <p:nvPr/>
        </p:nvSpPr>
        <p:spPr>
          <a:xfrm>
            <a:off x="7223760" y="2011680"/>
            <a:ext cx="2103120" cy="457200"/>
          </a:xfrm>
          <a:prstGeom prst="rect">
            <a:avLst/>
          </a:prstGeom>
          <a:noFill/>
          <a:ln/>
        </p:spPr>
        <p:txBody>
          <a:bodyPr wrap="square" lIns="0" tIns="0" rIns="0" bIns="0" rtlCol="0" anchor="ctr"/>
          <a:lstStyle/>
          <a:p>
            <a:pPr indent="0" marL="0">
              <a:buNone/>
            </a:pPr>
            <a:r>
              <a:rPr lang="en-US" sz="1500" dirty="0">
                <a:solidFill>
                  <a:schemeClr val="tx1"/>
                </a:solidFill>
              </a:rPr>
              <a:t>Reliability</a:t>
            </a:r>
            <a:endParaRPr lang="en-US" sz="1500" dirty="0"/>
          </a:p>
        </p:txBody>
      </p:sp>
      <p:sp>
        <p:nvSpPr>
          <p:cNvPr id="7" name="Shape 4"/>
          <p:cNvSpPr/>
          <p:nvPr/>
        </p:nvSpPr>
        <p:spPr>
          <a:xfrm>
            <a:off x="9372600" y="2039112"/>
            <a:ext cx="502920" cy="402336"/>
          </a:xfrm>
          <a:prstGeom prst="roundRect">
            <a:avLst>
              <a:gd name="adj" fmla="val 13636"/>
            </a:avLst>
          </a:prstGeom>
          <a:solidFill>
            <a:schemeClr val="accent5"/>
          </a:solidFill>
          <a:ln/>
        </p:spPr>
      </p:sp>
      <p:sp>
        <p:nvSpPr>
          <p:cNvPr id="8" name="Text 5"/>
          <p:cNvSpPr txBox="1"/>
          <p:nvPr/>
        </p:nvSpPr>
        <p:spPr>
          <a:xfrm>
            <a:off x="9372600" y="2039112"/>
            <a:ext cx="502920" cy="402336"/>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9" name="Text 6"/>
          <p:cNvSpPr txBox="1"/>
          <p:nvPr/>
        </p:nvSpPr>
        <p:spPr>
          <a:xfrm>
            <a:off x="9966960" y="2011680"/>
            <a:ext cx="45720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10" name="Shape 7"/>
          <p:cNvSpPr/>
          <p:nvPr/>
        </p:nvSpPr>
        <p:spPr>
          <a:xfrm>
            <a:off x="10469880" y="2039112"/>
            <a:ext cx="502920" cy="402336"/>
          </a:xfrm>
          <a:prstGeom prst="roundRect">
            <a:avLst>
              <a:gd name="adj" fmla="val 13636"/>
            </a:avLst>
          </a:prstGeom>
          <a:solidFill>
            <a:schemeClr val="accent4"/>
          </a:solidFill>
          <a:ln/>
        </p:spPr>
      </p:sp>
      <p:sp>
        <p:nvSpPr>
          <p:cNvPr id="11" name="Text 8"/>
          <p:cNvSpPr txBox="1"/>
          <p:nvPr/>
        </p:nvSpPr>
        <p:spPr>
          <a:xfrm>
            <a:off x="10469880" y="2039112"/>
            <a:ext cx="502920" cy="402336"/>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2" name="Text 9"/>
          <p:cNvSpPr txBox="1"/>
          <p:nvPr/>
        </p:nvSpPr>
        <p:spPr>
          <a:xfrm>
            <a:off x="7223760" y="2633472"/>
            <a:ext cx="2103120" cy="457200"/>
          </a:xfrm>
          <a:prstGeom prst="rect">
            <a:avLst/>
          </a:prstGeom>
          <a:noFill/>
          <a:ln/>
        </p:spPr>
        <p:txBody>
          <a:bodyPr wrap="square" lIns="0" tIns="0" rIns="0" bIns="0" rtlCol="0" anchor="ctr"/>
          <a:lstStyle/>
          <a:p>
            <a:pPr indent="0" marL="0">
              <a:buNone/>
            </a:pPr>
            <a:r>
              <a:rPr lang="en-US" sz="1500" dirty="0">
                <a:solidFill>
                  <a:schemeClr val="tx1"/>
                </a:solidFill>
              </a:rPr>
              <a:t>Security</a:t>
            </a:r>
            <a:endParaRPr lang="en-US" sz="1500" dirty="0"/>
          </a:p>
        </p:txBody>
      </p:sp>
      <p:sp>
        <p:nvSpPr>
          <p:cNvPr id="13" name="Shape 10"/>
          <p:cNvSpPr/>
          <p:nvPr/>
        </p:nvSpPr>
        <p:spPr>
          <a:xfrm>
            <a:off x="9372600" y="2660904"/>
            <a:ext cx="502920" cy="402336"/>
          </a:xfrm>
          <a:prstGeom prst="roundRect">
            <a:avLst>
              <a:gd name="adj" fmla="val 13636"/>
            </a:avLst>
          </a:prstGeom>
          <a:solidFill>
            <a:schemeClr val="accent5"/>
          </a:solidFill>
          <a:ln/>
        </p:spPr>
      </p:sp>
      <p:sp>
        <p:nvSpPr>
          <p:cNvPr id="14" name="Text 11"/>
          <p:cNvSpPr txBox="1"/>
          <p:nvPr/>
        </p:nvSpPr>
        <p:spPr>
          <a:xfrm>
            <a:off x="9372600" y="2660904"/>
            <a:ext cx="502920" cy="402336"/>
          </a:xfrm>
          <a:prstGeom prst="rect">
            <a:avLst/>
          </a:prstGeom>
          <a:no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15" name="Text 12"/>
          <p:cNvSpPr txBox="1"/>
          <p:nvPr/>
        </p:nvSpPr>
        <p:spPr>
          <a:xfrm>
            <a:off x="9966960" y="2633472"/>
            <a:ext cx="45720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16" name="Shape 13"/>
          <p:cNvSpPr/>
          <p:nvPr/>
        </p:nvSpPr>
        <p:spPr>
          <a:xfrm>
            <a:off x="10469880" y="2660904"/>
            <a:ext cx="502920" cy="402336"/>
          </a:xfrm>
          <a:prstGeom prst="roundRect">
            <a:avLst>
              <a:gd name="adj" fmla="val 13636"/>
            </a:avLst>
          </a:prstGeom>
          <a:solidFill>
            <a:schemeClr val="accent4"/>
          </a:solidFill>
          <a:ln/>
        </p:spPr>
      </p:sp>
      <p:sp>
        <p:nvSpPr>
          <p:cNvPr id="17" name="Text 14"/>
          <p:cNvSpPr txBox="1"/>
          <p:nvPr/>
        </p:nvSpPr>
        <p:spPr>
          <a:xfrm>
            <a:off x="10469880" y="2660904"/>
            <a:ext cx="502920" cy="402336"/>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8" name="Text 15"/>
          <p:cNvSpPr txBox="1"/>
          <p:nvPr/>
        </p:nvSpPr>
        <p:spPr>
          <a:xfrm>
            <a:off x="7223760" y="3255264"/>
            <a:ext cx="2103120" cy="457200"/>
          </a:xfrm>
          <a:prstGeom prst="rect">
            <a:avLst/>
          </a:prstGeom>
          <a:noFill/>
          <a:ln/>
        </p:spPr>
        <p:txBody>
          <a:bodyPr wrap="square" lIns="0" tIns="0" rIns="0" bIns="0" rtlCol="0" anchor="ctr"/>
          <a:lstStyle/>
          <a:p>
            <a:pPr indent="0" marL="0">
              <a:buNone/>
            </a:pPr>
            <a:r>
              <a:rPr lang="en-US" sz="1500" dirty="0">
                <a:solidFill>
                  <a:schemeClr val="tx1"/>
                </a:solidFill>
              </a:rPr>
              <a:t>Maintainability</a:t>
            </a:r>
            <a:endParaRPr lang="en-US" sz="1500" dirty="0"/>
          </a:p>
        </p:txBody>
      </p:sp>
      <p:sp>
        <p:nvSpPr>
          <p:cNvPr id="19" name="Shape 16"/>
          <p:cNvSpPr/>
          <p:nvPr/>
        </p:nvSpPr>
        <p:spPr>
          <a:xfrm>
            <a:off x="9372600" y="3282696"/>
            <a:ext cx="502920" cy="402336"/>
          </a:xfrm>
          <a:prstGeom prst="roundRect">
            <a:avLst>
              <a:gd name="adj" fmla="val 13636"/>
            </a:avLst>
          </a:prstGeom>
          <a:solidFill>
            <a:schemeClr val="accent4"/>
          </a:solidFill>
          <a:ln/>
        </p:spPr>
      </p:sp>
      <p:sp>
        <p:nvSpPr>
          <p:cNvPr id="20" name="Text 17"/>
          <p:cNvSpPr txBox="1"/>
          <p:nvPr/>
        </p:nvSpPr>
        <p:spPr>
          <a:xfrm>
            <a:off x="9372600" y="3282696"/>
            <a:ext cx="502920" cy="402336"/>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21" name="Text 18"/>
          <p:cNvSpPr txBox="1"/>
          <p:nvPr/>
        </p:nvSpPr>
        <p:spPr>
          <a:xfrm>
            <a:off x="9966960" y="3255264"/>
            <a:ext cx="45720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22" name="Shape 19"/>
          <p:cNvSpPr/>
          <p:nvPr/>
        </p:nvSpPr>
        <p:spPr>
          <a:xfrm>
            <a:off x="10469880" y="3282696"/>
            <a:ext cx="502920" cy="402336"/>
          </a:xfrm>
          <a:prstGeom prst="roundRect">
            <a:avLst>
              <a:gd name="adj" fmla="val 13636"/>
            </a:avLst>
          </a:prstGeom>
          <a:solidFill>
            <a:schemeClr val="accent4"/>
          </a:solidFill>
          <a:ln/>
        </p:spPr>
      </p:sp>
      <p:sp>
        <p:nvSpPr>
          <p:cNvPr id="23" name="Text 20"/>
          <p:cNvSpPr txBox="1"/>
          <p:nvPr/>
        </p:nvSpPr>
        <p:spPr>
          <a:xfrm>
            <a:off x="10469880" y="3282696"/>
            <a:ext cx="502920" cy="402336"/>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24" name="Shape 21"/>
          <p:cNvSpPr/>
          <p:nvPr/>
        </p:nvSpPr>
        <p:spPr>
          <a:xfrm>
            <a:off x="6949440" y="4206240"/>
            <a:ext cx="4663440" cy="1828800"/>
          </a:xfrm>
          <a:prstGeom prst="roundRect">
            <a:avLst>
              <a:gd name="adj" fmla="val 4000"/>
            </a:avLst>
          </a:prstGeom>
          <a:solidFill>
            <a:schemeClr val="bg2"/>
          </a:solidFill>
          <a:ln/>
        </p:spPr>
      </p:sp>
      <p:sp>
        <p:nvSpPr>
          <p:cNvPr id="25" name="Text 22"/>
          <p:cNvSpPr txBox="1"/>
          <p:nvPr/>
        </p:nvSpPr>
        <p:spPr>
          <a:xfrm>
            <a:off x="7223760" y="4389120"/>
            <a:ext cx="4206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Scope: 12,349 lines of Java, TypeScript, Kubernetes, OpenTofu and Dockerfiles</a:t>
            </a:r>
            <a:endParaRPr lang="en-US" sz="1300" dirty="0"/>
          </a:p>
          <a:p>
            <a:pPr marL="342900" indent="-342900">
              <a:spcAft>
                <a:spcPts val="600"/>
              </a:spcAft>
              <a:buSzPct val="100000"/>
              <a:buChar char="•"/>
            </a:pPr>
            <a:r>
              <a:rPr lang="en-US" sz="1300" dirty="0">
                <a:solidFill>
                  <a:schemeClr val="tx1"/>
                </a:solidFill>
              </a:rPr>
              <a:t>Tool: SonarQube Community, default "Sonar way" rules</a:t>
            </a:r>
            <a:endParaRPr lang="en-US" sz="1300" dirty="0"/>
          </a:p>
          <a:p>
            <a:pPr marL="342900" indent="-342900">
              <a:spcAft>
                <a:spcPts val="600"/>
              </a:spcAft>
              <a:buSzPct val="100000"/>
              <a:buChar char="•"/>
            </a:pPr>
            <a:r>
              <a:rPr lang="en-US" sz="1300" dirty="0">
                <a:solidFill>
                  <a:schemeClr val="tx1"/>
                </a:solidFill>
              </a:rPr>
              <a:t>Same settings run in GitHub Actions (SonarCloud)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What was fixed and what was accepted</a:t>
            </a:r>
            <a:endParaRPr lang="en-US" sz="3200" dirty="0"/>
          </a:p>
        </p:txBody>
      </p:sp>
      <p:sp>
        <p:nvSpPr>
          <p:cNvPr id="3" name="Shape 1"/>
          <p:cNvSpPr/>
          <p:nvPr/>
        </p:nvSpPr>
        <p:spPr>
          <a:xfrm>
            <a:off x="548640" y="1389888"/>
            <a:ext cx="640080" cy="640080"/>
          </a:xfrm>
          <a:prstGeom prst="ellipse">
            <a:avLst/>
          </a:prstGeom>
          <a:solidFill>
            <a:schemeClr val="accent5"/>
          </a:solidFill>
          <a:ln/>
        </p:spPr>
      </p:sp>
      <p:pic>
        <p:nvPicPr>
          <p:cNvPr id="4" name="Image 0" descr="preencoded.png">    </p:cNvPr>
          <p:cNvPicPr>
            <a:picLocks noChangeAspect="1"/>
          </p:cNvPicPr>
          <p:nvPr/>
        </p:nvPicPr>
        <p:blipFill>
          <a:blip r:embed="rId1"/>
          <a:stretch>
            <a:fillRect/>
          </a:stretch>
        </p:blipFill>
        <p:spPr>
          <a:xfrm>
            <a:off x="708660" y="1549908"/>
            <a:ext cx="320040" cy="320040"/>
          </a:xfrm>
          <a:prstGeom prst="rect">
            <a:avLst/>
          </a:prstGeom>
        </p:spPr>
      </p:pic>
      <p:sp>
        <p:nvSpPr>
          <p:cNvPr id="5" name="Text 2"/>
          <p:cNvSpPr txBox="1"/>
          <p:nvPr/>
        </p:nvSpPr>
        <p:spPr>
          <a:xfrm>
            <a:off x="1371600" y="1325880"/>
            <a:ext cx="5120640" cy="365760"/>
          </a:xfrm>
          <a:prstGeom prst="rect">
            <a:avLst/>
          </a:prstGeom>
          <a:noFill/>
          <a:ln/>
        </p:spPr>
        <p:txBody>
          <a:bodyPr wrap="square" lIns="0" tIns="0" rIns="0" bIns="0" rtlCol="0" anchor="t"/>
          <a:lstStyle/>
          <a:p>
            <a:pPr indent="0" marL="0">
              <a:buNone/>
            </a:pPr>
            <a:r>
              <a:rPr lang="en-US" sz="1600" b="1" dirty="0">
                <a:solidFill>
                  <a:schemeClr val="tx1"/>
                </a:solidFill>
              </a:rPr>
              <a:t>14 bugs (frontend)</a:t>
            </a:r>
            <a:endParaRPr lang="en-US" sz="1600" dirty="0"/>
          </a:p>
        </p:txBody>
      </p:sp>
      <p:sp>
        <p:nvSpPr>
          <p:cNvPr id="6" name="Text 3"/>
          <p:cNvSpPr txBox="1"/>
          <p:nvPr/>
        </p:nvSpPr>
        <p:spPr>
          <a:xfrm>
            <a:off x="1371600" y="1691640"/>
            <a:ext cx="5120640" cy="548640"/>
          </a:xfrm>
          <a:prstGeom prst="rect">
            <a:avLst/>
          </a:prstGeom>
          <a:noFill/>
          <a:ln/>
        </p:spPr>
        <p:txBody>
          <a:bodyPr wrap="square" lIns="0" tIns="0" rIns="0" bIns="0" rtlCol="0" anchor="t"/>
          <a:lstStyle/>
          <a:p>
            <a:pPr indent="0" marL="0">
              <a:buNone/>
            </a:pPr>
            <a:r>
              <a:rPr lang="en-US" sz="1250" dirty="0">
                <a:solidFill>
                  <a:schemeClr val="tx2"/>
                </a:solidFill>
              </a:rPr>
              <a:t>Promises from navigation, mutations and thunks were never awaited or explicitly ignored; each is now handled or marked as fire-and-forget</a:t>
            </a:r>
            <a:endParaRPr lang="en-US" sz="1250" dirty="0"/>
          </a:p>
        </p:txBody>
      </p:sp>
      <p:sp>
        <p:nvSpPr>
          <p:cNvPr id="7" name="Shape 4"/>
          <p:cNvSpPr/>
          <p:nvPr/>
        </p:nvSpPr>
        <p:spPr>
          <a:xfrm>
            <a:off x="548640" y="2377440"/>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08660" y="2537460"/>
            <a:ext cx="320040" cy="320040"/>
          </a:xfrm>
          <a:prstGeom prst="rect">
            <a:avLst/>
          </a:prstGeom>
        </p:spPr>
      </p:pic>
      <p:sp>
        <p:nvSpPr>
          <p:cNvPr id="9" name="Text 5"/>
          <p:cNvSpPr txBox="1"/>
          <p:nvPr/>
        </p:nvSpPr>
        <p:spPr>
          <a:xfrm>
            <a:off x="1371600" y="2313432"/>
            <a:ext cx="5120640" cy="365760"/>
          </a:xfrm>
          <a:prstGeom prst="rect">
            <a:avLst/>
          </a:prstGeom>
          <a:noFill/>
          <a:ln/>
        </p:spPr>
        <p:txBody>
          <a:bodyPr wrap="square" lIns="0" tIns="0" rIns="0" bIns="0" rtlCol="0" anchor="t"/>
          <a:lstStyle/>
          <a:p>
            <a:pPr indent="0" marL="0">
              <a:buNone/>
            </a:pPr>
            <a:r>
              <a:rPr lang="en-US" sz="1600" b="1" dirty="0">
                <a:solidFill>
                  <a:schemeClr val="tx1"/>
                </a:solidFill>
              </a:rPr>
              <a:t>Secret in Git</a:t>
            </a:r>
            <a:endParaRPr lang="en-US" sz="1600" dirty="0"/>
          </a:p>
        </p:txBody>
      </p:sp>
      <p:sp>
        <p:nvSpPr>
          <p:cNvPr id="10" name="Text 6"/>
          <p:cNvSpPr txBox="1"/>
          <p:nvPr/>
        </p:nvSpPr>
        <p:spPr>
          <a:xfrm>
            <a:off x="1371600" y="2679192"/>
            <a:ext cx="5120640" cy="548640"/>
          </a:xfrm>
          <a:prstGeom prst="rect">
            <a:avLst/>
          </a:prstGeom>
          <a:noFill/>
          <a:ln/>
        </p:spPr>
        <p:txBody>
          <a:bodyPr wrap="square" lIns="0" tIns="0" rIns="0" bIns="0" rtlCol="0" anchor="t"/>
          <a:lstStyle/>
          <a:p>
            <a:pPr indent="0" marL="0">
              <a:buNone/>
            </a:pPr>
            <a:r>
              <a:rPr lang="en-US" sz="1250" dirty="0">
                <a:solidFill>
                  <a:schemeClr val="tx2"/>
                </a:solidFill>
              </a:rPr>
              <a:t>Local Kubernetes overlay had a MySQL password (and a dev JWT key) committed; now generated per machine and git-ignored</a:t>
            </a:r>
            <a:endParaRPr lang="en-US" sz="1250" dirty="0"/>
          </a:p>
        </p:txBody>
      </p:sp>
      <p:sp>
        <p:nvSpPr>
          <p:cNvPr id="11" name="Shape 7"/>
          <p:cNvSpPr/>
          <p:nvPr/>
        </p:nvSpPr>
        <p:spPr>
          <a:xfrm>
            <a:off x="548640" y="3364992"/>
            <a:ext cx="640080" cy="640080"/>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708660" y="3525012"/>
            <a:ext cx="320040" cy="320040"/>
          </a:xfrm>
          <a:prstGeom prst="rect">
            <a:avLst/>
          </a:prstGeom>
        </p:spPr>
      </p:pic>
      <p:sp>
        <p:nvSpPr>
          <p:cNvPr id="13" name="Text 8"/>
          <p:cNvSpPr txBox="1"/>
          <p:nvPr/>
        </p:nvSpPr>
        <p:spPr>
          <a:xfrm>
            <a:off x="1371600" y="3300984"/>
            <a:ext cx="5120640" cy="365760"/>
          </a:xfrm>
          <a:prstGeom prst="rect">
            <a:avLst/>
          </a:prstGeom>
          <a:noFill/>
          <a:ln/>
        </p:spPr>
        <p:txBody>
          <a:bodyPr wrap="square" lIns="0" tIns="0" rIns="0" bIns="0" rtlCol="0" anchor="t"/>
          <a:lstStyle/>
          <a:p>
            <a:pPr indent="0" marL="0">
              <a:buNone/>
            </a:pPr>
            <a:r>
              <a:rPr lang="en-US" sz="1600" b="1" dirty="0">
                <a:solidFill>
                  <a:schemeClr val="tx1"/>
                </a:solidFill>
              </a:rPr>
              <a:t>Infrastructure hardening</a:t>
            </a:r>
            <a:endParaRPr lang="en-US" sz="1600" dirty="0"/>
          </a:p>
        </p:txBody>
      </p:sp>
      <p:sp>
        <p:nvSpPr>
          <p:cNvPr id="14" name="Text 9"/>
          <p:cNvSpPr txBox="1"/>
          <p:nvPr/>
        </p:nvSpPr>
        <p:spPr>
          <a:xfrm>
            <a:off x="1371600" y="3666744"/>
            <a:ext cx="5120640" cy="548640"/>
          </a:xfrm>
          <a:prstGeom prst="rect">
            <a:avLst/>
          </a:prstGeom>
          <a:noFill/>
          <a:ln/>
        </p:spPr>
        <p:txBody>
          <a:bodyPr wrap="square" lIns="0" tIns="0" rIns="0" bIns="0" rtlCol="0" anchor="t"/>
          <a:lstStyle/>
          <a:p>
            <a:pPr indent="0" marL="0">
              <a:buNone/>
            </a:pPr>
            <a:r>
              <a:rPr lang="en-US" sz="1250" dirty="0">
                <a:solidFill>
                  <a:schemeClr val="tx2"/>
                </a:solidFill>
              </a:rPr>
              <a:t>Managed identities on the registry and state storage, HTTPS-only state bucket, backups on the database replica</a:t>
            </a:r>
            <a:endParaRPr lang="en-US" sz="1250" dirty="0"/>
          </a:p>
        </p:txBody>
      </p:sp>
      <p:sp>
        <p:nvSpPr>
          <p:cNvPr id="15" name="Shape 10"/>
          <p:cNvSpPr/>
          <p:nvPr/>
        </p:nvSpPr>
        <p:spPr>
          <a:xfrm>
            <a:off x="548640" y="4352544"/>
            <a:ext cx="640080" cy="640080"/>
          </a:xfrm>
          <a:prstGeom prst="ellipse">
            <a:avLst/>
          </a:prstGeom>
          <a:solidFill>
            <a:schemeClr val="accent6"/>
          </a:solidFill>
          <a:ln/>
        </p:spPr>
      </p:sp>
      <p:pic>
        <p:nvPicPr>
          <p:cNvPr id="16" name="Image 3" descr="preencoded.png">    </p:cNvPr>
          <p:cNvPicPr>
            <a:picLocks noChangeAspect="1"/>
          </p:cNvPicPr>
          <p:nvPr/>
        </p:nvPicPr>
        <p:blipFill>
          <a:blip r:embed="rId4"/>
          <a:stretch>
            <a:fillRect/>
          </a:stretch>
        </p:blipFill>
        <p:spPr>
          <a:xfrm>
            <a:off x="708660" y="4512564"/>
            <a:ext cx="320040" cy="320040"/>
          </a:xfrm>
          <a:prstGeom prst="rect">
            <a:avLst/>
          </a:prstGeom>
        </p:spPr>
      </p:pic>
      <p:sp>
        <p:nvSpPr>
          <p:cNvPr id="17" name="Text 11"/>
          <p:cNvSpPr txBox="1"/>
          <p:nvPr/>
        </p:nvSpPr>
        <p:spPr>
          <a:xfrm>
            <a:off x="1371600" y="4288536"/>
            <a:ext cx="5120640" cy="365760"/>
          </a:xfrm>
          <a:prstGeom prst="rect">
            <a:avLst/>
          </a:prstGeom>
          <a:noFill/>
          <a:ln/>
        </p:spPr>
        <p:txBody>
          <a:bodyPr wrap="square" lIns="0" tIns="0" rIns="0" bIns="0" rtlCol="0" anchor="t"/>
          <a:lstStyle/>
          <a:p>
            <a:pPr indent="0" marL="0">
              <a:buNone/>
            </a:pPr>
            <a:r>
              <a:rPr lang="en-US" sz="1600" b="1" dirty="0">
                <a:solidFill>
                  <a:schemeClr val="tx1"/>
                </a:solidFill>
              </a:rPr>
              <a:t>3 code smells</a:t>
            </a:r>
            <a:endParaRPr lang="en-US" sz="1600" dirty="0"/>
          </a:p>
        </p:txBody>
      </p:sp>
      <p:sp>
        <p:nvSpPr>
          <p:cNvPr id="18" name="Text 12"/>
          <p:cNvSpPr txBox="1"/>
          <p:nvPr/>
        </p:nvSpPr>
        <p:spPr>
          <a:xfrm>
            <a:off x="1371600" y="4654296"/>
            <a:ext cx="5120640" cy="548640"/>
          </a:xfrm>
          <a:prstGeom prst="rect">
            <a:avLst/>
          </a:prstGeom>
          <a:noFill/>
          <a:ln/>
        </p:spPr>
        <p:txBody>
          <a:bodyPr wrap="square" lIns="0" tIns="0" rIns="0" bIns="0" rtlCol="0" anchor="t"/>
          <a:lstStyle/>
          <a:p>
            <a:pPr indent="0" marL="0">
              <a:buNone/>
            </a:pPr>
            <a:r>
              <a:rPr lang="en-US" sz="1250" dirty="0">
                <a:solidFill>
                  <a:schemeClr val="tx2"/>
                </a:solidFill>
              </a:rPr>
              <a:t>Constant name clashing with a field, a backtracking regular expression, a bitwise integer trick</a:t>
            </a:r>
            <a:endParaRPr lang="en-US" sz="1250" dirty="0"/>
          </a:p>
        </p:txBody>
      </p:sp>
      <p:sp>
        <p:nvSpPr>
          <p:cNvPr id="19" name="Shape 13"/>
          <p:cNvSpPr/>
          <p:nvPr/>
        </p:nvSpPr>
        <p:spPr>
          <a:xfrm>
            <a:off x="6858000" y="1280160"/>
            <a:ext cx="4754880" cy="4754880"/>
          </a:xfrm>
          <a:prstGeom prst="roundRect">
            <a:avLst>
              <a:gd name="adj" fmla="val 1538"/>
            </a:avLst>
          </a:prstGeom>
          <a:solidFill>
            <a:schemeClr val="tx1"/>
          </a:solidFill>
          <a:ln/>
        </p:spPr>
      </p:sp>
      <p:sp>
        <p:nvSpPr>
          <p:cNvPr id="20" name="Text 14"/>
          <p:cNvSpPr txBox="1"/>
          <p:nvPr/>
        </p:nvSpPr>
        <p:spPr>
          <a:xfrm>
            <a:off x="7132320" y="1463040"/>
            <a:ext cx="4297680" cy="411480"/>
          </a:xfrm>
          <a:prstGeom prst="rect">
            <a:avLst/>
          </a:prstGeom>
          <a:noFill/>
          <a:ln/>
        </p:spPr>
        <p:txBody>
          <a:bodyPr wrap="square" lIns="0" tIns="0" rIns="0" bIns="0" rtlCol="0" anchor="t"/>
          <a:lstStyle/>
          <a:p>
            <a:pPr indent="0" marL="0">
              <a:buNone/>
            </a:pPr>
            <a:r>
              <a:rPr lang="en-US" sz="1800" b="1" dirty="0">
                <a:solidFill>
                  <a:schemeClr val="bg1"/>
                </a:solidFill>
              </a:rPr>
              <a:t>Reviewed and accepted (6)</a:t>
            </a:r>
            <a:endParaRPr lang="en-US" sz="1800" dirty="0"/>
          </a:p>
        </p:txBody>
      </p:sp>
      <p:sp>
        <p:nvSpPr>
          <p:cNvPr id="21" name="Text 15"/>
          <p:cNvSpPr txBox="1"/>
          <p:nvPr/>
        </p:nvSpPr>
        <p:spPr>
          <a:xfrm>
            <a:off x="7132320" y="2011680"/>
            <a:ext cx="4206240" cy="32918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bg1"/>
                </a:solidFill>
              </a:rPr>
              <a:t>Basic container registry is reachable publicly: this tier cannot be private; access is controlled by identity</a:t>
            </a:r>
            <a:endParaRPr lang="en-US" sz="1300" dirty="0"/>
          </a:p>
          <a:p>
            <a:pPr marL="342900" indent="-342900">
              <a:spcAft>
                <a:spcPts val="900"/>
              </a:spcAft>
              <a:buSzPct val="100000"/>
              <a:buChar char="•"/>
            </a:pPr>
            <a:r>
              <a:rPr lang="en-US" sz="1300" dirty="0">
                <a:solidFill>
                  <a:schemeClr val="bg1"/>
                </a:solidFill>
              </a:rPr>
              <a:t>Pipeline identity has subscription scope: it must create resource groups</a:t>
            </a:r>
            <a:endParaRPr lang="en-US" sz="1300" dirty="0"/>
          </a:p>
          <a:p>
            <a:pPr marL="342900" indent="-342900">
              <a:spcAft>
                <a:spcPts val="900"/>
              </a:spcAft>
              <a:buSzPct val="100000"/>
              <a:buChar char="•"/>
            </a:pPr>
            <a:r>
              <a:rPr lang="en-US" sz="1300" dirty="0">
                <a:solidFill>
                  <a:schemeClr val="bg1"/>
                </a:solidFill>
              </a:rPr>
              <a:t>No access logs on a few KB of state, or on the CloudFront copy that is switched off</a:t>
            </a:r>
            <a:endParaRPr lang="en-US" sz="1300" dirty="0"/>
          </a:p>
          <a:p>
            <a:pPr marL="342900" indent="-342900">
              <a:spcAft>
                <a:spcPts val="900"/>
              </a:spcAft>
              <a:buSzPct val="100000"/>
              <a:buChar char="•"/>
            </a:pPr>
            <a:r>
              <a:rPr lang="en-US" sz="1300" dirty="0">
                <a:solidFill>
                  <a:schemeClr val="bg1"/>
                </a:solidFill>
              </a:rPr>
              <a:t>Demo environments on nip.io use plain HTTP: those hostnames have no TLS</a:t>
            </a:r>
            <a:endParaRPr lang="en-US" sz="1300" dirty="0"/>
          </a:p>
        </p:txBody>
      </p:sp>
      <p:sp>
        <p:nvSpPr>
          <p:cNvPr id="22" name="Text 16"/>
          <p:cNvSpPr txBox="1"/>
          <p:nvPr/>
        </p:nvSpPr>
        <p:spPr>
          <a:xfrm>
            <a:off x="7132320" y="5394960"/>
            <a:ext cx="4206240" cy="548640"/>
          </a:xfrm>
          <a:prstGeom prst="rect">
            <a:avLst/>
          </a:prstGeom>
          <a:noFill/>
          <a:ln/>
        </p:spPr>
        <p:txBody>
          <a:bodyPr wrap="square" lIns="0" tIns="0" rIns="0" bIns="0" rtlCol="0" anchor="t"/>
          <a:lstStyle/>
          <a:p>
            <a:pPr indent="0" marL="0">
              <a:buNone/>
            </a:pPr>
            <a:r>
              <a:rPr lang="en-US" sz="1200" i="1" dirty="0">
                <a:solidFill>
                  <a:schemeClr val="bg2"/>
                </a:solidFill>
              </a:rPr>
              <a:t>Each decision is recorded next to its exclusion in sonar-project.properties</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7315200" cy="457200"/>
          </a:xfrm>
          <a:prstGeom prst="rect">
            <a:avLst/>
          </a:prstGeom>
          <a:noFill/>
          <a:ln/>
        </p:spPr>
        <p:txBody>
          <a:bodyPr wrap="square" lIns="0" tIns="0" rIns="0" bIns="0" rtlCol="0"/>
          <a:lstStyle/>
          <a:p>
            <a:pPr indent="0" marL="0">
              <a:buNone/>
            </a:pPr>
            <a:r>
              <a:rPr lang="en-US" sz="1800" b="1" dirty="0">
                <a:solidFill>
                  <a:schemeClr val="accent2"/>
                </a:solidFill>
              </a:rPr>
              <a:t>02</a:t>
            </a:r>
            <a:endParaRPr lang="en-US" sz="1800" dirty="0"/>
          </a:p>
        </p:txBody>
      </p:sp>
      <p:sp>
        <p:nvSpPr>
          <p:cNvPr id="3" name="Text 0"/>
          <p:cNvSpPr/>
          <p:nvPr>
            <p:ph idx="101" type="title" hasCustomPrompt="1"/>
          </p:nvPr>
        </p:nvSpPr>
        <p:spPr>
          <a:xfrm>
            <a:off x="731520" y="265176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Design patterns applied</a:t>
            </a:r>
            <a:endParaRPr lang="en-US" sz="4400" dirty="0"/>
          </a:p>
        </p:txBody>
      </p:sp>
      <p:sp>
        <p:nvSpPr>
          <p:cNvPr id="4" name="Text 0"/>
          <p:cNvSpPr/>
          <p:nvPr>
            <p:ph idx="102" type="body" hasCustomPrompt="1"/>
          </p:nvPr>
        </p:nvSpPr>
        <p:spPr>
          <a:xfrm>
            <a:off x="731520" y="3749040"/>
            <a:ext cx="10058400" cy="822960"/>
          </a:xfrm>
          <a:prstGeom prst="rect">
            <a:avLst/>
          </a:prstGeom>
          <a:noFill/>
          <a:ln/>
        </p:spPr>
        <p:txBody>
          <a:bodyPr wrap="square" lIns="0" tIns="0" rIns="0" bIns="0" rtlCol="0" anchor="t"/>
          <a:lstStyle/>
          <a:p>
            <a:pPr indent="0" marL="0">
              <a:buNone/>
            </a:pPr>
            <a:r>
              <a:rPr lang="en-US" sz="2000" dirty="0">
                <a:solidFill>
                  <a:schemeClr val="bg2"/>
                </a:solidFill>
              </a:rPr>
              <a:t>30 patterns, documented with the files where they live</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30 patterns across the stack</a:t>
            </a:r>
            <a:endParaRPr lang="en-US" sz="3200" dirty="0"/>
          </a:p>
        </p:txBody>
      </p:sp>
      <p:sp>
        <p:nvSpPr>
          <p:cNvPr id="3" name="Shape 1"/>
          <p:cNvSpPr/>
          <p:nvPr/>
        </p:nvSpPr>
        <p:spPr>
          <a:xfrm>
            <a:off x="548640" y="1280160"/>
            <a:ext cx="3520440" cy="2331720"/>
          </a:xfrm>
          <a:prstGeom prst="roundRect">
            <a:avLst>
              <a:gd name="adj" fmla="val 3137"/>
            </a:avLst>
          </a:prstGeom>
          <a:solidFill>
            <a:schemeClr val="bg2"/>
          </a:solidFill>
          <a:ln/>
        </p:spPr>
      </p:sp>
      <p:sp>
        <p:nvSpPr>
          <p:cNvPr id="4" name="Shape 2"/>
          <p:cNvSpPr/>
          <p:nvPr/>
        </p:nvSpPr>
        <p:spPr>
          <a:xfrm>
            <a:off x="777240" y="1463040"/>
            <a:ext cx="3063240" cy="384048"/>
          </a:xfrm>
          <a:prstGeom prst="roundRect">
            <a:avLst>
              <a:gd name="adj" fmla="val 14286"/>
            </a:avLst>
          </a:prstGeom>
          <a:solidFill>
            <a:schemeClr val="accent1"/>
          </a:solidFill>
          <a:ln/>
        </p:spPr>
      </p:sp>
      <p:sp>
        <p:nvSpPr>
          <p:cNvPr id="5" name="Text 3"/>
          <p:cNvSpPr txBox="1"/>
          <p:nvPr/>
        </p:nvSpPr>
        <p:spPr>
          <a:xfrm>
            <a:off x="777240" y="14630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Architecture</a:t>
            </a:r>
            <a:endParaRPr lang="en-US" sz="1300" dirty="0"/>
          </a:p>
        </p:txBody>
      </p:sp>
      <p:sp>
        <p:nvSpPr>
          <p:cNvPr id="6" name="Text 4"/>
          <p:cNvSpPr txBox="1"/>
          <p:nvPr/>
        </p:nvSpPr>
        <p:spPr>
          <a:xfrm>
            <a:off x="822960" y="1993392"/>
            <a:ext cx="3108960" cy="15544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Layered (controller, service, repository)</a:t>
            </a:r>
            <a:endParaRPr lang="en-US" sz="1150" dirty="0"/>
          </a:p>
          <a:p>
            <a:pPr marL="342900" indent="-342900">
              <a:spcAft>
                <a:spcPts val="200"/>
              </a:spcAft>
              <a:buSzPct val="100000"/>
              <a:buChar char="•"/>
            </a:pPr>
            <a:r>
              <a:rPr lang="en-US" sz="1150" dirty="0">
                <a:solidFill>
                  <a:schemeClr val="tx1"/>
                </a:solidFill>
              </a:rPr>
              <a:t>Dependency injection</a:t>
            </a:r>
            <a:endParaRPr lang="en-US" sz="1150" dirty="0"/>
          </a:p>
          <a:p>
            <a:pPr marL="342900" indent="-342900">
              <a:spcAft>
                <a:spcPts val="200"/>
              </a:spcAft>
              <a:buSzPct val="100000"/>
              <a:buChar char="•"/>
            </a:pPr>
            <a:r>
              <a:rPr lang="en-US" sz="1150" dirty="0">
                <a:solidFill>
                  <a:schemeClr val="tx1"/>
                </a:solidFill>
              </a:rPr>
              <a:t>Centralised error handling (RFC 7807)</a:t>
            </a:r>
            <a:endParaRPr lang="en-US" sz="1150" dirty="0"/>
          </a:p>
        </p:txBody>
      </p:sp>
      <p:sp>
        <p:nvSpPr>
          <p:cNvPr id="7" name="Shape 5"/>
          <p:cNvSpPr/>
          <p:nvPr/>
        </p:nvSpPr>
        <p:spPr>
          <a:xfrm>
            <a:off x="4343400" y="1280160"/>
            <a:ext cx="3520440" cy="2331720"/>
          </a:xfrm>
          <a:prstGeom prst="roundRect">
            <a:avLst>
              <a:gd name="adj" fmla="val 3137"/>
            </a:avLst>
          </a:prstGeom>
          <a:solidFill>
            <a:schemeClr val="bg2"/>
          </a:solidFill>
          <a:ln/>
        </p:spPr>
      </p:sp>
      <p:sp>
        <p:nvSpPr>
          <p:cNvPr id="8" name="Shape 6"/>
          <p:cNvSpPr/>
          <p:nvPr/>
        </p:nvSpPr>
        <p:spPr>
          <a:xfrm>
            <a:off x="4572000" y="1463040"/>
            <a:ext cx="3063240" cy="384048"/>
          </a:xfrm>
          <a:prstGeom prst="roundRect">
            <a:avLst>
              <a:gd name="adj" fmla="val 14286"/>
            </a:avLst>
          </a:prstGeom>
          <a:solidFill>
            <a:schemeClr val="accent6"/>
          </a:solidFill>
          <a:ln/>
        </p:spPr>
      </p:sp>
      <p:sp>
        <p:nvSpPr>
          <p:cNvPr id="9" name="Text 7"/>
          <p:cNvSpPr txBox="1"/>
          <p:nvPr/>
        </p:nvSpPr>
        <p:spPr>
          <a:xfrm>
            <a:off x="4572000" y="14630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Behaviour</a:t>
            </a:r>
            <a:endParaRPr lang="en-US" sz="1300" dirty="0"/>
          </a:p>
        </p:txBody>
      </p:sp>
      <p:sp>
        <p:nvSpPr>
          <p:cNvPr id="10" name="Text 8"/>
          <p:cNvSpPr txBox="1"/>
          <p:nvPr/>
        </p:nvSpPr>
        <p:spPr>
          <a:xfrm>
            <a:off x="4617720" y="1993392"/>
            <a:ext cx="3108960" cy="15544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Strategy + dispatcher (deployment runners)</a:t>
            </a:r>
            <a:endParaRPr lang="en-US" sz="1150" dirty="0"/>
          </a:p>
          <a:p>
            <a:pPr marL="342900" indent="-342900">
              <a:spcAft>
                <a:spcPts val="200"/>
              </a:spcAft>
              <a:buSzPct val="100000"/>
              <a:buChar char="•"/>
            </a:pPr>
            <a:r>
              <a:rPr lang="en-US" sz="1150" dirty="0">
                <a:solidFill>
                  <a:schemeClr val="tx1"/>
                </a:solidFill>
              </a:rPr>
              <a:t>Observer (events after commit)</a:t>
            </a:r>
            <a:endParaRPr lang="en-US" sz="1150" dirty="0"/>
          </a:p>
          <a:p>
            <a:pPr marL="342900" indent="-342900">
              <a:spcAft>
                <a:spcPts val="200"/>
              </a:spcAft>
              <a:buSzPct val="100000"/>
              <a:buChar char="•"/>
            </a:pPr>
            <a:r>
              <a:rPr lang="en-US" sz="1150" dirty="0">
                <a:solidFill>
                  <a:schemeClr val="tx1"/>
                </a:solidFill>
              </a:rPr>
              <a:t>State machine (ticket workflow)</a:t>
            </a:r>
            <a:endParaRPr lang="en-US" sz="1150" dirty="0"/>
          </a:p>
          <a:p>
            <a:pPr marL="342900" indent="-342900">
              <a:spcAft>
                <a:spcPts val="200"/>
              </a:spcAft>
              <a:buSzPct val="100000"/>
              <a:buChar char="•"/>
            </a:pPr>
            <a:r>
              <a:rPr lang="en-US" sz="1150" dirty="0">
                <a:solidFill>
                  <a:schemeClr val="tx1"/>
                </a:solidFill>
              </a:rPr>
              <a:t>Policy (access rules)</a:t>
            </a:r>
            <a:endParaRPr lang="en-US" sz="1150" dirty="0"/>
          </a:p>
          <a:p>
            <a:pPr marL="342900" indent="-342900">
              <a:spcAft>
                <a:spcPts val="200"/>
              </a:spcAft>
              <a:buSzPct val="100000"/>
              <a:buChar char="•"/>
            </a:pPr>
            <a:r>
              <a:rPr lang="en-US" sz="1150" dirty="0">
                <a:solidFill>
                  <a:schemeClr val="tx1"/>
                </a:solidFill>
              </a:rPr>
              <a:t>Chain of Responsibility (security filters)</a:t>
            </a:r>
            <a:endParaRPr lang="en-US" sz="1150" dirty="0"/>
          </a:p>
          <a:p>
            <a:pPr marL="342900" indent="-342900">
              <a:spcAft>
                <a:spcPts val="200"/>
              </a:spcAft>
              <a:buSzPct val="100000"/>
              <a:buChar char="•"/>
            </a:pPr>
            <a:r>
              <a:rPr lang="en-US" sz="1150" dirty="0">
                <a:solidFill>
                  <a:schemeClr val="tx1"/>
                </a:solidFill>
              </a:rPr>
              <a:t>Template Method</a:t>
            </a:r>
            <a:endParaRPr lang="en-US" sz="1150" dirty="0"/>
          </a:p>
        </p:txBody>
      </p:sp>
      <p:sp>
        <p:nvSpPr>
          <p:cNvPr id="11" name="Shape 9"/>
          <p:cNvSpPr/>
          <p:nvPr/>
        </p:nvSpPr>
        <p:spPr>
          <a:xfrm>
            <a:off x="8138160" y="1280160"/>
            <a:ext cx="3520440" cy="2331720"/>
          </a:xfrm>
          <a:prstGeom prst="roundRect">
            <a:avLst>
              <a:gd name="adj" fmla="val 3137"/>
            </a:avLst>
          </a:prstGeom>
          <a:solidFill>
            <a:schemeClr val="bg2"/>
          </a:solidFill>
          <a:ln/>
        </p:spPr>
      </p:sp>
      <p:sp>
        <p:nvSpPr>
          <p:cNvPr id="12" name="Shape 10"/>
          <p:cNvSpPr/>
          <p:nvPr/>
        </p:nvSpPr>
        <p:spPr>
          <a:xfrm>
            <a:off x="8366760" y="1463040"/>
            <a:ext cx="3063240" cy="384048"/>
          </a:xfrm>
          <a:prstGeom prst="roundRect">
            <a:avLst>
              <a:gd name="adj" fmla="val 14286"/>
            </a:avLst>
          </a:prstGeom>
          <a:solidFill>
            <a:schemeClr val="accent4"/>
          </a:solidFill>
          <a:ln/>
        </p:spPr>
      </p:sp>
      <p:sp>
        <p:nvSpPr>
          <p:cNvPr id="13" name="Text 11"/>
          <p:cNvSpPr txBox="1"/>
          <p:nvPr/>
        </p:nvSpPr>
        <p:spPr>
          <a:xfrm>
            <a:off x="8366760" y="14630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Data and structure</a:t>
            </a:r>
            <a:endParaRPr lang="en-US" sz="1300" dirty="0"/>
          </a:p>
        </p:txBody>
      </p:sp>
      <p:sp>
        <p:nvSpPr>
          <p:cNvPr id="14" name="Text 12"/>
          <p:cNvSpPr txBox="1"/>
          <p:nvPr/>
        </p:nvSpPr>
        <p:spPr>
          <a:xfrm>
            <a:off x="8412480" y="1993392"/>
            <a:ext cx="3108960" cy="15544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Repository</a:t>
            </a:r>
            <a:endParaRPr lang="en-US" sz="1150" dirty="0"/>
          </a:p>
          <a:p>
            <a:pPr marL="342900" indent="-342900">
              <a:spcAft>
                <a:spcPts val="200"/>
              </a:spcAft>
              <a:buSzPct val="100000"/>
              <a:buChar char="•"/>
            </a:pPr>
            <a:r>
              <a:rPr lang="en-US" sz="1150" dirty="0">
                <a:solidFill>
                  <a:schemeClr val="tx1"/>
                </a:solidFill>
              </a:rPr>
              <a:t>Specification (search filters)</a:t>
            </a:r>
            <a:endParaRPr lang="en-US" sz="1150" dirty="0"/>
          </a:p>
          <a:p>
            <a:pPr marL="342900" indent="-342900">
              <a:spcAft>
                <a:spcPts val="200"/>
              </a:spcAft>
              <a:buSzPct val="100000"/>
              <a:buChar char="•"/>
            </a:pPr>
            <a:r>
              <a:rPr lang="en-US" sz="1150" dirty="0">
                <a:solidFill>
                  <a:schemeClr val="tx1"/>
                </a:solidFill>
              </a:rPr>
              <a:t>DTO + Mapper (MapStruct)</a:t>
            </a:r>
            <a:endParaRPr lang="en-US" sz="1150" dirty="0"/>
          </a:p>
          <a:p>
            <a:pPr marL="342900" indent="-342900">
              <a:spcAft>
                <a:spcPts val="200"/>
              </a:spcAft>
              <a:buSzPct val="100000"/>
              <a:buChar char="•"/>
            </a:pPr>
            <a:r>
              <a:rPr lang="en-US" sz="1150" dirty="0">
                <a:solidFill>
                  <a:schemeClr val="tx1"/>
                </a:solidFill>
              </a:rPr>
              <a:t>Immutable value objects (records)</a:t>
            </a:r>
            <a:endParaRPr lang="en-US" sz="1150" dirty="0"/>
          </a:p>
          <a:p>
            <a:pPr marL="342900" indent="-342900">
              <a:spcAft>
                <a:spcPts val="200"/>
              </a:spcAft>
              <a:buSzPct val="100000"/>
              <a:buChar char="•"/>
            </a:pPr>
            <a:r>
              <a:rPr lang="en-US" sz="1150" dirty="0">
                <a:solidFill>
                  <a:schemeClr val="tx1"/>
                </a:solidFill>
              </a:rPr>
              <a:t>Proxy / AOP (@Transactional, @PreAuthorize)</a:t>
            </a:r>
            <a:endParaRPr lang="en-US" sz="1150" dirty="0"/>
          </a:p>
          <a:p>
            <a:pPr marL="342900" indent="-342900">
              <a:spcAft>
                <a:spcPts val="200"/>
              </a:spcAft>
              <a:buSzPct val="100000"/>
              <a:buChar char="•"/>
            </a:pPr>
            <a:r>
              <a:rPr lang="en-US" sz="1150" dirty="0">
                <a:solidFill>
                  <a:schemeClr val="tx1"/>
                </a:solidFill>
              </a:rPr>
              <a:t>Builder, static factory</a:t>
            </a:r>
            <a:endParaRPr lang="en-US" sz="1150" dirty="0"/>
          </a:p>
        </p:txBody>
      </p:sp>
      <p:sp>
        <p:nvSpPr>
          <p:cNvPr id="15" name="Shape 13"/>
          <p:cNvSpPr/>
          <p:nvPr/>
        </p:nvSpPr>
        <p:spPr>
          <a:xfrm>
            <a:off x="548640" y="3794760"/>
            <a:ext cx="3520440" cy="2331720"/>
          </a:xfrm>
          <a:prstGeom prst="roundRect">
            <a:avLst>
              <a:gd name="adj" fmla="val 3137"/>
            </a:avLst>
          </a:prstGeom>
          <a:solidFill>
            <a:schemeClr val="bg2"/>
          </a:solidFill>
          <a:ln/>
        </p:spPr>
      </p:sp>
      <p:sp>
        <p:nvSpPr>
          <p:cNvPr id="16" name="Shape 14"/>
          <p:cNvSpPr/>
          <p:nvPr/>
        </p:nvSpPr>
        <p:spPr>
          <a:xfrm>
            <a:off x="777240" y="3977640"/>
            <a:ext cx="3063240" cy="384048"/>
          </a:xfrm>
          <a:prstGeom prst="roundRect">
            <a:avLst>
              <a:gd name="adj" fmla="val 14286"/>
            </a:avLst>
          </a:prstGeom>
          <a:solidFill>
            <a:schemeClr val="accent2"/>
          </a:solidFill>
          <a:ln/>
        </p:spPr>
      </p:sp>
      <p:sp>
        <p:nvSpPr>
          <p:cNvPr id="17" name="Text 15"/>
          <p:cNvSpPr txBox="1"/>
          <p:nvPr/>
        </p:nvSpPr>
        <p:spPr>
          <a:xfrm>
            <a:off x="777240" y="39776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Reliability and security</a:t>
            </a:r>
            <a:endParaRPr lang="en-US" sz="1300" dirty="0"/>
          </a:p>
        </p:txBody>
      </p:sp>
      <p:sp>
        <p:nvSpPr>
          <p:cNvPr id="18" name="Text 16"/>
          <p:cNvSpPr txBox="1"/>
          <p:nvPr/>
        </p:nvSpPr>
        <p:spPr>
          <a:xfrm>
            <a:off x="822960" y="4507992"/>
            <a:ext cx="3108960" cy="15544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Token bucket rate limiting</a:t>
            </a:r>
            <a:endParaRPr lang="en-US" sz="1150" dirty="0"/>
          </a:p>
          <a:p>
            <a:pPr marL="342900" indent="-342900">
              <a:spcAft>
                <a:spcPts val="200"/>
              </a:spcAft>
              <a:buSzPct val="100000"/>
              <a:buChar char="•"/>
            </a:pPr>
            <a:r>
              <a:rPr lang="en-US" sz="1150" dirty="0">
                <a:solidFill>
                  <a:schemeClr val="tx1"/>
                </a:solidFill>
              </a:rPr>
              <a:t>Optimistic locking (@Version)</a:t>
            </a:r>
            <a:endParaRPr lang="en-US" sz="1150" dirty="0"/>
          </a:p>
          <a:p>
            <a:pPr marL="342900" indent="-342900">
              <a:spcAft>
                <a:spcPts val="200"/>
              </a:spcAft>
              <a:buSzPct val="100000"/>
              <a:buChar char="•"/>
            </a:pPr>
            <a:r>
              <a:rPr lang="en-US" sz="1150" dirty="0">
                <a:solidFill>
                  <a:schemeClr val="tx1"/>
                </a:solidFill>
              </a:rPr>
              <a:t>Auditing entity listener</a:t>
            </a:r>
            <a:endParaRPr lang="en-US" sz="1150" dirty="0"/>
          </a:p>
          <a:p>
            <a:pPr marL="342900" indent="-342900">
              <a:spcAft>
                <a:spcPts val="200"/>
              </a:spcAft>
              <a:buSzPct val="100000"/>
              <a:buChar char="•"/>
            </a:pPr>
            <a:r>
              <a:rPr lang="en-US" sz="1150" dirty="0">
                <a:solidFill>
                  <a:schemeClr val="tx1"/>
                </a:solidFill>
              </a:rPr>
              <a:t>HMAC-signed callbacks</a:t>
            </a:r>
            <a:endParaRPr lang="en-US" sz="1150" dirty="0"/>
          </a:p>
          <a:p>
            <a:pPr marL="342900" indent="-342900">
              <a:spcAft>
                <a:spcPts val="200"/>
              </a:spcAft>
              <a:buSzPct val="100000"/>
              <a:buChar char="•"/>
            </a:pPr>
            <a:r>
              <a:rPr lang="en-US" sz="1150" dirty="0">
                <a:solidFill>
                  <a:schemeClr val="tx1"/>
                </a:solidFill>
              </a:rPr>
              <a:t>Refresh token rotation</a:t>
            </a:r>
            <a:endParaRPr lang="en-US" sz="1150" dirty="0"/>
          </a:p>
        </p:txBody>
      </p:sp>
      <p:sp>
        <p:nvSpPr>
          <p:cNvPr id="19" name="Shape 17"/>
          <p:cNvSpPr/>
          <p:nvPr/>
        </p:nvSpPr>
        <p:spPr>
          <a:xfrm>
            <a:off x="4343400" y="3794760"/>
            <a:ext cx="3520440" cy="2331720"/>
          </a:xfrm>
          <a:prstGeom prst="roundRect">
            <a:avLst>
              <a:gd name="adj" fmla="val 3137"/>
            </a:avLst>
          </a:prstGeom>
          <a:solidFill>
            <a:schemeClr val="bg2"/>
          </a:solidFill>
          <a:ln/>
        </p:spPr>
      </p:sp>
      <p:sp>
        <p:nvSpPr>
          <p:cNvPr id="20" name="Shape 18"/>
          <p:cNvSpPr/>
          <p:nvPr/>
        </p:nvSpPr>
        <p:spPr>
          <a:xfrm>
            <a:off x="4572000" y="3977640"/>
            <a:ext cx="3063240" cy="384048"/>
          </a:xfrm>
          <a:prstGeom prst="roundRect">
            <a:avLst>
              <a:gd name="adj" fmla="val 14286"/>
            </a:avLst>
          </a:prstGeom>
          <a:solidFill>
            <a:schemeClr val="accent3"/>
          </a:solidFill>
          <a:ln/>
        </p:spPr>
      </p:sp>
      <p:sp>
        <p:nvSpPr>
          <p:cNvPr id="21" name="Text 19"/>
          <p:cNvSpPr txBox="1"/>
          <p:nvPr/>
        </p:nvSpPr>
        <p:spPr>
          <a:xfrm>
            <a:off x="4572000" y="39776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Frontend</a:t>
            </a:r>
            <a:endParaRPr lang="en-US" sz="1300" dirty="0"/>
          </a:p>
        </p:txBody>
      </p:sp>
      <p:sp>
        <p:nvSpPr>
          <p:cNvPr id="22" name="Text 20"/>
          <p:cNvSpPr txBox="1"/>
          <p:nvPr/>
        </p:nvSpPr>
        <p:spPr>
          <a:xfrm>
            <a:off x="4617720" y="4507992"/>
            <a:ext cx="3108960" cy="15544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Flux single store (Redux)</a:t>
            </a:r>
            <a:endParaRPr lang="en-US" sz="1150" dirty="0"/>
          </a:p>
          <a:p>
            <a:pPr marL="342900" indent="-342900">
              <a:spcAft>
                <a:spcPts val="200"/>
              </a:spcAft>
              <a:buSzPct val="100000"/>
              <a:buChar char="•"/>
            </a:pPr>
            <a:r>
              <a:rPr lang="en-US" sz="1150" dirty="0">
                <a:solidFill>
                  <a:schemeClr val="tx1"/>
                </a:solidFill>
              </a:rPr>
              <a:t>Data-fetching cache (RTK Query)</a:t>
            </a:r>
            <a:endParaRPr lang="en-US" sz="1150" dirty="0"/>
          </a:p>
          <a:p>
            <a:pPr marL="342900" indent="-342900">
              <a:spcAft>
                <a:spcPts val="200"/>
              </a:spcAft>
              <a:buSzPct val="100000"/>
              <a:buChar char="•"/>
            </a:pPr>
            <a:r>
              <a:rPr lang="en-US" sz="1150" dirty="0">
                <a:solidFill>
                  <a:schemeClr val="tx1"/>
                </a:solidFill>
              </a:rPr>
              <a:t>Interceptor (silent token refresh)</a:t>
            </a:r>
            <a:endParaRPr lang="en-US" sz="1150" dirty="0"/>
          </a:p>
          <a:p>
            <a:pPr marL="342900" indent="-342900">
              <a:spcAft>
                <a:spcPts val="200"/>
              </a:spcAft>
              <a:buSzPct val="100000"/>
              <a:buChar char="•"/>
            </a:pPr>
            <a:r>
              <a:rPr lang="en-US" sz="1150" dirty="0">
                <a:solidFill>
                  <a:schemeClr val="tx1"/>
                </a:solidFill>
              </a:rPr>
              <a:t>Route guards</a:t>
            </a:r>
            <a:endParaRPr lang="en-US" sz="1150" dirty="0"/>
          </a:p>
        </p:txBody>
      </p:sp>
      <p:sp>
        <p:nvSpPr>
          <p:cNvPr id="23" name="Shape 21"/>
          <p:cNvSpPr/>
          <p:nvPr/>
        </p:nvSpPr>
        <p:spPr>
          <a:xfrm>
            <a:off x="8138160" y="3794760"/>
            <a:ext cx="3520440" cy="2331720"/>
          </a:xfrm>
          <a:prstGeom prst="roundRect">
            <a:avLst>
              <a:gd name="adj" fmla="val 3137"/>
            </a:avLst>
          </a:prstGeom>
          <a:solidFill>
            <a:schemeClr val="bg2"/>
          </a:solidFill>
          <a:ln/>
        </p:spPr>
      </p:sp>
      <p:sp>
        <p:nvSpPr>
          <p:cNvPr id="24" name="Shape 22"/>
          <p:cNvSpPr/>
          <p:nvPr/>
        </p:nvSpPr>
        <p:spPr>
          <a:xfrm>
            <a:off x="8366760" y="3977640"/>
            <a:ext cx="3063240" cy="384048"/>
          </a:xfrm>
          <a:prstGeom prst="roundRect">
            <a:avLst>
              <a:gd name="adj" fmla="val 14286"/>
            </a:avLst>
          </a:prstGeom>
          <a:solidFill>
            <a:schemeClr val="accent5"/>
          </a:solidFill>
          <a:ln/>
        </p:spPr>
      </p:sp>
      <p:sp>
        <p:nvSpPr>
          <p:cNvPr id="25" name="Text 23"/>
          <p:cNvSpPr txBox="1"/>
          <p:nvPr/>
        </p:nvSpPr>
        <p:spPr>
          <a:xfrm>
            <a:off x="8366760" y="39776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Infrastructure</a:t>
            </a:r>
            <a:endParaRPr lang="en-US" sz="1300" dirty="0"/>
          </a:p>
        </p:txBody>
      </p:sp>
      <p:sp>
        <p:nvSpPr>
          <p:cNvPr id="26" name="Text 24"/>
          <p:cNvSpPr txBox="1"/>
          <p:nvPr/>
        </p:nvSpPr>
        <p:spPr>
          <a:xfrm>
            <a:off x="8412480" y="4507992"/>
            <a:ext cx="3108960" cy="15544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Reusable OpenTofu modules</a:t>
            </a:r>
            <a:endParaRPr lang="en-US" sz="1150" dirty="0"/>
          </a:p>
          <a:p>
            <a:pPr marL="342900" indent="-342900">
              <a:spcAft>
                <a:spcPts val="200"/>
              </a:spcAft>
              <a:buSzPct val="100000"/>
              <a:buChar char="•"/>
            </a:pPr>
            <a:r>
              <a:rPr lang="en-US" sz="1150" dirty="0">
                <a:solidFill>
                  <a:schemeClr val="tx1"/>
                </a:solidFill>
              </a:rPr>
              <a:t>Kustomize overlays</a:t>
            </a:r>
            <a:endParaRPr lang="en-US" sz="1150" dirty="0"/>
          </a:p>
          <a:p>
            <a:pPr marL="342900" indent="-342900">
              <a:spcAft>
                <a:spcPts val="200"/>
              </a:spcAft>
              <a:buSzPct val="100000"/>
              <a:buChar char="•"/>
            </a:pPr>
            <a:r>
              <a:rPr lang="en-US" sz="1150" dirty="0">
                <a:solidFill>
                  <a:schemeClr val="tx1"/>
                </a:solidFill>
              </a:rPr>
              <a:t>Active-passive failover with health checks</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Four patterns that matter most</a:t>
            </a:r>
            <a:endParaRPr lang="en-US" sz="3200" dirty="0"/>
          </a:p>
        </p:txBody>
      </p:sp>
      <p:sp>
        <p:nvSpPr>
          <p:cNvPr id="3" name="Shape 1"/>
          <p:cNvSpPr/>
          <p:nvPr/>
        </p:nvSpPr>
        <p:spPr>
          <a:xfrm>
            <a:off x="548640" y="1325880"/>
            <a:ext cx="5440680" cy="2194560"/>
          </a:xfrm>
          <a:prstGeom prst="roundRect">
            <a:avLst>
              <a:gd name="adj" fmla="val 3333"/>
            </a:avLst>
          </a:prstGeom>
          <a:solidFill>
            <a:schemeClr val="bg2"/>
          </a:solidFill>
          <a:ln/>
        </p:spPr>
      </p:sp>
      <p:sp>
        <p:nvSpPr>
          <p:cNvPr id="4" name="Shape 2"/>
          <p:cNvSpPr/>
          <p:nvPr/>
        </p:nvSpPr>
        <p:spPr>
          <a:xfrm>
            <a:off x="822960" y="1600200"/>
            <a:ext cx="685800" cy="68580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994410" y="1771650"/>
            <a:ext cx="342900" cy="342900"/>
          </a:xfrm>
          <a:prstGeom prst="rect">
            <a:avLst/>
          </a:prstGeom>
        </p:spPr>
      </p:pic>
      <p:sp>
        <p:nvSpPr>
          <p:cNvPr id="6" name="Text 3"/>
          <p:cNvSpPr txBox="1"/>
          <p:nvPr/>
        </p:nvSpPr>
        <p:spPr>
          <a:xfrm>
            <a:off x="1691640" y="1709928"/>
            <a:ext cx="4023360" cy="457200"/>
          </a:xfrm>
          <a:prstGeom prst="rect">
            <a:avLst/>
          </a:prstGeom>
          <a:noFill/>
          <a:ln/>
        </p:spPr>
        <p:txBody>
          <a:bodyPr wrap="square" lIns="0" tIns="0" rIns="0" bIns="0" rtlCol="0" anchor="t"/>
          <a:lstStyle/>
          <a:p>
            <a:pPr indent="0" marL="0">
              <a:buNone/>
            </a:pPr>
            <a:r>
              <a:rPr lang="en-US" sz="1900" b="1" dirty="0">
                <a:solidFill>
                  <a:schemeClr val="accent6"/>
                </a:solidFill>
              </a:rPr>
              <a:t>Strategy</a:t>
            </a:r>
            <a:endParaRPr lang="en-US" sz="1900" dirty="0"/>
          </a:p>
        </p:txBody>
      </p:sp>
      <p:sp>
        <p:nvSpPr>
          <p:cNvPr id="7" name="Text 4"/>
          <p:cNvSpPr txBox="1"/>
          <p:nvPr/>
        </p:nvSpPr>
        <p:spPr>
          <a:xfrm>
            <a:off x="822960" y="2423160"/>
            <a:ext cx="4937760" cy="1005840"/>
          </a:xfrm>
          <a:prstGeom prst="rect">
            <a:avLst/>
          </a:prstGeom>
          <a:noFill/>
          <a:ln/>
        </p:spPr>
        <p:txBody>
          <a:bodyPr wrap="square" lIns="0" tIns="0" rIns="0" bIns="0" rtlCol="0" anchor="t"/>
          <a:lstStyle/>
          <a:p>
            <a:pPr indent="0" marL="0">
              <a:buNone/>
            </a:pPr>
            <a:r>
              <a:rPr lang="en-US" sz="1350" dirty="0">
                <a:solidFill>
                  <a:schemeClr val="tx2"/>
                </a:solidFill>
              </a:rPr>
              <a:t>ProvisioningRunner with a simulated and a GitHub Actions implementation; a dispatcher picks one by configuration. A new runner is a new class, nothing else changes.</a:t>
            </a:r>
            <a:endParaRPr lang="en-US" sz="1350" dirty="0"/>
          </a:p>
        </p:txBody>
      </p:sp>
      <p:sp>
        <p:nvSpPr>
          <p:cNvPr id="8" name="Shape 5"/>
          <p:cNvSpPr/>
          <p:nvPr/>
        </p:nvSpPr>
        <p:spPr>
          <a:xfrm>
            <a:off x="6172200" y="1325880"/>
            <a:ext cx="5440680" cy="2194560"/>
          </a:xfrm>
          <a:prstGeom prst="roundRect">
            <a:avLst>
              <a:gd name="adj" fmla="val 3333"/>
            </a:avLst>
          </a:prstGeom>
          <a:solidFill>
            <a:schemeClr val="bg2"/>
          </a:solidFill>
          <a:ln/>
        </p:spPr>
      </p:sp>
      <p:sp>
        <p:nvSpPr>
          <p:cNvPr id="9" name="Shape 6"/>
          <p:cNvSpPr/>
          <p:nvPr/>
        </p:nvSpPr>
        <p:spPr>
          <a:xfrm>
            <a:off x="6446520" y="1600200"/>
            <a:ext cx="685800" cy="6858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617970" y="1771650"/>
            <a:ext cx="342900" cy="342900"/>
          </a:xfrm>
          <a:prstGeom prst="rect">
            <a:avLst/>
          </a:prstGeom>
        </p:spPr>
      </p:pic>
      <p:sp>
        <p:nvSpPr>
          <p:cNvPr id="11" name="Text 7"/>
          <p:cNvSpPr txBox="1"/>
          <p:nvPr/>
        </p:nvSpPr>
        <p:spPr>
          <a:xfrm>
            <a:off x="7315200" y="1709928"/>
            <a:ext cx="4023360" cy="457200"/>
          </a:xfrm>
          <a:prstGeom prst="rect">
            <a:avLst/>
          </a:prstGeom>
          <a:noFill/>
          <a:ln/>
        </p:spPr>
        <p:txBody>
          <a:bodyPr wrap="square" lIns="0" tIns="0" rIns="0" bIns="0" rtlCol="0" anchor="t"/>
          <a:lstStyle/>
          <a:p>
            <a:pPr indent="0" marL="0">
              <a:buNone/>
            </a:pPr>
            <a:r>
              <a:rPr lang="en-US" sz="1900" b="1" dirty="0">
                <a:solidFill>
                  <a:schemeClr val="accent1"/>
                </a:solidFill>
              </a:rPr>
              <a:t>Observer</a:t>
            </a:r>
            <a:endParaRPr lang="en-US" sz="1900" dirty="0"/>
          </a:p>
        </p:txBody>
      </p:sp>
      <p:sp>
        <p:nvSpPr>
          <p:cNvPr id="12" name="Text 8"/>
          <p:cNvSpPr txBox="1"/>
          <p:nvPr/>
        </p:nvSpPr>
        <p:spPr>
          <a:xfrm>
            <a:off x="6446520" y="2423160"/>
            <a:ext cx="4937760" cy="1005840"/>
          </a:xfrm>
          <a:prstGeom prst="rect">
            <a:avLst/>
          </a:prstGeom>
          <a:noFill/>
          <a:ln/>
        </p:spPr>
        <p:txBody>
          <a:bodyPr wrap="square" lIns="0" tIns="0" rIns="0" bIns="0" rtlCol="0" anchor="t"/>
          <a:lstStyle/>
          <a:p>
            <a:pPr indent="0" marL="0">
              <a:buNone/>
            </a:pPr>
            <a:r>
              <a:rPr lang="en-US" sz="1350" dirty="0">
                <a:solidFill>
                  <a:schemeClr val="tx2"/>
                </a:solidFill>
              </a:rPr>
              <a:t>Deployment events are published and handled only after the transaction commits, so a runner never starts work for a deployment that could still roll back.</a:t>
            </a:r>
            <a:endParaRPr lang="en-US" sz="1350" dirty="0"/>
          </a:p>
        </p:txBody>
      </p:sp>
      <p:sp>
        <p:nvSpPr>
          <p:cNvPr id="13" name="Shape 9"/>
          <p:cNvSpPr/>
          <p:nvPr/>
        </p:nvSpPr>
        <p:spPr>
          <a:xfrm>
            <a:off x="548640" y="3749040"/>
            <a:ext cx="5440680" cy="2194560"/>
          </a:xfrm>
          <a:prstGeom prst="roundRect">
            <a:avLst>
              <a:gd name="adj" fmla="val 3333"/>
            </a:avLst>
          </a:prstGeom>
          <a:solidFill>
            <a:schemeClr val="bg2"/>
          </a:solidFill>
          <a:ln/>
        </p:spPr>
      </p:sp>
      <p:sp>
        <p:nvSpPr>
          <p:cNvPr id="14" name="Shape 10"/>
          <p:cNvSpPr/>
          <p:nvPr/>
        </p:nvSpPr>
        <p:spPr>
          <a:xfrm>
            <a:off x="822960" y="4023360"/>
            <a:ext cx="685800" cy="685800"/>
          </a:xfrm>
          <a:prstGeom prst="ellipse">
            <a:avLst/>
          </a:prstGeom>
          <a:solidFill>
            <a:schemeClr val="accent4"/>
          </a:solidFill>
          <a:ln/>
        </p:spPr>
      </p:sp>
      <p:pic>
        <p:nvPicPr>
          <p:cNvPr id="15" name="Image 2" descr="preencoded.png">    </p:cNvPr>
          <p:cNvPicPr>
            <a:picLocks noChangeAspect="1"/>
          </p:cNvPicPr>
          <p:nvPr/>
        </p:nvPicPr>
        <p:blipFill>
          <a:blip r:embed="rId3"/>
          <a:stretch>
            <a:fillRect/>
          </a:stretch>
        </p:blipFill>
        <p:spPr>
          <a:xfrm>
            <a:off x="994410" y="4194810"/>
            <a:ext cx="342900" cy="342900"/>
          </a:xfrm>
          <a:prstGeom prst="rect">
            <a:avLst/>
          </a:prstGeom>
        </p:spPr>
      </p:pic>
      <p:sp>
        <p:nvSpPr>
          <p:cNvPr id="16" name="Text 11"/>
          <p:cNvSpPr txBox="1"/>
          <p:nvPr/>
        </p:nvSpPr>
        <p:spPr>
          <a:xfrm>
            <a:off x="1691640" y="4133088"/>
            <a:ext cx="4023360" cy="457200"/>
          </a:xfrm>
          <a:prstGeom prst="rect">
            <a:avLst/>
          </a:prstGeom>
          <a:noFill/>
          <a:ln/>
        </p:spPr>
        <p:txBody>
          <a:bodyPr wrap="square" lIns="0" tIns="0" rIns="0" bIns="0" rtlCol="0" anchor="t"/>
          <a:lstStyle/>
          <a:p>
            <a:pPr indent="0" marL="0">
              <a:buNone/>
            </a:pPr>
            <a:r>
              <a:rPr lang="en-US" sz="1900" b="1" dirty="0">
                <a:solidFill>
                  <a:schemeClr val="accent4"/>
                </a:solidFill>
              </a:rPr>
              <a:t>State machine</a:t>
            </a:r>
            <a:endParaRPr lang="en-US" sz="1900" dirty="0"/>
          </a:p>
        </p:txBody>
      </p:sp>
      <p:sp>
        <p:nvSpPr>
          <p:cNvPr id="17" name="Text 12"/>
          <p:cNvSpPr txBox="1"/>
          <p:nvPr/>
        </p:nvSpPr>
        <p:spPr>
          <a:xfrm>
            <a:off x="822960" y="4846320"/>
            <a:ext cx="4937760" cy="1005840"/>
          </a:xfrm>
          <a:prstGeom prst="rect">
            <a:avLst/>
          </a:prstGeom>
          <a:noFill/>
          <a:ln/>
        </p:spPr>
        <p:txBody>
          <a:bodyPr wrap="square" lIns="0" tIns="0" rIns="0" bIns="0" rtlCol="0" anchor="t"/>
          <a:lstStyle/>
          <a:p>
            <a:pPr indent="0" marL="0">
              <a:buNone/>
            </a:pPr>
            <a:r>
              <a:rPr lang="en-US" sz="1350" dirty="0">
                <a:solidFill>
                  <a:schemeClr val="tx2"/>
                </a:solidFill>
              </a:rPr>
              <a:t>TicketStatus lists the legal next states; every move goes through it and illegal moves return 409 Conflict.</a:t>
            </a:r>
            <a:endParaRPr lang="en-US" sz="1350" dirty="0"/>
          </a:p>
        </p:txBody>
      </p:sp>
      <p:sp>
        <p:nvSpPr>
          <p:cNvPr id="18" name="Shape 13"/>
          <p:cNvSpPr/>
          <p:nvPr/>
        </p:nvSpPr>
        <p:spPr>
          <a:xfrm>
            <a:off x="6172200" y="3749040"/>
            <a:ext cx="5440680" cy="2194560"/>
          </a:xfrm>
          <a:prstGeom prst="roundRect">
            <a:avLst>
              <a:gd name="adj" fmla="val 3333"/>
            </a:avLst>
          </a:prstGeom>
          <a:solidFill>
            <a:schemeClr val="bg2"/>
          </a:solidFill>
          <a:ln/>
        </p:spPr>
      </p:sp>
      <p:sp>
        <p:nvSpPr>
          <p:cNvPr id="19" name="Shape 14"/>
          <p:cNvSpPr/>
          <p:nvPr/>
        </p:nvSpPr>
        <p:spPr>
          <a:xfrm>
            <a:off x="6446520" y="4023360"/>
            <a:ext cx="685800" cy="685800"/>
          </a:xfrm>
          <a:prstGeom prst="ellipse">
            <a:avLst/>
          </a:prstGeom>
          <a:solidFill>
            <a:schemeClr val="accent5"/>
          </a:solidFill>
          <a:ln/>
        </p:spPr>
      </p:sp>
      <p:pic>
        <p:nvPicPr>
          <p:cNvPr id="20" name="Image 3" descr="preencoded.png">    </p:cNvPr>
          <p:cNvPicPr>
            <a:picLocks noChangeAspect="1"/>
          </p:cNvPicPr>
          <p:nvPr/>
        </p:nvPicPr>
        <p:blipFill>
          <a:blip r:embed="rId4"/>
          <a:stretch>
            <a:fillRect/>
          </a:stretch>
        </p:blipFill>
        <p:spPr>
          <a:xfrm>
            <a:off x="6617970" y="4194810"/>
            <a:ext cx="342900" cy="342900"/>
          </a:xfrm>
          <a:prstGeom prst="rect">
            <a:avLst/>
          </a:prstGeom>
        </p:spPr>
      </p:pic>
      <p:sp>
        <p:nvSpPr>
          <p:cNvPr id="21" name="Text 15"/>
          <p:cNvSpPr txBox="1"/>
          <p:nvPr/>
        </p:nvSpPr>
        <p:spPr>
          <a:xfrm>
            <a:off x="7315200" y="4133088"/>
            <a:ext cx="4023360" cy="457200"/>
          </a:xfrm>
          <a:prstGeom prst="rect">
            <a:avLst/>
          </a:prstGeom>
          <a:noFill/>
          <a:ln/>
        </p:spPr>
        <p:txBody>
          <a:bodyPr wrap="square" lIns="0" tIns="0" rIns="0" bIns="0" rtlCol="0" anchor="t"/>
          <a:lstStyle/>
          <a:p>
            <a:pPr indent="0" marL="0">
              <a:buNone/>
            </a:pPr>
            <a:r>
              <a:rPr lang="en-US" sz="1900" b="1" dirty="0">
                <a:solidFill>
                  <a:schemeClr val="accent5"/>
                </a:solidFill>
              </a:rPr>
              <a:t>Policy + Specification</a:t>
            </a:r>
            <a:endParaRPr lang="en-US" sz="1900" dirty="0"/>
          </a:p>
        </p:txBody>
      </p:sp>
      <p:sp>
        <p:nvSpPr>
          <p:cNvPr id="22" name="Text 16"/>
          <p:cNvSpPr txBox="1"/>
          <p:nvPr/>
        </p:nvSpPr>
        <p:spPr>
          <a:xfrm>
            <a:off x="6446520" y="4846320"/>
            <a:ext cx="4937760" cy="1005840"/>
          </a:xfrm>
          <a:prstGeom prst="rect">
            <a:avLst/>
          </a:prstGeom>
          <a:noFill/>
          <a:ln/>
        </p:spPr>
        <p:txBody>
          <a:bodyPr wrap="square" lIns="0" tIns="0" rIns="0" bIns="0" rtlCol="0" anchor="t"/>
          <a:lstStyle/>
          <a:p>
            <a:pPr indent="0" marL="0">
              <a:buNone/>
            </a:pPr>
            <a:r>
              <a:rPr lang="en-US" sz="1350" dirty="0">
                <a:solidFill>
                  <a:schemeClr val="tx2"/>
                </a:solidFill>
              </a:rPr>
              <a:t>Row-level access rules live in one TicketAccessPolicy; search filters are composable JPA Specifications. Both unit-tested in isolation.</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7315200" cy="457200"/>
          </a:xfrm>
          <a:prstGeom prst="rect">
            <a:avLst/>
          </a:prstGeom>
          <a:noFill/>
          <a:ln/>
        </p:spPr>
        <p:txBody>
          <a:bodyPr wrap="square" lIns="0" tIns="0" rIns="0" bIns="0" rtlCol="0"/>
          <a:lstStyle/>
          <a:p>
            <a:pPr indent="0" marL="0">
              <a:buNone/>
            </a:pPr>
            <a:r>
              <a:rPr lang="en-US" sz="1800" b="1" dirty="0">
                <a:solidFill>
                  <a:schemeClr val="accent2"/>
                </a:solidFill>
              </a:rPr>
              <a:t>03</a:t>
            </a:r>
            <a:endParaRPr lang="en-US" sz="1800" dirty="0"/>
          </a:p>
        </p:txBody>
      </p:sp>
      <p:sp>
        <p:nvSpPr>
          <p:cNvPr id="3" name="Text 0"/>
          <p:cNvSpPr/>
          <p:nvPr>
            <p:ph idx="101" type="title" hasCustomPrompt="1"/>
          </p:nvPr>
        </p:nvSpPr>
        <p:spPr>
          <a:xfrm>
            <a:off x="731520" y="265176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Load test and failure point</a:t>
            </a:r>
            <a:endParaRPr lang="en-US" sz="4400" dirty="0"/>
          </a:p>
        </p:txBody>
      </p:sp>
      <p:sp>
        <p:nvSpPr>
          <p:cNvPr id="4" name="Text 0"/>
          <p:cNvSpPr/>
          <p:nvPr>
            <p:ph idx="102" type="body" hasCustomPrompt="1"/>
          </p:nvPr>
        </p:nvSpPr>
        <p:spPr>
          <a:xfrm>
            <a:off x="731520" y="3749040"/>
            <a:ext cx="10058400" cy="822960"/>
          </a:xfrm>
          <a:prstGeom prst="rect">
            <a:avLst/>
          </a:prstGeom>
          <a:noFill/>
          <a:ln/>
        </p:spPr>
        <p:txBody>
          <a:bodyPr wrap="square" lIns="0" tIns="0" rIns="0" bIns="0" rtlCol="0" anchor="t"/>
          <a:lstStyle/>
          <a:p>
            <a:pPr indent="0" marL="0">
              <a:buNone/>
            </a:pPr>
            <a:r>
              <a:rPr lang="en-US" sz="2000" dirty="0">
                <a:solidFill>
                  <a:schemeClr val="bg2"/>
                </a:solidFill>
              </a:rPr>
              <a:t>How it was measured and where the original code broke</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the load test was run</a:t>
            </a:r>
            <a:endParaRPr lang="en-US" sz="3200" dirty="0"/>
          </a:p>
        </p:txBody>
      </p:sp>
      <p:sp>
        <p:nvSpPr>
          <p:cNvPr id="3" name="Shape 1"/>
          <p:cNvSpPr/>
          <p:nvPr/>
        </p:nvSpPr>
        <p:spPr>
          <a:xfrm>
            <a:off x="548640" y="1325880"/>
            <a:ext cx="1554480" cy="548640"/>
          </a:xfrm>
          <a:prstGeom prst="roundRect">
            <a:avLst>
              <a:gd name="adj" fmla="val 10000"/>
            </a:avLst>
          </a:prstGeom>
          <a:solidFill>
            <a:schemeClr val="accent1"/>
          </a:solidFill>
          <a:ln/>
        </p:spPr>
      </p:sp>
      <p:sp>
        <p:nvSpPr>
          <p:cNvPr id="4" name="Text 2"/>
          <p:cNvSpPr txBox="1"/>
          <p:nvPr/>
        </p:nvSpPr>
        <p:spPr>
          <a:xfrm>
            <a:off x="548640" y="1325880"/>
            <a:ext cx="1554480" cy="548640"/>
          </a:xfrm>
          <a:prstGeom prst="rect">
            <a:avLst/>
          </a:prstGeom>
          <a:noFill/>
          <a:ln/>
        </p:spPr>
        <p:txBody>
          <a:bodyPr wrap="square" lIns="0" tIns="0" rIns="0" bIns="0" rtlCol="0" anchor="ctr"/>
          <a:lstStyle/>
          <a:p>
            <a:pPr algn="ctr" indent="0" marL="0">
              <a:buNone/>
            </a:pPr>
            <a:r>
              <a:rPr lang="en-US" sz="1300" b="1" dirty="0">
                <a:solidFill>
                  <a:schemeClr val="bg1"/>
                </a:solidFill>
              </a:rPr>
              <a:t>Backend</a:t>
            </a:r>
            <a:endParaRPr lang="en-US" sz="1300" dirty="0"/>
          </a:p>
        </p:txBody>
      </p:sp>
      <p:sp>
        <p:nvSpPr>
          <p:cNvPr id="5" name="Text 3"/>
          <p:cNvSpPr txBox="1"/>
          <p:nvPr/>
        </p:nvSpPr>
        <p:spPr>
          <a:xfrm>
            <a:off x="2286000" y="1325880"/>
            <a:ext cx="4206240" cy="548640"/>
          </a:xfrm>
          <a:prstGeom prst="rect">
            <a:avLst/>
          </a:prstGeom>
          <a:noFill/>
          <a:ln/>
        </p:spPr>
        <p:txBody>
          <a:bodyPr wrap="square" lIns="0" tIns="0" rIns="0" bIns="0" rtlCol="0" anchor="ctr"/>
          <a:lstStyle/>
          <a:p>
            <a:pPr indent="0" marL="0">
              <a:buNone/>
            </a:pPr>
            <a:r>
              <a:rPr lang="en-US" sz="1400" dirty="0">
                <a:solidFill>
                  <a:schemeClr val="tx1"/>
                </a:solidFill>
              </a:rPr>
              <a:t>Production image, 1 vCPU, 768 MiB (one cloud pod)</a:t>
            </a:r>
            <a:endParaRPr lang="en-US" sz="1400" dirty="0"/>
          </a:p>
        </p:txBody>
      </p:sp>
      <p:sp>
        <p:nvSpPr>
          <p:cNvPr id="6" name="Shape 4"/>
          <p:cNvSpPr/>
          <p:nvPr/>
        </p:nvSpPr>
        <p:spPr>
          <a:xfrm>
            <a:off x="548640" y="2112264"/>
            <a:ext cx="1554480" cy="548640"/>
          </a:xfrm>
          <a:prstGeom prst="roundRect">
            <a:avLst>
              <a:gd name="adj" fmla="val 10000"/>
            </a:avLst>
          </a:prstGeom>
          <a:solidFill>
            <a:schemeClr val="accent1"/>
          </a:solidFill>
          <a:ln/>
        </p:spPr>
      </p:sp>
      <p:sp>
        <p:nvSpPr>
          <p:cNvPr id="7" name="Text 5"/>
          <p:cNvSpPr txBox="1"/>
          <p:nvPr/>
        </p:nvSpPr>
        <p:spPr>
          <a:xfrm>
            <a:off x="548640" y="2112264"/>
            <a:ext cx="1554480" cy="548640"/>
          </a:xfrm>
          <a:prstGeom prst="rect">
            <a:avLst/>
          </a:prstGeom>
          <a:noFill/>
          <a:ln/>
        </p:spPr>
        <p:txBody>
          <a:bodyPr wrap="square" lIns="0" tIns="0" rIns="0" bIns="0" rtlCol="0" anchor="ctr"/>
          <a:lstStyle/>
          <a:p>
            <a:pPr algn="ctr" indent="0" marL="0">
              <a:buNone/>
            </a:pPr>
            <a:r>
              <a:rPr lang="en-US" sz="1300" b="1" dirty="0">
                <a:solidFill>
                  <a:schemeClr val="bg1"/>
                </a:solidFill>
              </a:rPr>
              <a:t>Database</a:t>
            </a:r>
            <a:endParaRPr lang="en-US" sz="1300" dirty="0"/>
          </a:p>
        </p:txBody>
      </p:sp>
      <p:sp>
        <p:nvSpPr>
          <p:cNvPr id="8" name="Text 6"/>
          <p:cNvSpPr txBox="1"/>
          <p:nvPr/>
        </p:nvSpPr>
        <p:spPr>
          <a:xfrm>
            <a:off x="2286000" y="2112264"/>
            <a:ext cx="4206240" cy="548640"/>
          </a:xfrm>
          <a:prstGeom prst="rect">
            <a:avLst/>
          </a:prstGeom>
          <a:noFill/>
          <a:ln/>
        </p:spPr>
        <p:txBody>
          <a:bodyPr wrap="square" lIns="0" tIns="0" rIns="0" bIns="0" rtlCol="0" anchor="ctr"/>
          <a:lstStyle/>
          <a:p>
            <a:pPr indent="0" marL="0">
              <a:buNone/>
            </a:pPr>
            <a:r>
              <a:rPr lang="en-US" sz="1400" dirty="0">
                <a:solidFill>
                  <a:schemeClr val="tx1"/>
                </a:solidFill>
              </a:rPr>
              <a:t>MySQL 8.4, 2 vCPU, 1 GiB, TLS required</a:t>
            </a:r>
            <a:endParaRPr lang="en-US" sz="1400" dirty="0"/>
          </a:p>
        </p:txBody>
      </p:sp>
      <p:sp>
        <p:nvSpPr>
          <p:cNvPr id="9" name="Shape 7"/>
          <p:cNvSpPr/>
          <p:nvPr/>
        </p:nvSpPr>
        <p:spPr>
          <a:xfrm>
            <a:off x="548640" y="2898648"/>
            <a:ext cx="1554480" cy="548640"/>
          </a:xfrm>
          <a:prstGeom prst="roundRect">
            <a:avLst>
              <a:gd name="adj" fmla="val 10000"/>
            </a:avLst>
          </a:prstGeom>
          <a:solidFill>
            <a:schemeClr val="accent1"/>
          </a:solidFill>
          <a:ln/>
        </p:spPr>
      </p:sp>
      <p:sp>
        <p:nvSpPr>
          <p:cNvPr id="10" name="Text 8"/>
          <p:cNvSpPr txBox="1"/>
          <p:nvPr/>
        </p:nvSpPr>
        <p:spPr>
          <a:xfrm>
            <a:off x="548640" y="2898648"/>
            <a:ext cx="1554480" cy="548640"/>
          </a:xfrm>
          <a:prstGeom prst="rect">
            <a:avLst/>
          </a:prstGeom>
          <a:noFill/>
          <a:ln/>
        </p:spPr>
        <p:txBody>
          <a:bodyPr wrap="square" lIns="0" tIns="0" rIns="0" bIns="0" rtlCol="0" anchor="ctr"/>
          <a:lstStyle/>
          <a:p>
            <a:pPr algn="ctr" indent="0" marL="0">
              <a:buNone/>
            </a:pPr>
            <a:r>
              <a:rPr lang="en-US" sz="1300" b="1" dirty="0">
                <a:solidFill>
                  <a:schemeClr val="bg1"/>
                </a:solidFill>
              </a:rPr>
              <a:t>Data</a:t>
            </a:r>
            <a:endParaRPr lang="en-US" sz="1300" dirty="0"/>
          </a:p>
        </p:txBody>
      </p:sp>
      <p:sp>
        <p:nvSpPr>
          <p:cNvPr id="11" name="Text 9"/>
          <p:cNvSpPr txBox="1"/>
          <p:nvPr/>
        </p:nvSpPr>
        <p:spPr>
          <a:xfrm>
            <a:off x="2286000" y="2898648"/>
            <a:ext cx="4206240" cy="548640"/>
          </a:xfrm>
          <a:prstGeom prst="rect">
            <a:avLst/>
          </a:prstGeom>
          <a:noFill/>
          <a:ln/>
        </p:spPr>
        <p:txBody>
          <a:bodyPr wrap="square" lIns="0" tIns="0" rIns="0" bIns="0" rtlCol="0" anchor="ctr"/>
          <a:lstStyle/>
          <a:p>
            <a:pPr indent="0" marL="0">
              <a:buNone/>
            </a:pPr>
            <a:r>
              <a:rPr lang="en-US" sz="1400" dirty="0">
                <a:solidFill>
                  <a:schemeClr val="tx1"/>
                </a:solidFill>
              </a:rPr>
              <a:t>3,011 tickets, 9,006 comments, fresh for every run</a:t>
            </a:r>
            <a:endParaRPr lang="en-US" sz="1400" dirty="0"/>
          </a:p>
        </p:txBody>
      </p:sp>
      <p:sp>
        <p:nvSpPr>
          <p:cNvPr id="12" name="Shape 10"/>
          <p:cNvSpPr/>
          <p:nvPr/>
        </p:nvSpPr>
        <p:spPr>
          <a:xfrm>
            <a:off x="548640" y="3685032"/>
            <a:ext cx="1554480" cy="548640"/>
          </a:xfrm>
          <a:prstGeom prst="roundRect">
            <a:avLst>
              <a:gd name="adj" fmla="val 10000"/>
            </a:avLst>
          </a:prstGeom>
          <a:solidFill>
            <a:schemeClr val="accent1"/>
          </a:solidFill>
          <a:ln/>
        </p:spPr>
      </p:sp>
      <p:sp>
        <p:nvSpPr>
          <p:cNvPr id="13" name="Text 11"/>
          <p:cNvSpPr txBox="1"/>
          <p:nvPr/>
        </p:nvSpPr>
        <p:spPr>
          <a:xfrm>
            <a:off x="548640" y="3685032"/>
            <a:ext cx="1554480" cy="548640"/>
          </a:xfrm>
          <a:prstGeom prst="rect">
            <a:avLst/>
          </a:prstGeom>
          <a:noFill/>
          <a:ln/>
        </p:spPr>
        <p:txBody>
          <a:bodyPr wrap="square" lIns="0" tIns="0" rIns="0" bIns="0" rtlCol="0" anchor="ctr"/>
          <a:lstStyle/>
          <a:p>
            <a:pPr algn="ctr" indent="0" marL="0">
              <a:buNone/>
            </a:pPr>
            <a:r>
              <a:rPr lang="en-US" sz="1300" b="1" dirty="0">
                <a:solidFill>
                  <a:schemeClr val="bg1"/>
                </a:solidFill>
              </a:rPr>
              <a:t>Tool</a:t>
            </a:r>
            <a:endParaRPr lang="en-US" sz="1300" dirty="0"/>
          </a:p>
        </p:txBody>
      </p:sp>
      <p:sp>
        <p:nvSpPr>
          <p:cNvPr id="14" name="Text 12"/>
          <p:cNvSpPr txBox="1"/>
          <p:nvPr/>
        </p:nvSpPr>
        <p:spPr>
          <a:xfrm>
            <a:off x="2286000" y="3685032"/>
            <a:ext cx="4206240" cy="548640"/>
          </a:xfrm>
          <a:prstGeom prst="rect">
            <a:avLst/>
          </a:prstGeom>
          <a:noFill/>
          <a:ln/>
        </p:spPr>
        <p:txBody>
          <a:bodyPr wrap="square" lIns="0" tIns="0" rIns="0" bIns="0" rtlCol="0" anchor="ctr"/>
          <a:lstStyle/>
          <a:p>
            <a:pPr indent="0" marL="0">
              <a:buNone/>
            </a:pPr>
            <a:r>
              <a:rPr lang="en-US" sz="1400" dirty="0">
                <a:solidFill>
                  <a:schemeClr val="tx1"/>
                </a:solidFill>
              </a:rPr>
              <a:t>k6, constant arrival rate, 60 s per step</a:t>
            </a:r>
            <a:endParaRPr lang="en-US" sz="1400" dirty="0"/>
          </a:p>
        </p:txBody>
      </p:sp>
      <p:sp>
        <p:nvSpPr>
          <p:cNvPr id="15" name="Shape 13"/>
          <p:cNvSpPr/>
          <p:nvPr/>
        </p:nvSpPr>
        <p:spPr>
          <a:xfrm>
            <a:off x="548640" y="4471416"/>
            <a:ext cx="1554480" cy="548640"/>
          </a:xfrm>
          <a:prstGeom prst="roundRect">
            <a:avLst>
              <a:gd name="adj" fmla="val 10000"/>
            </a:avLst>
          </a:prstGeom>
          <a:solidFill>
            <a:schemeClr val="accent1"/>
          </a:solidFill>
          <a:ln/>
        </p:spPr>
      </p:sp>
      <p:sp>
        <p:nvSpPr>
          <p:cNvPr id="16" name="Text 14"/>
          <p:cNvSpPr txBox="1"/>
          <p:nvPr/>
        </p:nvSpPr>
        <p:spPr>
          <a:xfrm>
            <a:off x="548640" y="4471416"/>
            <a:ext cx="1554480" cy="548640"/>
          </a:xfrm>
          <a:prstGeom prst="rect">
            <a:avLst/>
          </a:prstGeom>
          <a:noFill/>
          <a:ln/>
        </p:spPr>
        <p:txBody>
          <a:bodyPr wrap="square" lIns="0" tIns="0" rIns="0" bIns="0" rtlCol="0" anchor="ctr"/>
          <a:lstStyle/>
          <a:p>
            <a:pPr algn="ctr" indent="0" marL="0">
              <a:buNone/>
            </a:pPr>
            <a:r>
              <a:rPr lang="en-US" sz="1300" b="1" dirty="0">
                <a:solidFill>
                  <a:schemeClr val="bg1"/>
                </a:solidFill>
              </a:rPr>
              <a:t>Failure</a:t>
            </a:r>
            <a:endParaRPr lang="en-US" sz="1300" dirty="0"/>
          </a:p>
        </p:txBody>
      </p:sp>
      <p:sp>
        <p:nvSpPr>
          <p:cNvPr id="17" name="Text 15"/>
          <p:cNvSpPr txBox="1"/>
          <p:nvPr/>
        </p:nvSpPr>
        <p:spPr>
          <a:xfrm>
            <a:off x="2286000" y="4471416"/>
            <a:ext cx="4206240" cy="548640"/>
          </a:xfrm>
          <a:prstGeom prst="rect">
            <a:avLst/>
          </a:prstGeom>
          <a:noFill/>
          <a:ln/>
        </p:spPr>
        <p:txBody>
          <a:bodyPr wrap="square" lIns="0" tIns="0" rIns="0" bIns="0" rtlCol="0" anchor="ctr"/>
          <a:lstStyle/>
          <a:p>
            <a:pPr indent="0" marL="0">
              <a:buNone/>
            </a:pPr>
            <a:r>
              <a:rPr lang="en-US" sz="1400" dirty="0">
                <a:solidFill>
                  <a:schemeClr val="tx1"/>
                </a:solidFill>
              </a:rPr>
              <a:t>p95 &gt; 500 ms, or ≥ 1% server errors, or dropped requests</a:t>
            </a:r>
            <a:endParaRPr lang="en-US" sz="1400" dirty="0"/>
          </a:p>
        </p:txBody>
      </p:sp>
      <p:graphicFrame>
        <p:nvGraphicFramePr>
          <p:cNvPr id="18" name="Chart 0" descr=""/>
          <p:cNvGraphicFramePr/>
          <p:nvPr/>
        </p:nvGraphicFramePr>
        <p:xfrm>
          <a:off x="6766560" y="1188720"/>
          <a:ext cx="4846320" cy="42062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766560" y="5532120"/>
            <a:ext cx="4846320" cy="457200"/>
          </a:xfrm>
          <a:prstGeom prst="rect">
            <a:avLst/>
          </a:prstGeom>
          <a:noFill/>
          <a:ln/>
        </p:spPr>
        <p:txBody>
          <a:bodyPr wrap="square" lIns="0" tIns="0" rIns="0" bIns="0" rtlCol="0" anchor="t"/>
          <a:lstStyle/>
          <a:p>
            <a:pPr algn="ctr" indent="0" marL="0">
              <a:buNone/>
            </a:pPr>
            <a:r>
              <a:rPr lang="en-US" sz="1300" i="1" dirty="0">
                <a:solidFill>
                  <a:schemeClr val="accent1"/>
                </a:solidFill>
              </a:rPr>
              <a:t>Both versions ran the identical ladder on a clean machine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Baseline: healthy to 340, fails at 380 req/s</a:t>
            </a:r>
            <a:endParaRPr lang="en-US" sz="3200" dirty="0"/>
          </a:p>
        </p:txBody>
      </p:sp>
      <p:graphicFrame>
        <p:nvGraphicFramePr>
          <p:cNvPr id="3" name="Chart 0" descr=""/>
          <p:cNvGraphicFramePr/>
          <p:nvPr/>
        </p:nvGraphicFramePr>
        <p:xfrm>
          <a:off x="548640" y="12801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280160"/>
            <a:ext cx="3749040" cy="2194560"/>
          </a:xfrm>
          <a:prstGeom prst="roundRect">
            <a:avLst>
              <a:gd name="adj" fmla="val 3333"/>
            </a:avLst>
          </a:prstGeom>
          <a:solidFill>
            <a:schemeClr val="bg2"/>
          </a:solidFill>
          <a:ln/>
        </p:spPr>
      </p:sp>
      <p:sp>
        <p:nvSpPr>
          <p:cNvPr id="5" name="Text 2"/>
          <p:cNvSpPr txBox="1"/>
          <p:nvPr/>
        </p:nvSpPr>
        <p:spPr>
          <a:xfrm>
            <a:off x="8138160" y="1463040"/>
            <a:ext cx="3291840" cy="731520"/>
          </a:xfrm>
          <a:prstGeom prst="rect">
            <a:avLst/>
          </a:prstGeom>
          <a:noFill/>
          <a:ln/>
        </p:spPr>
        <p:txBody>
          <a:bodyPr wrap="square" lIns="0" tIns="0" rIns="0" bIns="0" rtlCol="0" anchor="t"/>
          <a:lstStyle/>
          <a:p>
            <a:pPr indent="0" marL="0">
              <a:buNone/>
            </a:pPr>
            <a:r>
              <a:rPr lang="en-US" sz="4000" b="1" dirty="0">
                <a:solidFill>
                  <a:schemeClr val="accent5"/>
                </a:solidFill>
              </a:rPr>
              <a:t>380 req/s</a:t>
            </a:r>
            <a:endParaRPr lang="en-US" sz="4000" dirty="0"/>
          </a:p>
        </p:txBody>
      </p:sp>
      <p:sp>
        <p:nvSpPr>
          <p:cNvPr id="6" name="Text 3"/>
          <p:cNvSpPr txBox="1"/>
          <p:nvPr/>
        </p:nvSpPr>
        <p:spPr>
          <a:xfrm>
            <a:off x="8138160" y="2240280"/>
            <a:ext cx="3291840" cy="1097280"/>
          </a:xfrm>
          <a:prstGeom prst="rect">
            <a:avLst/>
          </a:prstGeom>
          <a:noFill/>
          <a:ln/>
        </p:spPr>
        <p:txBody>
          <a:bodyPr wrap="square" lIns="0" tIns="0" rIns="0" bIns="0" rtlCol="0" anchor="t"/>
          <a:lstStyle/>
          <a:p>
            <a:pPr indent="0" marL="0">
              <a:buNone/>
            </a:pPr>
            <a:r>
              <a:rPr lang="en-US" sz="1350" dirty="0">
                <a:solidFill>
                  <a:schemeClr val="tx2"/>
                </a:solidFill>
              </a:rPr>
              <a:t>Failure point: p95 jumps from 17 ms to 1.9 s and 119 requests are dropped</a:t>
            </a:r>
            <a:endParaRPr lang="en-US" sz="1350" dirty="0"/>
          </a:p>
        </p:txBody>
      </p:sp>
      <p:sp>
        <p:nvSpPr>
          <p:cNvPr id="7" name="Shape 4"/>
          <p:cNvSpPr/>
          <p:nvPr/>
        </p:nvSpPr>
        <p:spPr>
          <a:xfrm>
            <a:off x="7863840" y="3657600"/>
            <a:ext cx="3749040" cy="2377440"/>
          </a:xfrm>
          <a:prstGeom prst="roundRect">
            <a:avLst>
              <a:gd name="adj" fmla="val 3077"/>
            </a:avLst>
          </a:prstGeom>
          <a:solidFill>
            <a:schemeClr val="bg2"/>
          </a:solidFill>
          <a:ln/>
        </p:spPr>
      </p:sp>
      <p:sp>
        <p:nvSpPr>
          <p:cNvPr id="8" name="Text 5"/>
          <p:cNvSpPr txBox="1"/>
          <p:nvPr/>
        </p:nvSpPr>
        <p:spPr>
          <a:xfrm>
            <a:off x="8138160" y="3794760"/>
            <a:ext cx="3291840" cy="365760"/>
          </a:xfrm>
          <a:prstGeom prst="rect">
            <a:avLst/>
          </a:prstGeom>
          <a:noFill/>
          <a:ln/>
        </p:spPr>
        <p:txBody>
          <a:bodyPr wrap="square" lIns="0" tIns="0" rIns="0" bIns="0" rtlCol="0" anchor="t"/>
          <a:lstStyle/>
          <a:p>
            <a:pPr indent="0" marL="0">
              <a:buNone/>
            </a:pPr>
            <a:r>
              <a:rPr lang="en-US" sz="1600" b="1" dirty="0">
                <a:solidFill>
                  <a:schemeClr val="tx1"/>
                </a:solidFill>
              </a:rPr>
              <a:t>Why it broke</a:t>
            </a:r>
            <a:endParaRPr lang="en-US" sz="1600" dirty="0"/>
          </a:p>
        </p:txBody>
      </p:sp>
      <p:sp>
        <p:nvSpPr>
          <p:cNvPr id="9" name="Text 6"/>
          <p:cNvSpPr txBox="1"/>
          <p:nvPr/>
        </p:nvSpPr>
        <p:spPr>
          <a:xfrm>
            <a:off x="8138160" y="420624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MySQL used up to 175% of its 2 CPUs, the app up to 93% of its CPU</a:t>
            </a:r>
            <a:endParaRPr lang="en-US" sz="1300" dirty="0"/>
          </a:p>
          <a:p>
            <a:pPr marL="342900" indent="-342900">
              <a:spcAft>
                <a:spcPts val="600"/>
              </a:spcAft>
              <a:buSzPct val="100000"/>
              <a:buChar char="•"/>
            </a:pPr>
            <a:r>
              <a:rPr lang="en-US" sz="1300" dirty="0">
                <a:solidFill>
                  <a:schemeClr val="tx1"/>
                </a:solidFill>
              </a:rPr>
              <a:t>Latency flat, then a cliff: a saturated resource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Profiling: where the database time went</a:t>
            </a:r>
            <a:endParaRPr lang="en-US" sz="3200" dirty="0"/>
          </a:p>
        </p:txBody>
      </p:sp>
      <p:graphicFrame>
        <p:nvGraphicFramePr>
          <p:cNvPr id="3" name="Chart 0" descr=""/>
          <p:cNvGraphicFramePr/>
          <p:nvPr/>
        </p:nvGraphicFramePr>
        <p:xfrm>
          <a:off x="548640" y="12801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280160"/>
            <a:ext cx="3749040" cy="1417320"/>
          </a:xfrm>
          <a:prstGeom prst="roundRect">
            <a:avLst>
              <a:gd name="adj" fmla="val 5161"/>
            </a:avLst>
          </a:prstGeom>
          <a:solidFill>
            <a:schemeClr val="bg2"/>
          </a:solidFill>
          <a:ln/>
        </p:spPr>
      </p:sp>
      <p:sp>
        <p:nvSpPr>
          <p:cNvPr id="5" name="Text 2"/>
          <p:cNvSpPr txBox="1"/>
          <p:nvPr/>
        </p:nvSpPr>
        <p:spPr>
          <a:xfrm>
            <a:off x="8092440" y="1417320"/>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Ticket list</a:t>
            </a:r>
            <a:endParaRPr lang="en-US" sz="1600" dirty="0"/>
          </a:p>
        </p:txBody>
      </p:sp>
      <p:sp>
        <p:nvSpPr>
          <p:cNvPr id="6" name="Text 3"/>
          <p:cNvSpPr txBox="1"/>
          <p:nvPr/>
        </p:nvSpPr>
        <p:spPr>
          <a:xfrm>
            <a:off x="8092440" y="1783080"/>
            <a:ext cx="3337560" cy="868680"/>
          </a:xfrm>
          <a:prstGeom prst="rect">
            <a:avLst/>
          </a:prstGeom>
          <a:noFill/>
          <a:ln/>
        </p:spPr>
        <p:txBody>
          <a:bodyPr wrap="square" lIns="0" tIns="0" rIns="0" bIns="0" rtlCol="0" anchor="t"/>
          <a:lstStyle/>
          <a:p>
            <a:pPr indent="0" marL="0">
              <a:buNone/>
            </a:pPr>
            <a:r>
              <a:rPr lang="en-US" sz="1250" dirty="0">
                <a:solidFill>
                  <a:schemeClr val="tx2"/>
                </a:solidFill>
              </a:rPr>
              <a:t>Loaded full ticket, project and two user entities per row (descriptions, password hashes) to show 14 fields</a:t>
            </a:r>
            <a:endParaRPr lang="en-US" sz="1250" dirty="0"/>
          </a:p>
        </p:txBody>
      </p:sp>
      <p:sp>
        <p:nvSpPr>
          <p:cNvPr id="7" name="Shape 4"/>
          <p:cNvSpPr/>
          <p:nvPr/>
        </p:nvSpPr>
        <p:spPr>
          <a:xfrm>
            <a:off x="7863840" y="2880360"/>
            <a:ext cx="3749040" cy="1417320"/>
          </a:xfrm>
          <a:prstGeom prst="roundRect">
            <a:avLst>
              <a:gd name="adj" fmla="val 5161"/>
            </a:avLst>
          </a:prstGeom>
          <a:solidFill>
            <a:schemeClr val="bg2"/>
          </a:solidFill>
          <a:ln/>
        </p:spPr>
      </p:sp>
      <p:sp>
        <p:nvSpPr>
          <p:cNvPr id="8" name="Text 5"/>
          <p:cNvSpPr txBox="1"/>
          <p:nvPr/>
        </p:nvSpPr>
        <p:spPr>
          <a:xfrm>
            <a:off x="8092440" y="3017520"/>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Dashboard</a:t>
            </a:r>
            <a:endParaRPr lang="en-US" sz="1600" dirty="0"/>
          </a:p>
        </p:txBody>
      </p:sp>
      <p:sp>
        <p:nvSpPr>
          <p:cNvPr id="9" name="Text 6"/>
          <p:cNvSpPr txBox="1"/>
          <p:nvPr/>
        </p:nvSpPr>
        <p:spPr>
          <a:xfrm>
            <a:off x="8092440" y="3383280"/>
            <a:ext cx="3337560" cy="868680"/>
          </a:xfrm>
          <a:prstGeom prst="rect">
            <a:avLst/>
          </a:prstGeom>
          <a:noFill/>
          <a:ln/>
        </p:spPr>
        <p:txBody>
          <a:bodyPr wrap="square" lIns="0" tIns="0" rIns="0" bIns="0" rtlCol="0" anchor="t"/>
          <a:lstStyle/>
          <a:p>
            <a:pPr indent="0" marL="0">
              <a:buNone/>
            </a:pPr>
            <a:r>
              <a:rPr lang="en-US" sz="1250" dirty="0">
                <a:solidFill>
                  <a:schemeClr val="tx2"/>
                </a:solidFill>
              </a:rPr>
              <a:t>7 separate aggregate queries over every visible ticket on each view</a:t>
            </a:r>
            <a:endParaRPr lang="en-US" sz="1250" dirty="0"/>
          </a:p>
        </p:txBody>
      </p:sp>
      <p:sp>
        <p:nvSpPr>
          <p:cNvPr id="10" name="Shape 7"/>
          <p:cNvSpPr/>
          <p:nvPr/>
        </p:nvSpPr>
        <p:spPr>
          <a:xfrm>
            <a:off x="7863840" y="4480560"/>
            <a:ext cx="3749040" cy="1417320"/>
          </a:xfrm>
          <a:prstGeom prst="roundRect">
            <a:avLst>
              <a:gd name="adj" fmla="val 5161"/>
            </a:avLst>
          </a:prstGeom>
          <a:solidFill>
            <a:schemeClr val="bg2"/>
          </a:solidFill>
          <a:ln/>
        </p:spPr>
      </p:sp>
      <p:sp>
        <p:nvSpPr>
          <p:cNvPr id="11" name="Text 8"/>
          <p:cNvSpPr txBox="1"/>
          <p:nvPr/>
        </p:nvSpPr>
        <p:spPr>
          <a:xfrm>
            <a:off x="8092440" y="4617720"/>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Transactions</a:t>
            </a:r>
            <a:endParaRPr lang="en-US" sz="1600" dirty="0"/>
          </a:p>
        </p:txBody>
      </p:sp>
      <p:sp>
        <p:nvSpPr>
          <p:cNvPr id="12" name="Text 9"/>
          <p:cNvSpPr txBox="1"/>
          <p:nvPr/>
        </p:nvSpPr>
        <p:spPr>
          <a:xfrm>
            <a:off x="8092440" y="4983480"/>
            <a:ext cx="3337560" cy="868680"/>
          </a:xfrm>
          <a:prstGeom prst="rect">
            <a:avLst/>
          </a:prstGeom>
          <a:noFill/>
          <a:ln/>
        </p:spPr>
        <p:txBody>
          <a:bodyPr wrap="square" lIns="0" tIns="0" rIns="0" bIns="0" rtlCol="0" anchor="t"/>
          <a:lstStyle/>
          <a:p>
            <a:pPr indent="0" marL="0">
              <a:buNone/>
            </a:pPr>
            <a:r>
              <a:rPr lang="en-US" sz="1250" dirty="0">
                <a:solidFill>
                  <a:schemeClr val="tx2"/>
                </a:solidFill>
              </a:rPr>
              <a:t>~44,000 extra SET autocommit statements per minute: 2 round trips per request</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7315200" cy="457200"/>
          </a:xfrm>
          <a:prstGeom prst="rect">
            <a:avLst/>
          </a:prstGeom>
          <a:noFill/>
          <a:ln/>
        </p:spPr>
        <p:txBody>
          <a:bodyPr wrap="square" lIns="0" tIns="0" rIns="0" bIns="0" rtlCol="0"/>
          <a:lstStyle/>
          <a:p>
            <a:pPr indent="0" marL="0">
              <a:buNone/>
            </a:pPr>
            <a:r>
              <a:rPr lang="en-US" sz="1800" b="1" dirty="0">
                <a:solidFill>
                  <a:schemeClr val="accent2"/>
                </a:solidFill>
              </a:rPr>
              <a:t>04</a:t>
            </a:r>
            <a:endParaRPr lang="en-US" sz="1800" dirty="0"/>
          </a:p>
        </p:txBody>
      </p:sp>
      <p:sp>
        <p:nvSpPr>
          <p:cNvPr id="3" name="Text 0"/>
          <p:cNvSpPr/>
          <p:nvPr>
            <p:ph idx="101" type="title" hasCustomPrompt="1"/>
          </p:nvPr>
        </p:nvSpPr>
        <p:spPr>
          <a:xfrm>
            <a:off x="731520" y="265176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Fixes and result</a:t>
            </a:r>
            <a:endParaRPr lang="en-US" sz="4400" dirty="0"/>
          </a:p>
        </p:txBody>
      </p:sp>
      <p:sp>
        <p:nvSpPr>
          <p:cNvPr id="4" name="Text 0"/>
          <p:cNvSpPr/>
          <p:nvPr>
            <p:ph idx="102" type="body" hasCustomPrompt="1"/>
          </p:nvPr>
        </p:nvSpPr>
        <p:spPr>
          <a:xfrm>
            <a:off x="731520" y="3749040"/>
            <a:ext cx="10058400" cy="822960"/>
          </a:xfrm>
          <a:prstGeom prst="rect">
            <a:avLst/>
          </a:prstGeom>
          <a:noFill/>
          <a:ln/>
        </p:spPr>
        <p:txBody>
          <a:bodyPr wrap="square" lIns="0" tIns="0" rIns="0" bIns="0" rtlCol="0" anchor="t"/>
          <a:lstStyle/>
          <a:p>
            <a:pPr indent="0" marL="0">
              <a:buNone/>
            </a:pPr>
            <a:r>
              <a:rPr lang="en-US" sz="2000" dirty="0">
                <a:solidFill>
                  <a:schemeClr val="bg2"/>
                </a:solidFill>
              </a:rPr>
              <a:t>Four changes, re-measured the same way</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Four changes</a:t>
            </a:r>
            <a:endParaRPr lang="en-US" sz="3200" dirty="0"/>
          </a:p>
        </p:txBody>
      </p:sp>
      <p:sp>
        <p:nvSpPr>
          <p:cNvPr id="3" name="Shape 1"/>
          <p:cNvSpPr/>
          <p:nvPr/>
        </p:nvSpPr>
        <p:spPr>
          <a:xfrm>
            <a:off x="548640" y="1325880"/>
            <a:ext cx="5440680" cy="1920240"/>
          </a:xfrm>
          <a:prstGeom prst="roundRect">
            <a:avLst>
              <a:gd name="adj" fmla="val 3810"/>
            </a:avLst>
          </a:prstGeom>
          <a:solidFill>
            <a:schemeClr val="bg2"/>
          </a:solidFill>
          <a:ln/>
        </p:spPr>
      </p:sp>
      <p:sp>
        <p:nvSpPr>
          <p:cNvPr id="4" name="Shape 2"/>
          <p:cNvSpPr/>
          <p:nvPr/>
        </p:nvSpPr>
        <p:spPr>
          <a:xfrm>
            <a:off x="822960" y="1600200"/>
            <a:ext cx="685800" cy="6858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94410" y="1771650"/>
            <a:ext cx="342900" cy="342900"/>
          </a:xfrm>
          <a:prstGeom prst="rect">
            <a:avLst/>
          </a:prstGeom>
        </p:spPr>
      </p:pic>
      <p:sp>
        <p:nvSpPr>
          <p:cNvPr id="6" name="Text 3"/>
          <p:cNvSpPr txBox="1"/>
          <p:nvPr/>
        </p:nvSpPr>
        <p:spPr>
          <a:xfrm>
            <a:off x="1691640" y="1691640"/>
            <a:ext cx="4114800" cy="457200"/>
          </a:xfrm>
          <a:prstGeom prst="rect">
            <a:avLst/>
          </a:prstGeom>
          <a:noFill/>
          <a:ln/>
        </p:spPr>
        <p:txBody>
          <a:bodyPr wrap="square" lIns="0" tIns="0" rIns="0" bIns="0" rtlCol="0" anchor="t"/>
          <a:lstStyle/>
          <a:p>
            <a:pPr indent="0" marL="0">
              <a:buNone/>
            </a:pPr>
            <a:r>
              <a:rPr lang="en-US" sz="1700" b="1" dirty="0">
                <a:solidFill>
                  <a:schemeClr val="tx1"/>
                </a:solidFill>
              </a:rPr>
              <a:t>Ticket list as a projection</a:t>
            </a:r>
            <a:endParaRPr lang="en-US" sz="1700" dirty="0"/>
          </a:p>
        </p:txBody>
      </p:sp>
      <p:sp>
        <p:nvSpPr>
          <p:cNvPr id="7" name="Text 4"/>
          <p:cNvSpPr txBox="1"/>
          <p:nvPr/>
        </p:nvSpPr>
        <p:spPr>
          <a:xfrm>
            <a:off x="822960" y="2377440"/>
            <a:ext cx="4937760" cy="777240"/>
          </a:xfrm>
          <a:prstGeom prst="rect">
            <a:avLst/>
          </a:prstGeom>
          <a:noFill/>
          <a:ln/>
        </p:spPr>
        <p:txBody>
          <a:bodyPr wrap="square" lIns="0" tIns="0" rIns="0" bIns="0" rtlCol="0" anchor="t"/>
          <a:lstStyle/>
          <a:p>
            <a:pPr indent="0" marL="0">
              <a:buNone/>
            </a:pPr>
            <a:r>
              <a:rPr lang="en-US" sz="1350" dirty="0">
                <a:solidFill>
                  <a:schemeClr val="tx2"/>
                </a:solidFill>
              </a:rPr>
              <a:t>Selects only the 14 columns a row shows; no entity loading or dirty checking; page count only when needed</a:t>
            </a:r>
            <a:endParaRPr lang="en-US" sz="1350" dirty="0"/>
          </a:p>
        </p:txBody>
      </p:sp>
      <p:sp>
        <p:nvSpPr>
          <p:cNvPr id="8" name="Shape 5"/>
          <p:cNvSpPr/>
          <p:nvPr/>
        </p:nvSpPr>
        <p:spPr>
          <a:xfrm>
            <a:off x="6172200" y="1325880"/>
            <a:ext cx="5440680" cy="1920240"/>
          </a:xfrm>
          <a:prstGeom prst="roundRect">
            <a:avLst>
              <a:gd name="adj" fmla="val 3810"/>
            </a:avLst>
          </a:prstGeom>
          <a:solidFill>
            <a:schemeClr val="bg2"/>
          </a:solidFill>
          <a:ln/>
        </p:spPr>
      </p:sp>
      <p:sp>
        <p:nvSpPr>
          <p:cNvPr id="9" name="Shape 6"/>
          <p:cNvSpPr/>
          <p:nvPr/>
        </p:nvSpPr>
        <p:spPr>
          <a:xfrm>
            <a:off x="6446520" y="1600200"/>
            <a:ext cx="685800" cy="685800"/>
          </a:xfrm>
          <a:prstGeom prst="ellipse">
            <a:avLst/>
          </a:prstGeom>
          <a:solidFill>
            <a:schemeClr val="accent6"/>
          </a:solidFill>
          <a:ln/>
        </p:spPr>
      </p:sp>
      <p:pic>
        <p:nvPicPr>
          <p:cNvPr id="10" name="Image 1" descr="preencoded.png">    </p:cNvPr>
          <p:cNvPicPr>
            <a:picLocks noChangeAspect="1"/>
          </p:cNvPicPr>
          <p:nvPr/>
        </p:nvPicPr>
        <p:blipFill>
          <a:blip r:embed="rId2"/>
          <a:stretch>
            <a:fillRect/>
          </a:stretch>
        </p:blipFill>
        <p:spPr>
          <a:xfrm>
            <a:off x="6617970" y="1771650"/>
            <a:ext cx="342900" cy="342900"/>
          </a:xfrm>
          <a:prstGeom prst="rect">
            <a:avLst/>
          </a:prstGeom>
        </p:spPr>
      </p:pic>
      <p:sp>
        <p:nvSpPr>
          <p:cNvPr id="11" name="Text 7"/>
          <p:cNvSpPr txBox="1"/>
          <p:nvPr/>
        </p:nvSpPr>
        <p:spPr>
          <a:xfrm>
            <a:off x="7315200" y="1691640"/>
            <a:ext cx="4114800" cy="457200"/>
          </a:xfrm>
          <a:prstGeom prst="rect">
            <a:avLst/>
          </a:prstGeom>
          <a:noFill/>
          <a:ln/>
        </p:spPr>
        <p:txBody>
          <a:bodyPr wrap="square" lIns="0" tIns="0" rIns="0" bIns="0" rtlCol="0" anchor="t"/>
          <a:lstStyle/>
          <a:p>
            <a:pPr indent="0" marL="0">
              <a:buNone/>
            </a:pPr>
            <a:r>
              <a:rPr lang="en-US" sz="1700" b="1" dirty="0">
                <a:solidFill>
                  <a:schemeClr val="tx1"/>
                </a:solidFill>
              </a:rPr>
              <a:t>Dashboard: 1 query instead of 7</a:t>
            </a:r>
            <a:endParaRPr lang="en-US" sz="1700" dirty="0"/>
          </a:p>
        </p:txBody>
      </p:sp>
      <p:sp>
        <p:nvSpPr>
          <p:cNvPr id="12" name="Text 8"/>
          <p:cNvSpPr txBox="1"/>
          <p:nvPr/>
        </p:nvSpPr>
        <p:spPr>
          <a:xfrm>
            <a:off x="6446520" y="2377440"/>
            <a:ext cx="4937760" cy="777240"/>
          </a:xfrm>
          <a:prstGeom prst="rect">
            <a:avLst/>
          </a:prstGeom>
          <a:noFill/>
          <a:ln/>
        </p:spPr>
        <p:txBody>
          <a:bodyPr wrap="square" lIns="0" tIns="0" rIns="0" bIns="0" rtlCol="0" anchor="t"/>
          <a:lstStyle/>
          <a:p>
            <a:pPr indent="0" marL="0">
              <a:buNone/>
            </a:pPr>
            <a:r>
              <a:rPr lang="en-US" sz="1350" dirty="0">
                <a:solidFill>
                  <a:schemeClr val="tx2"/>
                </a:solidFill>
              </a:rPr>
              <a:t>One GROUP BY status, priority, type with conditional sums, folded in Java</a:t>
            </a:r>
            <a:endParaRPr lang="en-US" sz="1350" dirty="0"/>
          </a:p>
        </p:txBody>
      </p:sp>
      <p:sp>
        <p:nvSpPr>
          <p:cNvPr id="13" name="Shape 9"/>
          <p:cNvSpPr/>
          <p:nvPr/>
        </p:nvSpPr>
        <p:spPr>
          <a:xfrm>
            <a:off x="548640" y="3474720"/>
            <a:ext cx="5440680" cy="1920240"/>
          </a:xfrm>
          <a:prstGeom prst="roundRect">
            <a:avLst>
              <a:gd name="adj" fmla="val 3810"/>
            </a:avLst>
          </a:prstGeom>
          <a:solidFill>
            <a:schemeClr val="bg2"/>
          </a:solidFill>
          <a:ln/>
        </p:spPr>
      </p:sp>
      <p:sp>
        <p:nvSpPr>
          <p:cNvPr id="14" name="Shape 10"/>
          <p:cNvSpPr/>
          <p:nvPr/>
        </p:nvSpPr>
        <p:spPr>
          <a:xfrm>
            <a:off x="822960" y="3749040"/>
            <a:ext cx="685800" cy="685800"/>
          </a:xfrm>
          <a:prstGeom prst="ellipse">
            <a:avLst/>
          </a:prstGeom>
          <a:solidFill>
            <a:schemeClr val="accent4"/>
          </a:solidFill>
          <a:ln/>
        </p:spPr>
      </p:sp>
      <p:pic>
        <p:nvPicPr>
          <p:cNvPr id="15" name="Image 2" descr="preencoded.png">    </p:cNvPr>
          <p:cNvPicPr>
            <a:picLocks noChangeAspect="1"/>
          </p:cNvPicPr>
          <p:nvPr/>
        </p:nvPicPr>
        <p:blipFill>
          <a:blip r:embed="rId3"/>
          <a:stretch>
            <a:fillRect/>
          </a:stretch>
        </p:blipFill>
        <p:spPr>
          <a:xfrm>
            <a:off x="994410" y="3920490"/>
            <a:ext cx="342900" cy="342900"/>
          </a:xfrm>
          <a:prstGeom prst="rect">
            <a:avLst/>
          </a:prstGeom>
        </p:spPr>
      </p:pic>
      <p:sp>
        <p:nvSpPr>
          <p:cNvPr id="16" name="Text 11"/>
          <p:cNvSpPr txBox="1"/>
          <p:nvPr/>
        </p:nvSpPr>
        <p:spPr>
          <a:xfrm>
            <a:off x="1691640" y="3840480"/>
            <a:ext cx="4114800" cy="457200"/>
          </a:xfrm>
          <a:prstGeom prst="rect">
            <a:avLst/>
          </a:prstGeom>
          <a:noFill/>
          <a:ln/>
        </p:spPr>
        <p:txBody>
          <a:bodyPr wrap="square" lIns="0" tIns="0" rIns="0" bIns="0" rtlCol="0" anchor="t"/>
          <a:lstStyle/>
          <a:p>
            <a:pPr indent="0" marL="0">
              <a:buNone/>
            </a:pPr>
            <a:r>
              <a:rPr lang="en-US" sz="1700" b="1" dirty="0">
                <a:solidFill>
                  <a:schemeClr val="tx1"/>
                </a:solidFill>
              </a:rPr>
              <a:t>No autocommit toggling</a:t>
            </a:r>
            <a:endParaRPr lang="en-US" sz="1700" dirty="0"/>
          </a:p>
        </p:txBody>
      </p:sp>
      <p:sp>
        <p:nvSpPr>
          <p:cNvPr id="17" name="Text 12"/>
          <p:cNvSpPr txBox="1"/>
          <p:nvPr/>
        </p:nvSpPr>
        <p:spPr>
          <a:xfrm>
            <a:off x="822960" y="4526280"/>
            <a:ext cx="4937760" cy="777240"/>
          </a:xfrm>
          <a:prstGeom prst="rect">
            <a:avLst/>
          </a:prstGeom>
          <a:noFill/>
          <a:ln/>
        </p:spPr>
        <p:txBody>
          <a:bodyPr wrap="square" lIns="0" tIns="0" rIns="0" bIns="0" rtlCol="0" anchor="t"/>
          <a:lstStyle/>
          <a:p>
            <a:pPr indent="0" marL="0">
              <a:buNone/>
            </a:pPr>
            <a:r>
              <a:rPr lang="en-US" sz="1350" dirty="0">
                <a:solidFill>
                  <a:schemeClr val="tx2"/>
                </a:solidFill>
              </a:rPr>
              <a:t>Connections start with autocommit off, Hibernate is told so: 2 fewer statements per request</a:t>
            </a:r>
            <a:endParaRPr lang="en-US" sz="1350" dirty="0"/>
          </a:p>
        </p:txBody>
      </p:sp>
      <p:sp>
        <p:nvSpPr>
          <p:cNvPr id="18" name="Shape 13"/>
          <p:cNvSpPr/>
          <p:nvPr/>
        </p:nvSpPr>
        <p:spPr>
          <a:xfrm>
            <a:off x="6172200" y="3474720"/>
            <a:ext cx="5440680" cy="1920240"/>
          </a:xfrm>
          <a:prstGeom prst="roundRect">
            <a:avLst>
              <a:gd name="adj" fmla="val 3810"/>
            </a:avLst>
          </a:prstGeom>
          <a:solidFill>
            <a:schemeClr val="bg2"/>
          </a:solidFill>
          <a:ln/>
        </p:spPr>
      </p:sp>
      <p:sp>
        <p:nvSpPr>
          <p:cNvPr id="19" name="Shape 14"/>
          <p:cNvSpPr/>
          <p:nvPr/>
        </p:nvSpPr>
        <p:spPr>
          <a:xfrm>
            <a:off x="6446520" y="3749040"/>
            <a:ext cx="685800" cy="68580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6617970" y="3920490"/>
            <a:ext cx="342900" cy="342900"/>
          </a:xfrm>
          <a:prstGeom prst="rect">
            <a:avLst/>
          </a:prstGeom>
        </p:spPr>
      </p:pic>
      <p:sp>
        <p:nvSpPr>
          <p:cNvPr id="21" name="Text 15"/>
          <p:cNvSpPr txBox="1"/>
          <p:nvPr/>
        </p:nvSpPr>
        <p:spPr>
          <a:xfrm>
            <a:off x="7315200" y="3840480"/>
            <a:ext cx="4114800" cy="457200"/>
          </a:xfrm>
          <a:prstGeom prst="rect">
            <a:avLst/>
          </a:prstGeom>
          <a:noFill/>
          <a:ln/>
        </p:spPr>
        <p:txBody>
          <a:bodyPr wrap="square" lIns="0" tIns="0" rIns="0" bIns="0" rtlCol="0" anchor="t"/>
          <a:lstStyle/>
          <a:p>
            <a:pPr indent="0" marL="0">
              <a:buNone/>
            </a:pPr>
            <a:r>
              <a:rPr lang="en-US" sz="1700" b="1" dirty="0">
                <a:solidFill>
                  <a:schemeClr val="tx1"/>
                </a:solidFill>
              </a:rPr>
              <a:t>15 s dashboard cache per viewer</a:t>
            </a:r>
            <a:endParaRPr lang="en-US" sz="1700" dirty="0"/>
          </a:p>
        </p:txBody>
      </p:sp>
      <p:sp>
        <p:nvSpPr>
          <p:cNvPr id="22" name="Text 16"/>
          <p:cNvSpPr txBox="1"/>
          <p:nvPr/>
        </p:nvSpPr>
        <p:spPr>
          <a:xfrm>
            <a:off x="6446520" y="4526280"/>
            <a:ext cx="4937760" cy="777240"/>
          </a:xfrm>
          <a:prstGeom prst="rect">
            <a:avLst/>
          </a:prstGeom>
          <a:noFill/>
          <a:ln/>
        </p:spPr>
        <p:txBody>
          <a:bodyPr wrap="square" lIns="0" tIns="0" rIns="0" bIns="0" rtlCol="0" anchor="t"/>
          <a:lstStyle/>
          <a:p>
            <a:pPr indent="0" marL="0">
              <a:buNone/>
            </a:pPr>
            <a:r>
              <a:rPr lang="en-US" sz="1350" dirty="0">
                <a:solidFill>
                  <a:schemeClr val="tx2"/>
                </a:solidFill>
              </a:rPr>
              <a:t>Summary numbers; a few seconds of staleness is invisible to users</a:t>
            </a:r>
            <a:endParaRPr lang="en-US" sz="1350" dirty="0"/>
          </a:p>
        </p:txBody>
      </p:sp>
      <p:pic>
        <p:nvPicPr>
          <p:cNvPr id="23" name="Image 4" descr="preencoded.png">    </p:cNvPr>
          <p:cNvPicPr>
            <a:picLocks noChangeAspect="1"/>
          </p:cNvPicPr>
          <p:nvPr/>
        </p:nvPicPr>
        <p:blipFill>
          <a:blip r:embed="rId5"/>
          <a:stretch>
            <a:fillRect/>
          </a:stretch>
        </p:blipFill>
        <p:spPr>
          <a:xfrm>
            <a:off x="548640" y="5669280"/>
            <a:ext cx="320040" cy="320040"/>
          </a:xfrm>
          <a:prstGeom prst="rect">
            <a:avLst/>
          </a:prstGeom>
        </p:spPr>
      </p:pic>
      <p:sp>
        <p:nvSpPr>
          <p:cNvPr id="24" name="Text 17"/>
          <p:cNvSpPr txBox="1"/>
          <p:nvPr/>
        </p:nvSpPr>
        <p:spPr>
          <a:xfrm>
            <a:off x="1005840" y="5650992"/>
            <a:ext cx="10607040" cy="411480"/>
          </a:xfrm>
          <a:prstGeom prst="rect">
            <a:avLst/>
          </a:prstGeom>
          <a:noFill/>
          <a:ln/>
        </p:spPr>
        <p:txBody>
          <a:bodyPr wrap="square" lIns="0" tIns="0" rIns="0" bIns="0" rtlCol="0" anchor="ctr"/>
          <a:lstStyle/>
          <a:p>
            <a:pPr indent="0" marL="0">
              <a:buNone/>
            </a:pPr>
            <a:r>
              <a:rPr lang="en-US" sz="1350" dirty="0">
                <a:solidFill>
                  <a:schemeClr val="tx2"/>
                </a:solidFill>
              </a:rPr>
              <a:t>All 171 backend tests pass; API responses unchanged. Tried and rejected: MySQL driver tuning (it stalled the app).</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Result: failure point 380 → 600 req/s (+58%)</a:t>
            </a:r>
            <a:endParaRPr lang="en-US" sz="3200" dirty="0"/>
          </a:p>
        </p:txBody>
      </p:sp>
      <p:graphicFrame>
        <p:nvGraphicFramePr>
          <p:cNvPr id="3" name="Chart 0" descr=""/>
          <p:cNvGraphicFramePr/>
          <p:nvPr/>
        </p:nvGraphicFramePr>
        <p:xfrm>
          <a:off x="548640" y="1280160"/>
          <a:ext cx="630936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223760" y="1280160"/>
            <a:ext cx="2103120" cy="2240280"/>
          </a:xfrm>
          <a:prstGeom prst="roundRect">
            <a:avLst>
              <a:gd name="adj" fmla="val 3478"/>
            </a:avLst>
          </a:prstGeom>
          <a:solidFill>
            <a:schemeClr val="bg2"/>
          </a:solidFill>
          <a:ln/>
        </p:spPr>
      </p:sp>
      <p:sp>
        <p:nvSpPr>
          <p:cNvPr id="5" name="Text 2"/>
          <p:cNvSpPr txBox="1"/>
          <p:nvPr/>
        </p:nvSpPr>
        <p:spPr>
          <a:xfrm>
            <a:off x="7406640" y="1508760"/>
            <a:ext cx="1828800" cy="731520"/>
          </a:xfrm>
          <a:prstGeom prst="rect">
            <a:avLst/>
          </a:prstGeom>
          <a:noFill/>
          <a:ln/>
        </p:spPr>
        <p:txBody>
          <a:bodyPr wrap="square" lIns="0" tIns="0" rIns="0" bIns="0" rtlCol="0" anchor="t"/>
          <a:lstStyle/>
          <a:p>
            <a:pPr indent="0" marL="0">
              <a:buNone/>
            </a:pPr>
            <a:r>
              <a:rPr lang="en-US" sz="3400" b="1" dirty="0">
                <a:solidFill>
                  <a:schemeClr val="accent4"/>
                </a:solidFill>
              </a:rPr>
              <a:t>+58%</a:t>
            </a:r>
            <a:endParaRPr lang="en-US" sz="3400" dirty="0"/>
          </a:p>
        </p:txBody>
      </p:sp>
      <p:sp>
        <p:nvSpPr>
          <p:cNvPr id="6" name="Text 3"/>
          <p:cNvSpPr txBox="1"/>
          <p:nvPr/>
        </p:nvSpPr>
        <p:spPr>
          <a:xfrm>
            <a:off x="7406640" y="2331720"/>
            <a:ext cx="1828800" cy="411480"/>
          </a:xfrm>
          <a:prstGeom prst="rect">
            <a:avLst/>
          </a:prstGeom>
          <a:noFill/>
          <a:ln/>
        </p:spPr>
        <p:txBody>
          <a:bodyPr wrap="square" lIns="0" tIns="0" rIns="0" bIns="0" rtlCol="0" anchor="t"/>
          <a:lstStyle/>
          <a:p>
            <a:pPr indent="0" marL="0">
              <a:buNone/>
            </a:pPr>
            <a:r>
              <a:rPr lang="en-US" sz="1400" b="1" dirty="0">
                <a:solidFill>
                  <a:schemeClr val="tx1"/>
                </a:solidFill>
              </a:rPr>
              <a:t>Failure point</a:t>
            </a:r>
            <a:endParaRPr lang="en-US" sz="1400" dirty="0"/>
          </a:p>
        </p:txBody>
      </p:sp>
      <p:sp>
        <p:nvSpPr>
          <p:cNvPr id="7" name="Text 4"/>
          <p:cNvSpPr txBox="1"/>
          <p:nvPr/>
        </p:nvSpPr>
        <p:spPr>
          <a:xfrm>
            <a:off x="7406640" y="2743200"/>
            <a:ext cx="1828800" cy="640080"/>
          </a:xfrm>
          <a:prstGeom prst="rect">
            <a:avLst/>
          </a:prstGeom>
          <a:noFill/>
          <a:ln/>
        </p:spPr>
        <p:txBody>
          <a:bodyPr wrap="square" lIns="0" tIns="0" rIns="0" bIns="0" rtlCol="0" anchor="t"/>
          <a:lstStyle/>
          <a:p>
            <a:pPr indent="0" marL="0">
              <a:buNone/>
            </a:pPr>
            <a:r>
              <a:rPr lang="en-US" sz="1200" dirty="0">
                <a:solidFill>
                  <a:schemeClr val="tx2"/>
                </a:solidFill>
              </a:rPr>
              <a:t>380 → 600 req/s</a:t>
            </a:r>
            <a:endParaRPr lang="en-US" sz="1200" dirty="0"/>
          </a:p>
        </p:txBody>
      </p:sp>
      <p:sp>
        <p:nvSpPr>
          <p:cNvPr id="8" name="Shape 5"/>
          <p:cNvSpPr/>
          <p:nvPr/>
        </p:nvSpPr>
        <p:spPr>
          <a:xfrm>
            <a:off x="9464040" y="1280160"/>
            <a:ext cx="2103120" cy="2240280"/>
          </a:xfrm>
          <a:prstGeom prst="roundRect">
            <a:avLst>
              <a:gd name="adj" fmla="val 3478"/>
            </a:avLst>
          </a:prstGeom>
          <a:solidFill>
            <a:schemeClr val="bg2"/>
          </a:solidFill>
          <a:ln/>
        </p:spPr>
      </p:sp>
      <p:sp>
        <p:nvSpPr>
          <p:cNvPr id="9" name="Text 6"/>
          <p:cNvSpPr txBox="1"/>
          <p:nvPr/>
        </p:nvSpPr>
        <p:spPr>
          <a:xfrm>
            <a:off x="9646920" y="1508760"/>
            <a:ext cx="1828800" cy="731520"/>
          </a:xfrm>
          <a:prstGeom prst="rect">
            <a:avLst/>
          </a:prstGeom>
          <a:noFill/>
          <a:ln/>
        </p:spPr>
        <p:txBody>
          <a:bodyPr wrap="square" lIns="0" tIns="0" rIns="0" bIns="0" rtlCol="0" anchor="t"/>
          <a:lstStyle/>
          <a:p>
            <a:pPr indent="0" marL="0">
              <a:buNone/>
            </a:pPr>
            <a:r>
              <a:rPr lang="en-US" sz="3400" b="1" dirty="0">
                <a:solidFill>
                  <a:schemeClr val="accent4"/>
                </a:solidFill>
              </a:rPr>
              <a:t>+59%</a:t>
            </a:r>
            <a:endParaRPr lang="en-US" sz="3400" dirty="0"/>
          </a:p>
        </p:txBody>
      </p:sp>
      <p:sp>
        <p:nvSpPr>
          <p:cNvPr id="10" name="Text 7"/>
          <p:cNvSpPr txBox="1"/>
          <p:nvPr/>
        </p:nvSpPr>
        <p:spPr>
          <a:xfrm>
            <a:off x="9646920" y="2331720"/>
            <a:ext cx="1828800" cy="411480"/>
          </a:xfrm>
          <a:prstGeom prst="rect">
            <a:avLst/>
          </a:prstGeom>
          <a:noFill/>
          <a:ln/>
        </p:spPr>
        <p:txBody>
          <a:bodyPr wrap="square" lIns="0" tIns="0" rIns="0" bIns="0" rtlCol="0" anchor="t"/>
          <a:lstStyle/>
          <a:p>
            <a:pPr indent="0" marL="0">
              <a:buNone/>
            </a:pPr>
            <a:r>
              <a:rPr lang="en-US" sz="1400" b="1" dirty="0">
                <a:solidFill>
                  <a:schemeClr val="tx1"/>
                </a:solidFill>
              </a:rPr>
              <a:t>Last healthy load</a:t>
            </a:r>
            <a:endParaRPr lang="en-US" sz="1400" dirty="0"/>
          </a:p>
        </p:txBody>
      </p:sp>
      <p:sp>
        <p:nvSpPr>
          <p:cNvPr id="11" name="Text 8"/>
          <p:cNvSpPr txBox="1"/>
          <p:nvPr/>
        </p:nvSpPr>
        <p:spPr>
          <a:xfrm>
            <a:off x="9646920" y="2743200"/>
            <a:ext cx="1828800" cy="640080"/>
          </a:xfrm>
          <a:prstGeom prst="rect">
            <a:avLst/>
          </a:prstGeom>
          <a:noFill/>
          <a:ln/>
        </p:spPr>
        <p:txBody>
          <a:bodyPr wrap="square" lIns="0" tIns="0" rIns="0" bIns="0" rtlCol="0" anchor="t"/>
          <a:lstStyle/>
          <a:p>
            <a:pPr indent="0" marL="0">
              <a:buNone/>
            </a:pPr>
            <a:r>
              <a:rPr lang="en-US" sz="1200" dirty="0">
                <a:solidFill>
                  <a:schemeClr val="tx2"/>
                </a:solidFill>
              </a:rPr>
              <a:t>340 → 540 req/s</a:t>
            </a:r>
            <a:endParaRPr lang="en-US" sz="1200" dirty="0"/>
          </a:p>
        </p:txBody>
      </p:sp>
      <p:sp>
        <p:nvSpPr>
          <p:cNvPr id="12" name="Shape 9"/>
          <p:cNvSpPr/>
          <p:nvPr/>
        </p:nvSpPr>
        <p:spPr>
          <a:xfrm>
            <a:off x="7223760" y="3703320"/>
            <a:ext cx="2103120" cy="2240280"/>
          </a:xfrm>
          <a:prstGeom prst="roundRect">
            <a:avLst>
              <a:gd name="adj" fmla="val 3478"/>
            </a:avLst>
          </a:prstGeom>
          <a:solidFill>
            <a:schemeClr val="bg2"/>
          </a:solidFill>
          <a:ln/>
        </p:spPr>
      </p:sp>
      <p:sp>
        <p:nvSpPr>
          <p:cNvPr id="13" name="Text 10"/>
          <p:cNvSpPr txBox="1"/>
          <p:nvPr/>
        </p:nvSpPr>
        <p:spPr>
          <a:xfrm>
            <a:off x="7406640" y="3931920"/>
            <a:ext cx="1828800" cy="731520"/>
          </a:xfrm>
          <a:prstGeom prst="rect">
            <a:avLst/>
          </a:prstGeom>
          <a:noFill/>
          <a:ln/>
        </p:spPr>
        <p:txBody>
          <a:bodyPr wrap="square" lIns="0" tIns="0" rIns="0" bIns="0" rtlCol="0" anchor="t"/>
          <a:lstStyle/>
          <a:p>
            <a:pPr indent="0" marL="0">
              <a:buNone/>
            </a:pPr>
            <a:r>
              <a:rPr lang="en-US" sz="2200" b="1" dirty="0">
                <a:solidFill>
                  <a:schemeClr val="accent1"/>
                </a:solidFill>
              </a:rPr>
              <a:t>17 → 6 ms</a:t>
            </a:r>
            <a:endParaRPr lang="en-US" sz="2200" dirty="0"/>
          </a:p>
        </p:txBody>
      </p:sp>
      <p:sp>
        <p:nvSpPr>
          <p:cNvPr id="14" name="Text 11"/>
          <p:cNvSpPr txBox="1"/>
          <p:nvPr/>
        </p:nvSpPr>
        <p:spPr>
          <a:xfrm>
            <a:off x="7406640" y="4754880"/>
            <a:ext cx="1828800" cy="411480"/>
          </a:xfrm>
          <a:prstGeom prst="rect">
            <a:avLst/>
          </a:prstGeom>
          <a:noFill/>
          <a:ln/>
        </p:spPr>
        <p:txBody>
          <a:bodyPr wrap="square" lIns="0" tIns="0" rIns="0" bIns="0" rtlCol="0" anchor="t"/>
          <a:lstStyle/>
          <a:p>
            <a:pPr indent="0" marL="0">
              <a:buNone/>
            </a:pPr>
            <a:r>
              <a:rPr lang="en-US" sz="1400" b="1" dirty="0">
                <a:solidFill>
                  <a:schemeClr val="tx1"/>
                </a:solidFill>
              </a:rPr>
              <a:t>p95 at 340 req/s</a:t>
            </a:r>
            <a:endParaRPr lang="en-US" sz="1400" dirty="0"/>
          </a:p>
        </p:txBody>
      </p:sp>
      <p:sp>
        <p:nvSpPr>
          <p:cNvPr id="15" name="Text 12"/>
          <p:cNvSpPr txBox="1"/>
          <p:nvPr/>
        </p:nvSpPr>
        <p:spPr>
          <a:xfrm>
            <a:off x="7406640" y="5166360"/>
            <a:ext cx="1828800" cy="640080"/>
          </a:xfrm>
          <a:prstGeom prst="rect">
            <a:avLst/>
          </a:prstGeom>
          <a:noFill/>
          <a:ln/>
        </p:spPr>
        <p:txBody>
          <a:bodyPr wrap="square" lIns="0" tIns="0" rIns="0" bIns="0" rtlCol="0" anchor="t"/>
          <a:lstStyle/>
          <a:p>
            <a:pPr indent="0" marL="0">
              <a:buNone/>
            </a:pPr>
            <a:r>
              <a:rPr lang="en-US" sz="1200" dirty="0">
                <a:solidFill>
                  <a:schemeClr val="tx2"/>
                </a:solidFill>
              </a:rPr>
              <a:t>2.8× faster</a:t>
            </a:r>
            <a:endParaRPr lang="en-US" sz="1200" dirty="0"/>
          </a:p>
        </p:txBody>
      </p:sp>
      <p:sp>
        <p:nvSpPr>
          <p:cNvPr id="16" name="Shape 13"/>
          <p:cNvSpPr/>
          <p:nvPr/>
        </p:nvSpPr>
        <p:spPr>
          <a:xfrm>
            <a:off x="9464040" y="3703320"/>
            <a:ext cx="2103120" cy="2240280"/>
          </a:xfrm>
          <a:prstGeom prst="roundRect">
            <a:avLst>
              <a:gd name="adj" fmla="val 3478"/>
            </a:avLst>
          </a:prstGeom>
          <a:solidFill>
            <a:schemeClr val="bg2"/>
          </a:solidFill>
          <a:ln/>
        </p:spPr>
      </p:sp>
      <p:sp>
        <p:nvSpPr>
          <p:cNvPr id="17" name="Text 14"/>
          <p:cNvSpPr txBox="1"/>
          <p:nvPr/>
        </p:nvSpPr>
        <p:spPr>
          <a:xfrm>
            <a:off x="9646920" y="3931920"/>
            <a:ext cx="1828800" cy="731520"/>
          </a:xfrm>
          <a:prstGeom prst="rect">
            <a:avLst/>
          </a:prstGeom>
          <a:noFill/>
          <a:ln/>
        </p:spPr>
        <p:txBody>
          <a:bodyPr wrap="square" lIns="0" tIns="0" rIns="0" bIns="0" rtlCol="0" anchor="t"/>
          <a:lstStyle/>
          <a:p>
            <a:pPr indent="0" marL="0">
              <a:buNone/>
            </a:pPr>
            <a:r>
              <a:rPr lang="en-US" sz="2200" b="1" dirty="0">
                <a:solidFill>
                  <a:schemeClr val="accent1"/>
                </a:solidFill>
              </a:rPr>
              <a:t>1.9 s → 7 ms</a:t>
            </a:r>
            <a:endParaRPr lang="en-US" sz="2200" dirty="0"/>
          </a:p>
        </p:txBody>
      </p:sp>
      <p:sp>
        <p:nvSpPr>
          <p:cNvPr id="18" name="Text 15"/>
          <p:cNvSpPr txBox="1"/>
          <p:nvPr/>
        </p:nvSpPr>
        <p:spPr>
          <a:xfrm>
            <a:off x="9646920" y="4754880"/>
            <a:ext cx="1828800" cy="411480"/>
          </a:xfrm>
          <a:prstGeom prst="rect">
            <a:avLst/>
          </a:prstGeom>
          <a:noFill/>
          <a:ln/>
        </p:spPr>
        <p:txBody>
          <a:bodyPr wrap="square" lIns="0" tIns="0" rIns="0" bIns="0" rtlCol="0" anchor="t"/>
          <a:lstStyle/>
          <a:p>
            <a:pPr indent="0" marL="0">
              <a:buNone/>
            </a:pPr>
            <a:r>
              <a:rPr lang="en-US" sz="1400" b="1" dirty="0">
                <a:solidFill>
                  <a:schemeClr val="tx1"/>
                </a:solidFill>
              </a:rPr>
              <a:t>p95 at 380 req/s</a:t>
            </a:r>
            <a:endParaRPr lang="en-US" sz="1400" dirty="0"/>
          </a:p>
        </p:txBody>
      </p:sp>
      <p:sp>
        <p:nvSpPr>
          <p:cNvPr id="19" name="Text 16"/>
          <p:cNvSpPr txBox="1"/>
          <p:nvPr/>
        </p:nvSpPr>
        <p:spPr>
          <a:xfrm>
            <a:off x="9646920" y="5166360"/>
            <a:ext cx="1828800" cy="640080"/>
          </a:xfrm>
          <a:prstGeom prst="rect">
            <a:avLst/>
          </a:prstGeom>
          <a:noFill/>
          <a:ln/>
        </p:spPr>
        <p:txBody>
          <a:bodyPr wrap="square" lIns="0" tIns="0" rIns="0" bIns="0" rtlCol="0" anchor="t"/>
          <a:lstStyle/>
          <a:p>
            <a:pPr indent="0" marL="0">
              <a:buNone/>
            </a:pPr>
            <a:r>
              <a:rPr lang="en-US" sz="1200" dirty="0">
                <a:solidFill>
                  <a:schemeClr val="tx2"/>
                </a:solidFill>
              </a:rPr>
              <a:t>the old failure load</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Side by side at the critical loads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011680"/>
                <a:gridCol w="2377440"/>
                <a:gridCol w="2194560"/>
                <a:gridCol w="2377440"/>
                <a:gridCol w="2103120"/>
              </a:tblGrid>
              <a:tr h="548640">
                <a:tc>
                  <a:txBody>
                    <a:bodyPr/>
                    <a:lstStyle/>
                    <a:p>
                      <a:pPr algn="ctr" indent="0" marL="0">
                        <a:buNone/>
                      </a:pPr>
                      <a:r>
                        <a:rPr lang="en-US" sz="1400" b="1" dirty="0">
                          <a:solidFill>
                            <a:schemeClr val="bg1"/>
                          </a:solidFill>
                        </a:rPr>
                        <a:t>Load (req/s)</a:t>
                      </a:r>
                      <a:endParaRPr lang="en-US" sz="14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Before: p95</a:t>
                      </a:r>
                      <a:endParaRPr lang="en-US" sz="14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Before: dropped</a:t>
                      </a:r>
                      <a:endParaRPr lang="en-US" sz="14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After: p95</a:t>
                      </a:r>
                      <a:endParaRPr lang="en-US" sz="14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After: dropped</a:t>
                      </a:r>
                      <a:endParaRPr lang="en-US" sz="14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r>
              <a:tr h="548640">
                <a:tc>
                  <a:txBody>
                    <a:bodyPr/>
                    <a:lstStyle/>
                    <a:p>
                      <a:pPr algn="ctr" indent="0" marL="0">
                        <a:buNone/>
                      </a:pPr>
                      <a:r>
                        <a:rPr lang="en-US" sz="1500" dirty="0">
                          <a:solidFill>
                            <a:schemeClr val="tx1"/>
                          </a:solidFill>
                        </a:rPr>
                        <a:t>340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1F845A"/>
                          </a:solidFill>
                        </a:rPr>
                        <a:t>17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1F845A"/>
                          </a:solidFill>
                        </a:rPr>
                        <a:t>6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48640">
                <a:tc>
                  <a:txBody>
                    <a:bodyPr/>
                    <a:lstStyle/>
                    <a:p>
                      <a:pPr algn="ctr" indent="0" marL="0">
                        <a:buNone/>
                      </a:pPr>
                      <a:r>
                        <a:rPr lang="en-US" sz="1500" dirty="0">
                          <a:solidFill>
                            <a:schemeClr val="tx1"/>
                          </a:solidFill>
                        </a:rPr>
                        <a:t>380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C9372C"/>
                          </a:solidFill>
                        </a:rPr>
                        <a:t>1,876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C9372C"/>
                          </a:solidFill>
                        </a:rPr>
                        <a:t>119</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1F845A"/>
                          </a:solidFill>
                        </a:rPr>
                        <a:t>7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48640">
                <a:tc>
                  <a:txBody>
                    <a:bodyPr/>
                    <a:lstStyle/>
                    <a:p>
                      <a:pPr algn="ctr" indent="0" marL="0">
                        <a:buNone/>
                      </a:pPr>
                      <a:r>
                        <a:rPr lang="en-US" sz="1500" dirty="0">
                          <a:solidFill>
                            <a:schemeClr val="tx1"/>
                          </a:solidFill>
                        </a:rPr>
                        <a:t>420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C9372C"/>
                          </a:solidFill>
                        </a:rPr>
                        <a:t>3,680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C9372C"/>
                          </a:solidFill>
                        </a:rPr>
                        <a:t>870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1F845A"/>
                          </a:solidFill>
                        </a:rPr>
                        <a:t>7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48640">
                <a:tc>
                  <a:txBody>
                    <a:bodyPr/>
                    <a:lstStyle/>
                    <a:p>
                      <a:pPr algn="ctr" indent="0" marL="0">
                        <a:buNone/>
                      </a:pPr>
                      <a:r>
                        <a:rPr lang="en-US" sz="1500" dirty="0">
                          <a:solidFill>
                            <a:schemeClr val="tx1"/>
                          </a:solidFill>
                        </a:rPr>
                        <a:t>500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(failed)</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1F845A"/>
                          </a:solidFill>
                        </a:rPr>
                        <a:t>6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48640">
                <a:tc>
                  <a:txBody>
                    <a:bodyPr/>
                    <a:lstStyle/>
                    <a:p>
                      <a:pPr algn="ctr" indent="0" marL="0">
                        <a:buNone/>
                      </a:pPr>
                      <a:r>
                        <a:rPr lang="en-US" sz="1500" dirty="0">
                          <a:solidFill>
                            <a:schemeClr val="tx1"/>
                          </a:solidFill>
                        </a:rPr>
                        <a:t>540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(failed)</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1F845A"/>
                          </a:solidFill>
                        </a:rPr>
                        <a:t>6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48640">
                <a:tc>
                  <a:txBody>
                    <a:bodyPr/>
                    <a:lstStyle/>
                    <a:p>
                      <a:pPr algn="ctr" indent="0" marL="0">
                        <a:buNone/>
                      </a:pPr>
                      <a:r>
                        <a:rPr lang="en-US" sz="1500" dirty="0">
                          <a:solidFill>
                            <a:schemeClr val="tx1"/>
                          </a:solidFill>
                        </a:rPr>
                        <a:t>600</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(failed)</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C9372C"/>
                          </a:solidFill>
                        </a:rPr>
                        <a:t>2,349 ms</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algn="ctr" indent="0" marL="0">
                        <a:buNone/>
                      </a:pPr>
                      <a:r>
                        <a:rPr lang="en-US" sz="1500" b="1" dirty="0">
                          <a:solidFill>
                            <a:srgbClr val="C9372C"/>
                          </a:solidFill>
                        </a:rPr>
                        <a:t>788</a:t>
                      </a:r>
                      <a:endParaRPr lang="en-US" sz="1500" dirty="0"/>
                    </a:p>
                  </a:txBody>
                  <a:tcPr marL="91440" marR="91440"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400" i="1" dirty="0">
                <a:solidFill>
                  <a:schemeClr val="tx2"/>
                </a:solidFill>
              </a:rPr>
              <a:t>Server errors were 0 at every step in both runs. Raw results: loadtest/results/ in the repository.</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Limits and next steps</a:t>
            </a:r>
            <a:endParaRPr lang="en-US" sz="3200" dirty="0"/>
          </a:p>
        </p:txBody>
      </p:sp>
      <p:sp>
        <p:nvSpPr>
          <p:cNvPr id="3" name="Shape 1"/>
          <p:cNvSpPr/>
          <p:nvPr/>
        </p:nvSpPr>
        <p:spPr>
          <a:xfrm>
            <a:off x="548640" y="1280160"/>
            <a:ext cx="5440680" cy="4754880"/>
          </a:xfrm>
          <a:prstGeom prst="roundRect">
            <a:avLst>
              <a:gd name="adj" fmla="val 1538"/>
            </a:avLst>
          </a:prstGeom>
          <a:solidFill>
            <a:schemeClr val="bg2"/>
          </a:solidFill>
          <a:ln/>
        </p:spPr>
      </p:sp>
      <p:sp>
        <p:nvSpPr>
          <p:cNvPr id="4" name="Text 2"/>
          <p:cNvSpPr txBox="1"/>
          <p:nvPr/>
        </p:nvSpPr>
        <p:spPr>
          <a:xfrm>
            <a:off x="822960" y="1463040"/>
            <a:ext cx="4937760" cy="411480"/>
          </a:xfrm>
          <a:prstGeom prst="rect">
            <a:avLst/>
          </a:prstGeom>
          <a:noFill/>
          <a:ln/>
        </p:spPr>
        <p:txBody>
          <a:bodyPr wrap="square" lIns="0" tIns="0" rIns="0" bIns="0" rtlCol="0" anchor="t"/>
          <a:lstStyle/>
          <a:p>
            <a:pPr indent="0" marL="0">
              <a:buNone/>
            </a:pPr>
            <a:r>
              <a:rPr lang="en-US" sz="1800" b="1" dirty="0">
                <a:solidFill>
                  <a:schemeClr val="tx1"/>
                </a:solidFill>
              </a:rPr>
              <a:t>Limits of the test</a:t>
            </a:r>
            <a:endParaRPr lang="en-US" sz="1800" dirty="0"/>
          </a:p>
        </p:txBody>
      </p:sp>
      <p:sp>
        <p:nvSpPr>
          <p:cNvPr id="5" name="Text 3"/>
          <p:cNvSpPr txBox="1"/>
          <p:nvPr/>
        </p:nvSpPr>
        <p:spPr>
          <a:xfrm>
            <a:off x="822960" y="2011680"/>
            <a:ext cx="493776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One backend pod on a local replica of the cloud resources; the cloud runs 2 to 6 pods per cluster in 4 clusters</a:t>
            </a:r>
            <a:endParaRPr lang="en-US" sz="1400" dirty="0"/>
          </a:p>
          <a:p>
            <a:pPr marL="342900" indent="-342900">
              <a:spcAft>
                <a:spcPts val="1000"/>
              </a:spcAft>
              <a:buSzPct val="100000"/>
              <a:buChar char="•"/>
            </a:pPr>
            <a:r>
              <a:rPr lang="en-US" sz="1400" dirty="0">
                <a:solidFill>
                  <a:schemeClr val="tx1"/>
                </a:solidFill>
              </a:rPr>
              <a:t>Four test users, so the dashboard cache is hit often; the single dashboard query helps every view regardless</a:t>
            </a:r>
            <a:endParaRPr lang="en-US" sz="1400" dirty="0"/>
          </a:p>
          <a:p>
            <a:pPr marL="342900" indent="-342900">
              <a:spcAft>
                <a:spcPts val="1000"/>
              </a:spcAft>
              <a:buSzPct val="100000"/>
              <a:buChar char="•"/>
            </a:pPr>
            <a:r>
              <a:rPr lang="en-US" sz="1400" dirty="0">
                <a:solidFill>
                  <a:schemeClr val="tx1"/>
                </a:solidFill>
              </a:rPr>
              <a:t>First exploratory runs were discarded: other containers were sharing the machine</a:t>
            </a:r>
            <a:endParaRPr lang="en-US" sz="1400" dirty="0"/>
          </a:p>
        </p:txBody>
      </p:sp>
      <p:sp>
        <p:nvSpPr>
          <p:cNvPr id="6" name="Shape 4"/>
          <p:cNvSpPr/>
          <p:nvPr/>
        </p:nvSpPr>
        <p:spPr>
          <a:xfrm>
            <a:off x="6172200" y="1280160"/>
            <a:ext cx="5440680" cy="4754880"/>
          </a:xfrm>
          <a:prstGeom prst="roundRect">
            <a:avLst>
              <a:gd name="adj" fmla="val 1538"/>
            </a:avLst>
          </a:prstGeom>
          <a:solidFill>
            <a:schemeClr val="tx1"/>
          </a:solidFill>
          <a:ln/>
        </p:spPr>
      </p:sp>
      <p:sp>
        <p:nvSpPr>
          <p:cNvPr id="7" name="Text 5"/>
          <p:cNvSpPr txBox="1"/>
          <p:nvPr/>
        </p:nvSpPr>
        <p:spPr>
          <a:xfrm>
            <a:off x="6446520" y="1463040"/>
            <a:ext cx="4937760" cy="411480"/>
          </a:xfrm>
          <a:prstGeom prst="rect">
            <a:avLst/>
          </a:prstGeom>
          <a:noFill/>
          <a:ln/>
        </p:spPr>
        <p:txBody>
          <a:bodyPr wrap="square" lIns="0" tIns="0" rIns="0" bIns="0" rtlCol="0" anchor="t"/>
          <a:lstStyle/>
          <a:p>
            <a:pPr indent="0" marL="0">
              <a:buNone/>
            </a:pPr>
            <a:r>
              <a:rPr lang="en-US" sz="1800" b="1" dirty="0">
                <a:solidFill>
                  <a:schemeClr val="bg1"/>
                </a:solidFill>
              </a:rPr>
              <a:t>Next steps</a:t>
            </a:r>
            <a:endParaRPr lang="en-US" sz="1800" dirty="0"/>
          </a:p>
        </p:txBody>
      </p:sp>
      <p:sp>
        <p:nvSpPr>
          <p:cNvPr id="8" name="Text 6"/>
          <p:cNvSpPr txBox="1"/>
          <p:nvPr/>
        </p:nvSpPr>
        <p:spPr>
          <a:xfrm>
            <a:off x="6446520" y="2011680"/>
            <a:ext cx="493776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Raise frontend test coverage (15.8% today, backend 88.6%)</a:t>
            </a:r>
            <a:endParaRPr lang="en-US" sz="1400" dirty="0"/>
          </a:p>
          <a:p>
            <a:pPr marL="342900" indent="-342900">
              <a:spcAft>
                <a:spcPts val="1000"/>
              </a:spcAft>
              <a:buSzPct val="100000"/>
              <a:buChar char="•"/>
            </a:pPr>
            <a:r>
              <a:rPr lang="en-US" sz="1400" dirty="0">
                <a:solidFill>
                  <a:schemeClr val="bg1"/>
                </a:solidFill>
              </a:rPr>
              <a:t>Connect SonarCloud so every push is analysed online</a:t>
            </a:r>
            <a:endParaRPr lang="en-US" sz="1400" dirty="0"/>
          </a:p>
          <a:p>
            <a:pPr marL="342900" indent="-342900">
              <a:spcAft>
                <a:spcPts val="1000"/>
              </a:spcAft>
              <a:buSzPct val="100000"/>
              <a:buChar char="•"/>
            </a:pPr>
            <a:r>
              <a:rPr lang="en-US" sz="1400" dirty="0">
                <a:solidFill>
                  <a:schemeClr val="bg1"/>
                </a:solidFill>
              </a:rPr>
              <a:t>Next bottleneck is the single vCPU: scale out pods (the HPA already allows 2 to 6)</a:t>
            </a:r>
            <a:endParaRPr lang="en-US" sz="1400" dirty="0"/>
          </a:p>
          <a:p>
            <a:pPr marL="342900" indent="-342900">
              <a:spcAft>
                <a:spcPts val="1000"/>
              </a:spcAft>
              <a:buSzPct val="100000"/>
              <a:buChar char="•"/>
            </a:pPr>
            <a:r>
              <a:rPr lang="en-US" sz="1400" dirty="0">
                <a:solidFill>
                  <a:schemeClr val="bg1"/>
                </a:solidFill>
              </a:rPr>
              <a:t>Add the k6 test to CI as a smoke check</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8686800" cy="1463040"/>
          </a:xfrm>
          <a:prstGeom prst="rect">
            <a:avLst/>
          </a:prstGeom>
          <a:noFill/>
          <a:ln/>
        </p:spPr>
        <p:txBody>
          <a:bodyPr wrap="square" lIns="0" tIns="0" rIns="0" bIns="0" rtlCol="0" anchor="b"/>
          <a:lstStyle/>
          <a:p>
            <a:pPr algn="l" indent="0" marL="0">
              <a:buNone/>
            </a:pPr>
            <a:r>
              <a:rPr lang="en-US" sz="4800" b="1" dirty="0">
                <a:solidFill>
                  <a:schemeClr val="bg1"/>
                </a:solidFill>
              </a:rPr>
              <a:t>All four asks completed</a:t>
            </a:r>
            <a:endParaRPr lang="en-US" sz="4800" dirty="0"/>
          </a:p>
        </p:txBody>
      </p:sp>
      <p:sp>
        <p:nvSpPr>
          <p:cNvPr id="3" name="Text 0"/>
          <p:cNvSpPr/>
          <p:nvPr>
            <p:ph idx="101" type="body" hasCustomPrompt="1"/>
          </p:nvPr>
        </p:nvSpPr>
        <p:spPr>
          <a:xfrm>
            <a:off x="731520" y="3154680"/>
            <a:ext cx="8229600" cy="914400"/>
          </a:xfrm>
          <a:prstGeom prst="rect">
            <a:avLst/>
          </a:prstGeom>
          <a:noFill/>
          <a:ln/>
        </p:spPr>
        <p:txBody>
          <a:bodyPr wrap="square" lIns="0" tIns="0" rIns="0" bIns="0" rtlCol="0" anchor="t"/>
          <a:lstStyle/>
          <a:p>
            <a:pPr algn="l" indent="0" marL="0">
              <a:buNone/>
            </a:pPr>
            <a:r>
              <a:rPr lang="en-US" sz="2200" dirty="0">
                <a:solidFill>
                  <a:schemeClr val="bg2"/>
                </a:solidFill>
              </a:rPr>
              <a:t>0 open Sonar issues · 30 documented patterns · failure point +58%</a:t>
            </a:r>
            <a:endParaRPr lang="en-US" sz="2200" dirty="0"/>
          </a:p>
        </p:txBody>
      </p:sp>
      <p:sp>
        <p:nvSpPr>
          <p:cNvPr id="4" name="Text 2"/>
          <p:cNvSpPr txBox="1"/>
          <p:nvPr/>
        </p:nvSpPr>
        <p:spPr>
          <a:xfrm>
            <a:off x="731520" y="4206240"/>
            <a:ext cx="7315200"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2"/>
                </a:solidFill>
              </a:rPr>
              <a:t>docs/quality/sonar-report.md</a:t>
            </a:r>
            <a:endParaRPr lang="en-US" sz="1500" dirty="0"/>
          </a:p>
          <a:p>
            <a:pPr marL="342900" indent="-342900">
              <a:spcAft>
                <a:spcPts val="400"/>
              </a:spcAft>
              <a:buSzPct val="100000"/>
              <a:buChar char="•"/>
            </a:pPr>
            <a:r>
              <a:rPr lang="en-US" sz="1500" dirty="0">
                <a:solidFill>
                  <a:schemeClr val="bg2"/>
                </a:solidFill>
              </a:rPr>
              <a:t>docs/design-patterns.md</a:t>
            </a:r>
            <a:endParaRPr lang="en-US" sz="1500" dirty="0"/>
          </a:p>
          <a:p>
            <a:pPr marL="342900" indent="-342900">
              <a:spcAft>
                <a:spcPts val="400"/>
              </a:spcAft>
              <a:buSzPct val="100000"/>
              <a:buChar char="•"/>
            </a:pPr>
            <a:r>
              <a:rPr lang="en-US" sz="1500" dirty="0">
                <a:solidFill>
                  <a:schemeClr val="bg2"/>
                </a:solidFill>
              </a:rPr>
              <a:t>docs/performance/load-test-report.md</a:t>
            </a:r>
            <a:endParaRPr lang="en-US" sz="1500" dirty="0"/>
          </a:p>
          <a:p>
            <a:pPr marL="342900" indent="-342900">
              <a:spcAft>
                <a:spcPts val="400"/>
              </a:spcAft>
              <a:buSzPct val="100000"/>
              <a:buChar char="•"/>
            </a:pPr>
            <a:r>
              <a:rPr lang="en-US" sz="1500" dirty="0">
                <a:solidFill>
                  <a:schemeClr val="bg2"/>
                </a:solidFill>
              </a:rPr>
              <a:t>loadtest/ (scripts and raw results)</a:t>
            </a:r>
            <a:endParaRPr lang="en-US" sz="1500" dirty="0"/>
          </a:p>
        </p:txBody>
      </p:sp>
      <p:sp>
        <p:nvSpPr>
          <p:cNvPr id="5" name="Text 3"/>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dirty="0">
                <a:solidFill>
                  <a:schemeClr val="bg2"/>
                </a:solidFill>
              </a:rPr>
              <a:t>github.com/sahilsahni18/multicloud-tms</a:t>
            </a:r>
            <a:endParaRPr lang="en-US" sz="1400" dirty="0"/>
          </a:p>
        </p:txBody>
      </p:sp>
      <p:sp>
        <p:nvSpPr>
          <p:cNvPr id="6" name="Shape 4"/>
          <p:cNvSpPr/>
          <p:nvPr/>
        </p:nvSpPr>
        <p:spPr>
          <a:xfrm>
            <a:off x="9509760" y="1463040"/>
            <a:ext cx="914400" cy="9144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738360" y="1691640"/>
            <a:ext cx="457200" cy="457200"/>
          </a:xfrm>
          <a:prstGeom prst="rect">
            <a:avLst/>
          </a:prstGeom>
        </p:spPr>
      </p:pic>
      <p:sp>
        <p:nvSpPr>
          <p:cNvPr id="8" name="Shape 5"/>
          <p:cNvSpPr/>
          <p:nvPr/>
        </p:nvSpPr>
        <p:spPr>
          <a:xfrm>
            <a:off x="10607040" y="1463040"/>
            <a:ext cx="914400" cy="914400"/>
          </a:xfrm>
          <a:prstGeom prst="ellipse">
            <a:avLst/>
          </a:prstGeom>
          <a:solidFill>
            <a:schemeClr val="accent6"/>
          </a:solidFill>
          <a:ln/>
        </p:spPr>
      </p:sp>
      <p:pic>
        <p:nvPicPr>
          <p:cNvPr id="9" name="Image 1" descr="preencoded.png">    </p:cNvPr>
          <p:cNvPicPr>
            <a:picLocks noChangeAspect="1"/>
          </p:cNvPicPr>
          <p:nvPr/>
        </p:nvPicPr>
        <p:blipFill>
          <a:blip r:embed="rId2"/>
          <a:stretch>
            <a:fillRect/>
          </a:stretch>
        </p:blipFill>
        <p:spPr>
          <a:xfrm>
            <a:off x="10835640" y="1691640"/>
            <a:ext cx="457200" cy="457200"/>
          </a:xfrm>
          <a:prstGeom prst="rect">
            <a:avLst/>
          </a:prstGeom>
        </p:spPr>
      </p:pic>
      <p:sp>
        <p:nvSpPr>
          <p:cNvPr id="10" name="Shape 6"/>
          <p:cNvSpPr/>
          <p:nvPr/>
        </p:nvSpPr>
        <p:spPr>
          <a:xfrm>
            <a:off x="9509760" y="2560320"/>
            <a:ext cx="914400" cy="914400"/>
          </a:xfrm>
          <a:prstGeom prst="ellipse">
            <a:avLst/>
          </a:prstGeom>
          <a:solidFill>
            <a:schemeClr val="accent2"/>
          </a:solidFill>
          <a:ln/>
        </p:spPr>
      </p:sp>
      <p:pic>
        <p:nvPicPr>
          <p:cNvPr id="11" name="Image 2" descr="preencoded.png">    </p:cNvPr>
          <p:cNvPicPr>
            <a:picLocks noChangeAspect="1"/>
          </p:cNvPicPr>
          <p:nvPr/>
        </p:nvPicPr>
        <p:blipFill>
          <a:blip r:embed="rId3"/>
          <a:stretch>
            <a:fillRect/>
          </a:stretch>
        </p:blipFill>
        <p:spPr>
          <a:xfrm>
            <a:off x="9738360" y="2788920"/>
            <a:ext cx="457200" cy="457200"/>
          </a:xfrm>
          <a:prstGeom prst="rect">
            <a:avLst/>
          </a:prstGeom>
        </p:spPr>
      </p:pic>
      <p:sp>
        <p:nvSpPr>
          <p:cNvPr id="12" name="Shape 7"/>
          <p:cNvSpPr/>
          <p:nvPr/>
        </p:nvSpPr>
        <p:spPr>
          <a:xfrm>
            <a:off x="10607040" y="2560320"/>
            <a:ext cx="914400" cy="914400"/>
          </a:xfrm>
          <a:prstGeom prst="ellipse">
            <a:avLst/>
          </a:prstGeom>
          <a:solidFill>
            <a:schemeClr val="accent4"/>
          </a:solidFill>
          <a:ln/>
        </p:spPr>
      </p:sp>
      <p:pic>
        <p:nvPicPr>
          <p:cNvPr id="13" name="Image 3" descr="preencoded.png">    </p:cNvPr>
          <p:cNvPicPr>
            <a:picLocks noChangeAspect="1"/>
          </p:cNvPicPr>
          <p:nvPr/>
        </p:nvPicPr>
        <p:blipFill>
          <a:blip r:embed="rId4"/>
          <a:stretch>
            <a:fillRect/>
          </a:stretch>
        </p:blipFill>
        <p:spPr>
          <a:xfrm>
            <a:off x="10835640" y="2788920"/>
            <a:ext cx="457200" cy="457200"/>
          </a:xfrm>
          <a:prstGeom prst="rect">
            <a:avLst/>
          </a:prstGeom>
        </p:spPr>
      </p:pic>
    </p:spTree>
  </p:cSld>
  <p:clrMapOvr>
    <a:masterClrMapping/>
  </p:clrMapOvr>
</p:sld>
</file>

<file path=ppt/theme/theme1.xml><?xml version="1.0" encoding="utf-8"?>
<a:theme xmlns:a="http://schemas.openxmlformats.org/drawingml/2006/main" name="TrackFlow Review">
  <a:themeElements>
    <a:clrScheme name="TrackFlow Review">
      <a:dk1>
        <a:srgbClr val="172B4D"/>
      </a:dk1>
      <a:lt1>
        <a:srgbClr val="FFFFFF"/>
      </a:lt1>
      <a:dk2>
        <a:srgbClr val="0B1B33"/>
      </a:dk2>
      <a:lt2>
        <a:srgbClr val="F1F4F8"/>
      </a:lt2>
      <a:accent1>
        <a:srgbClr val="0C66E4"/>
      </a:accent1>
      <a:accent2>
        <a:srgbClr val="FF9900"/>
      </a:accent2>
      <a:accent3>
        <a:srgbClr val="0078D4"/>
      </a:accent3>
      <a:accent4>
        <a:srgbClr val="1F845A"/>
      </a:accent4>
      <a:accent5>
        <a:srgbClr val="C9372C"/>
      </a:accent5>
      <a:accent6>
        <a:srgbClr val="6E5DC6"/>
      </a:accent6>
      <a:hlink>
        <a:srgbClr val="0C66E4"/>
      </a:hlink>
      <a:folHlink>
        <a:srgbClr val="6E5DC6"/>
      </a:folHlink>
    </a:clrScheme>
    <a:fontScheme name="TrackFlow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TrackFlow quality, design and performance review</dc:title>
  <dc:subject>PptxGenJS Presentation</dc:subject>
  <dc:creator>Sahil Sahney</dc:creator>
  <cp:lastModifiedBy>Sahil Sahney</cp:lastModifiedBy>
  <cp:revision>1</cp:revision>
  <dcterms:created xsi:type="dcterms:W3CDTF">2026-10-20T14:02:46Z</dcterms:created>
  <dcterms:modified xsi:type="dcterms:W3CDTF">2026-10-20T14:02:46Z</dcterms:modified>
</cp:coreProperties>
</file>