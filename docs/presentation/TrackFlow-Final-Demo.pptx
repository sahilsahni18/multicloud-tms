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61050aa-c08d-8c7f-2ace-013981ba4fae}">
          <p14:sldIdLst>
            <p14:sldId id="256"/>
            <p14:sldId id="257"/>
            <p14:sldId id="258"/>
          </p14:sldIdLst>
        </p14:section>
        <p14:section name="The application" id="{6daeab18-7e40-3273-a860-7a2c3b1772cf}">
          <p14:sldIdLst>
            <p14:sldId id="259"/>
            <p14:sldId id="260"/>
            <p14:sldId id="261"/>
            <p14:sldId id="262"/>
            <p14:sldId id="263"/>
          </p14:sldIdLst>
        </p14:section>
        <p14:section name="Architecture" id="{a9c5791a-01ca-d03b-9d70-01a208ff80af}">
          <p14:sldIdLst>
            <p14:sldId id="264"/>
            <p14:sldId id="265"/>
            <p14:sldId id="266"/>
            <p14:sldId id="267"/>
            <p14:sldId id="268"/>
            <p14:sldId id="269"/>
          </p14:sldIdLst>
        </p14:section>
        <p14:section name="Deployment Portal" id="{c14077bf-a7cf-f9e8-b8bc-2f425601880e}">
          <p14:sldIdLst>
            <p14:sldId id="270"/>
            <p14:sldId id="271"/>
            <p14:sldId id="272"/>
          </p14:sldIdLst>
        </p14:section>
        <p14:section name="Decisions" id="{68384742-3aa2-d72d-a01e-422a24b8d672}">
          <p14:sldIdLst>
            <p14:sldId id="273"/>
            <p14:sldId id="274"/>
            <p14:sldId id="275"/>
            <p14:sldId id="276"/>
          </p14:sldIdLst>
        </p14:section>
        <p14:section name="Close" id="{08d33eb8-ed37-d1af-e3fb-d39c560f9414}">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72B4D"/>
                </a:solidFill>
                <a:latin typeface="+mn-lt"/>
              </a:defRPr>
            </a:pPr>
            <a:r>
              <a:rPr sz="1500" b="0" i="0" u="none" strike="noStrike">
                <a:solidFill>
                  <a:srgbClr val="172B4D"/>
                </a:solidFill>
                <a:latin typeface="+mn-lt"/>
              </a:rPr>
              <a:t>Seconds until the same URL works again</a:t>
            </a:r>
          </a:p>
        </c:rich>
      </c:tx>
      <c:layout/>
      <c:overlay val="0"/>
    </c:title>
    <c:autoTitleDeleted val="0"/>
    <c:plotArea>
      <c:layout/>
      <c:barChart>
        <c:barDir val="bar"/>
        <c:grouping val="clustered"/>
        <c:varyColors val="0"/>
        <c:ser>
          <c:idx val="0"/>
          <c:order val="0"/>
          <c:tx>
            <c:strRef>
              <c:f>Sheet1!$B$1</c:f>
              <c:strCache>
                <c:ptCount val="1"/>
                <c:pt idx="0">
                  <c:v>Seconds until traffic is served again</c:v>
                </c:pt>
              </c:strCache>
            </c:strRef>
          </c:tx>
          <c:spPr>
            <a:solidFill>
              <a:srgbClr val="1F845A"/>
            </a:solidFill>
            <a:effectLst/>
          </c:spPr>
          <c:invertIfNegative val="0"/>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dPt>
            <c:idx val="0"/>
            <c:invertIfNegative val="0"/>
            <c:bubble3D val="0"/>
            <c:spPr>
              <a:solidFill>
                <a:srgbClr val="1F845A"/>
              </a:solidFill>
              <a:effectLst/>
            </c:spPr>
          </c:dPt>
          <c:dPt>
            <c:idx val="1"/>
            <c:invertIfNegative val="0"/>
            <c:bubble3D val="0"/>
            <c:spPr>
              <a:solidFill>
                <a:srgbClr val="1F845A"/>
              </a:solidFill>
              <a:effectLst/>
            </c:spPr>
          </c:dPt>
          <c:dPt>
            <c:idx val="2"/>
            <c:invertIfNegative val="0"/>
            <c:bubble3D val="0"/>
            <c:spPr>
              <a:solidFill>
                <a:srgbClr val="A5ADBA"/>
              </a:solidFill>
              <a:effectLst/>
            </c:spPr>
          </c:dPt>
          <c:cat>
            <c:multiLvlStrRef>
              <c:f>Sheet1!$A$2:$A$4</c:f>
              <c:multiLvlStrCache>
                <c:ptCount val="3"/>
                <c:lvl>
                  <c:pt idx="0">
                    <c:v>AWS us-east-1 → us-west-2</c:v>
                  </c:pt>
                  <c:pt idx="1">
                    <c:v>Both AWS down → Azure</c:v>
                  </c:pt>
                  <c:pt idx="2">
                    <c:v>Target</c:v>
                  </c:pt>
                </c:lvl>
              </c:multiLvlStrCache>
            </c:multiLvlStrRef>
          </c:cat>
          <c:val>
            <c:numRef>
              <c:f>Sheet1!$B$2:$B$4</c:f>
              <c:numCache>
                <c:formatCode>General</c:formatCode>
                <c:ptCount val="3"/>
                <c:pt idx="0">
                  <c:v>38</c:v>
                </c:pt>
                <c:pt idx="1">
                  <c:v>45</c:v>
                </c:pt>
                <c:pt idx="2">
                  <c:v>120</c:v>
                </c:pt>
              </c:numCache>
            </c:numRef>
          </c:val>
        </c:ser>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TrackFlow is a ticket tracker in the style of Jira. What makes it interesting is where and how it runs: the same containers on Kubernetes in two AWS regions and two Azure regions behind one URL, all built from code, plus an admin portal that creates a new environment with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goals from the PRD. The rule that shaped the schedule: everything was built and proven on a laptop with Docker and kind before we spent any cloud credits, and the cloud is only ever changed through OpenTofu and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Both failover tests beat the two-minute target by a wide margin. Coverage is well above the 70 percent goal. The portal creates a working environment in about three minutes, and no long-lived cloud credentials exist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important point is that the rules live in the backend: every endpoint has a PreAuthorize check, and the 'own ticket' and 'assigned ticket' rules sit in one TicketAccessPolicy class that is unit tested. The UI hides what you can't do, but the API is what enforces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ticket workflow is a real state machine in the backend. Moves that skip a step are rejected with a 409, and optimistic locking stops two people overwriting each other. Around it: a Kanban board, a full change history, filters, dashboards and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Everything is current: React 19, Spring Boot 3.5 on Java 21, Kubernetes 1.33. Integration tests run against a real MySQL in a container, not an in-memory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works at every layer. Short-lived access tokens in memory, refresh tokens in an httpOnly cookie that rotate on every use. On the infrastructure side the key point is OIDC: GitHub proves who it is to AWS and Azure for each run, so there are no cloud keys in the repository or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Users only know one address, the Traffic Manager name. Traffic Manager checks the health endpoint of all four clusters every 10 seconds and sends everyone to the highest-priority healthy one: us-east-1 first, then us-west-2, then the two Azure regions. Each cloud has one database; the two AWS clusters share it over VPC peering, and the two Azure clusters share theirs. Cross-cloud failover is disaster recovery: Azure keeps serving with its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cluster runs the same thing. Ingress-nginx routes API paths to the backend and everything else to the web app, so the app and the API share one origin. The backend runs two pods with autoscaling and a disruption budget. The database is managed by the cloud, outside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infrastructure is OpenTofu. Eleven modules across the two clouds. A one-time bootstrap creates the state storage and the OIDC trust; after that, nothing is created by hand. Features that new free accounts don't allow, like read replicas and CloudFront, are switches rather than different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push to main runs the backend, frontend and Kubernetes CI. When the backend CI is green and the cloud is up, the deploy workflow builds the images once, pushes them to the registries in both clouds, rolls out to all four clusters and refreshes Traffic Manager. Three workflows cover the cloud lifecycle, deployments and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failover tests were run live on 10 October by stopping the backend in a region. Losing us-east-1 moved traffic to us-west-2 in 38 seconds. Losing both AWS regions moved it to Azure in 45 seconds, and logins worked there. The target was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the Deployment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admin clicks Deploy, the backend doesn't touch the cloud itself. It saves the request and asks GitHub to start the provisioning workflow. The workflow does the work with the cloud logins GitHub already has through OIDC, and after each stage it posts a signed report back to the app, which moves the stepper on screen. The app itself never holds cloud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all three actions against the real cloud the day before the demo. An apply produces a working copy of the app with its own database and URL in about three minutes. QA and Prod run a real tofu plan, which is free. Destroy cleans everything up. The first apply also showed that failures are reported clearly: a hostname bug made the final check fail, the portal showed exactly which step failed and linked to the log, and we fixed it the same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decisions we made along the way and how we ran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honest about the constraints of new free cloud accounts. Each change keeps the goal of the PRD: two clouds, regional failover, one URL, everything as code. Where a paid feature was blocked, like replicas or CloudFront, it is a switch in the code rather than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98 backend tests including integration tests against a real MySQL, 93 percent line coverage, and CI on every push. Cost: the full system costs about 1.45 dollars an hour from free credits, most of it the two EKS control planes: Kubernetes 1.33 moved to EKS extended support in July, which costs six times the standard price, and moving to 1.34 brings it back down. A scheduled workflow destroys everything every night unless we explicitly keep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part: the ticket lifecycle across all four roles, then the portal creating a real environment, then a failover. If the network fails, there is a backup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same code runs on two clouds and four regions behind one address, fails over in under a minute, and an admin can create a new environment with one click, all built and run from code.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F_TITLE">
    <p:bg>
      <p:bgPr>
        <a:solidFill>
          <a:srgbClr val="0B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F_SECTION">
    <p:bg>
      <p:bgPr>
        <a:solidFill>
          <a:srgbClr val="0B1B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rtlCol="0"/>
          <a:lstStyle>
            <a:lvl1pPr indent="0" marL="0">
              <a:buNone/>
              <a:defRPr lang="en-US" sz="1800" b="1"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F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E6C84"/>
                </a:solidFill>
              </a:rPr>
              <a:t>TrackFlow · Multi-Cloud Ticket Management System</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4.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TrackFlow</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 Jira-style ticket tracker running on AWS and Azure, with failover between clouds and one-click environments</a:t>
            </a:r>
            <a:endParaRPr lang="en-US" sz="2200" dirty="0"/>
          </a:p>
        </p:txBody>
      </p:sp>
      <p:sp>
        <p:nvSpPr>
          <p:cNvPr id="4" name="Text 2"/>
          <p:cNvSpPr txBox="1"/>
          <p:nvPr/>
        </p:nvSpPr>
        <p:spPr>
          <a:xfrm>
            <a:off x="731520" y="4800600"/>
            <a:ext cx="5486400" cy="365760"/>
          </a:xfrm>
          <a:prstGeom prst="rect">
            <a:avLst/>
          </a:prstGeom>
          <a:noFill/>
          <a:ln/>
        </p:spPr>
        <p:txBody>
          <a:bodyPr wrap="square" lIns="0" tIns="0" rIns="0" bIns="0" rtlCol="0" anchor="t"/>
          <a:lstStyle/>
          <a:p>
            <a:pPr indent="0" marL="0">
              <a:buNone/>
            </a:pPr>
            <a:r>
              <a:rPr lang="en-US" sz="1600" b="1" dirty="0">
                <a:solidFill>
                  <a:schemeClr val="accent2"/>
                </a:solidFill>
              </a:rPr>
              <a:t>Final demo · 14 October 2026</a:t>
            </a:r>
            <a:endParaRPr lang="en-US" sz="1600" dirty="0"/>
          </a:p>
        </p:txBody>
      </p:sp>
      <p:sp>
        <p:nvSpPr>
          <p:cNvPr id="5" name="Text 3"/>
          <p:cNvSpPr txBox="1"/>
          <p:nvPr/>
        </p:nvSpPr>
        <p:spPr>
          <a:xfrm>
            <a:off x="731520" y="5212080"/>
            <a:ext cx="8229600" cy="365760"/>
          </a:xfrm>
          <a:prstGeom prst="rect">
            <a:avLst/>
          </a:prstGeom>
          <a:noFill/>
          <a:ln/>
        </p:spPr>
        <p:txBody>
          <a:bodyPr wrap="square" lIns="0" tIns="0" rIns="0" bIns="0" rtlCol="0" anchor="t"/>
          <a:lstStyle/>
          <a:p>
            <a:pPr indent="0" marL="0">
              <a:buNone/>
            </a:pPr>
            <a:r>
              <a:rPr lang="en-US" sz="1400" dirty="0">
                <a:solidFill>
                  <a:schemeClr val="bg2"/>
                </a:solidFill>
              </a:rPr>
              <a:t>github.com/Chetansahney/multicloud-tms</a:t>
            </a:r>
            <a:endParaRPr lang="en-US" sz="1400" dirty="0"/>
          </a:p>
        </p:txBody>
      </p:sp>
      <p:sp>
        <p:nvSpPr>
          <p:cNvPr id="6" name="Shape 4"/>
          <p:cNvSpPr/>
          <p:nvPr/>
        </p:nvSpPr>
        <p:spPr>
          <a:xfrm>
            <a:off x="9326880" y="1554480"/>
            <a:ext cx="1051560" cy="1051560"/>
          </a:xfrm>
          <a:prstGeom prst="ellipse">
            <a:avLst/>
          </a:prstGeom>
          <a:solidFill>
            <a:schemeClr val="accent2"/>
          </a:solidFill>
          <a:ln/>
        </p:spPr>
      </p:sp>
      <p:pic>
        <p:nvPicPr>
          <p:cNvPr id="7"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8" name="Shape 5"/>
          <p:cNvSpPr/>
          <p:nvPr/>
        </p:nvSpPr>
        <p:spPr>
          <a:xfrm>
            <a:off x="10515600" y="1554480"/>
            <a:ext cx="1051560" cy="1051560"/>
          </a:xfrm>
          <a:prstGeom prst="ellipse">
            <a:avLst/>
          </a:prstGeom>
          <a:solidFill>
            <a:schemeClr val="accent3"/>
          </a:solidFill>
          <a:ln/>
        </p:spPr>
      </p:sp>
      <p:pic>
        <p:nvPicPr>
          <p:cNvPr id="9"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10" name="Shape 6"/>
          <p:cNvSpPr/>
          <p:nvPr/>
        </p:nvSpPr>
        <p:spPr>
          <a:xfrm>
            <a:off x="9921240" y="2743200"/>
            <a:ext cx="1051560" cy="1051560"/>
          </a:xfrm>
          <a:prstGeom prst="ellipse">
            <a:avLst/>
          </a:prstGeom>
          <a:solidFill>
            <a:srgbClr val="326CE5"/>
          </a:solidFill>
          <a:ln/>
        </p:spPr>
      </p:sp>
      <p:pic>
        <p:nvPicPr>
          <p:cNvPr id="11"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we set out to build</a:t>
            </a:r>
            <a:endParaRPr lang="en-US" sz="3200" dirty="0"/>
          </a:p>
        </p:txBody>
      </p:sp>
      <p:sp>
        <p:nvSpPr>
          <p:cNvPr id="3" name="goal-0"/>
          <p:cNvSpPr/>
          <p:nvPr/>
        </p:nvSpPr>
        <p:spPr>
          <a:xfrm>
            <a:off x="548640" y="1417320"/>
            <a:ext cx="3520440" cy="3749040"/>
          </a:xfrm>
          <a:prstGeom prst="roundRect">
            <a:avLst>
              <a:gd name="adj" fmla="val 2078"/>
            </a:avLst>
          </a:prstGeom>
          <a:solidFill>
            <a:schemeClr val="bg2"/>
          </a:solidFill>
          <a:ln/>
        </p:spPr>
      </p:sp>
      <p:sp>
        <p:nvSpPr>
          <p:cNvPr id="4" name="Shape 2"/>
          <p:cNvSpPr/>
          <p:nvPr/>
        </p:nvSpPr>
        <p:spPr>
          <a:xfrm>
            <a:off x="868680" y="1737360"/>
            <a:ext cx="822960" cy="82296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86868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A ticket tracker teams can run themselves</a:t>
            </a:r>
            <a:endParaRPr lang="en-US" sz="2000" dirty="0"/>
          </a:p>
        </p:txBody>
      </p:sp>
      <p:sp>
        <p:nvSpPr>
          <p:cNvPr id="7" name="Text 4"/>
          <p:cNvSpPr txBox="1"/>
          <p:nvPr/>
        </p:nvSpPr>
        <p:spPr>
          <a:xfrm>
            <a:off x="86868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Four roles, a full ticket lifecycle, Kanban board, history and dashboards. Login with JWT.</a:t>
            </a:r>
            <a:endParaRPr lang="en-US" sz="1500" dirty="0"/>
          </a:p>
        </p:txBody>
      </p:sp>
      <p:sp>
        <p:nvSpPr>
          <p:cNvPr id="8" name="goal-1"/>
          <p:cNvSpPr/>
          <p:nvPr/>
        </p:nvSpPr>
        <p:spPr>
          <a:xfrm>
            <a:off x="4343400" y="1417320"/>
            <a:ext cx="3520440" cy="3749040"/>
          </a:xfrm>
          <a:prstGeom prst="roundRect">
            <a:avLst>
              <a:gd name="adj" fmla="val 2078"/>
            </a:avLst>
          </a:prstGeom>
          <a:solidFill>
            <a:schemeClr val="bg2"/>
          </a:solidFill>
          <a:ln/>
        </p:spPr>
      </p:sp>
      <p:sp>
        <p:nvSpPr>
          <p:cNvPr id="9" name="Shape 6"/>
          <p:cNvSpPr/>
          <p:nvPr/>
        </p:nvSpPr>
        <p:spPr>
          <a:xfrm>
            <a:off x="4663440" y="1737360"/>
            <a:ext cx="822960" cy="8229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4869180" y="1943100"/>
            <a:ext cx="411480" cy="411480"/>
          </a:xfrm>
          <a:prstGeom prst="rect">
            <a:avLst/>
          </a:prstGeom>
        </p:spPr>
      </p:pic>
      <p:sp>
        <p:nvSpPr>
          <p:cNvPr id="11" name="Text 7"/>
          <p:cNvSpPr txBox="1"/>
          <p:nvPr/>
        </p:nvSpPr>
        <p:spPr>
          <a:xfrm>
            <a:off x="466344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Two clouds, four regions, one URL</a:t>
            </a:r>
            <a:endParaRPr lang="en-US" sz="2000" dirty="0"/>
          </a:p>
        </p:txBody>
      </p:sp>
      <p:sp>
        <p:nvSpPr>
          <p:cNvPr id="12" name="Text 8"/>
          <p:cNvSpPr txBox="1"/>
          <p:nvPr/>
        </p:nvSpPr>
        <p:spPr>
          <a:xfrm>
            <a:off x="466344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Identical images on EKS and AKS. If a region or a whole cloud goes down, the same URL keeps working.</a:t>
            </a:r>
            <a:endParaRPr lang="en-US" sz="1500" dirty="0"/>
          </a:p>
        </p:txBody>
      </p:sp>
      <p:sp>
        <p:nvSpPr>
          <p:cNvPr id="13" name="goal-2"/>
          <p:cNvSpPr/>
          <p:nvPr/>
        </p:nvSpPr>
        <p:spPr>
          <a:xfrm>
            <a:off x="8138160" y="1417320"/>
            <a:ext cx="3520440" cy="3749040"/>
          </a:xfrm>
          <a:prstGeom prst="roundRect">
            <a:avLst>
              <a:gd name="adj" fmla="val 2078"/>
            </a:avLst>
          </a:prstGeom>
          <a:solidFill>
            <a:schemeClr val="bg2"/>
          </a:solidFill>
          <a:ln/>
        </p:spPr>
      </p:sp>
      <p:sp>
        <p:nvSpPr>
          <p:cNvPr id="14" name="Shape 10"/>
          <p:cNvSpPr/>
          <p:nvPr/>
        </p:nvSpPr>
        <p:spPr>
          <a:xfrm>
            <a:off x="8458200" y="1737360"/>
            <a:ext cx="822960" cy="822960"/>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8663940" y="1943100"/>
            <a:ext cx="411480" cy="411480"/>
          </a:xfrm>
          <a:prstGeom prst="rect">
            <a:avLst/>
          </a:prstGeom>
        </p:spPr>
      </p:pic>
      <p:sp>
        <p:nvSpPr>
          <p:cNvPr id="16" name="Text 11"/>
          <p:cNvSpPr txBox="1"/>
          <p:nvPr/>
        </p:nvSpPr>
        <p:spPr>
          <a:xfrm>
            <a:off x="845820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New environments in one click</a:t>
            </a:r>
            <a:endParaRPr lang="en-US" sz="2000" dirty="0"/>
          </a:p>
        </p:txBody>
      </p:sp>
      <p:sp>
        <p:nvSpPr>
          <p:cNvPr id="17" name="Text 12"/>
          <p:cNvSpPr txBox="1"/>
          <p:nvPr/>
        </p:nvSpPr>
        <p:spPr>
          <a:xfrm>
            <a:off x="845820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An admin picks cloud, region and environment; a real pipeline builds it and reports every step live.</a:t>
            </a:r>
            <a:endParaRPr lang="en-US" sz="1500" dirty="0"/>
          </a:p>
        </p:txBody>
      </p:sp>
      <p:sp>
        <p:nvSpPr>
          <p:cNvPr id="18" name="Text 13"/>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Rule we kept: build and prove everything locally first; touch the cloud last, and only through code.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Results at a glance</a:t>
            </a:r>
            <a:endParaRPr lang="en-US" sz="3200" dirty="0"/>
          </a:p>
        </p:txBody>
      </p:sp>
      <p:sp>
        <p:nvSpPr>
          <p:cNvPr id="3" name="stat-0"/>
          <p:cNvSpPr/>
          <p:nvPr/>
        </p:nvSpPr>
        <p:spPr>
          <a:xfrm>
            <a:off x="548640" y="1371600"/>
            <a:ext cx="3520440" cy="2148840"/>
          </a:xfrm>
          <a:prstGeom prst="roundRect">
            <a:avLst>
              <a:gd name="adj" fmla="val 3404"/>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t"/>
          <a:lstStyle/>
          <a:p>
            <a:pPr indent="0" marL="0">
              <a:buNone/>
            </a:pPr>
            <a:r>
              <a:rPr lang="en-US" sz="4800" b="1" dirty="0">
                <a:solidFill>
                  <a:schemeClr val="accent1"/>
                </a:solidFill>
              </a:rPr>
              <a:t>4</a:t>
            </a:r>
            <a:endParaRPr lang="en-US" sz="4800" dirty="0"/>
          </a:p>
        </p:txBody>
      </p:sp>
      <p:sp>
        <p:nvSpPr>
          <p:cNvPr id="5" name="Text 3"/>
          <p:cNvSpPr txBox="1"/>
          <p:nvPr/>
        </p:nvSpPr>
        <p:spPr>
          <a:xfrm>
            <a:off x="86868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Kubernetes clusters</a:t>
            </a:r>
            <a:endParaRPr lang="en-US" sz="1700" dirty="0"/>
          </a:p>
        </p:txBody>
      </p:sp>
      <p:sp>
        <p:nvSpPr>
          <p:cNvPr id="6" name="Text 4"/>
          <p:cNvSpPr txBox="1"/>
          <p:nvPr/>
        </p:nvSpPr>
        <p:spPr>
          <a:xfrm>
            <a:off x="86868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2 on AWS EKS, 2 on Azure AKS</a:t>
            </a:r>
            <a:endParaRPr lang="en-US" sz="1300" dirty="0"/>
          </a:p>
        </p:txBody>
      </p:sp>
      <p:sp>
        <p:nvSpPr>
          <p:cNvPr id="7" name="stat-1"/>
          <p:cNvSpPr/>
          <p:nvPr/>
        </p:nvSpPr>
        <p:spPr>
          <a:xfrm>
            <a:off x="4343400" y="1371600"/>
            <a:ext cx="3520440" cy="2148840"/>
          </a:xfrm>
          <a:prstGeom prst="roundRect">
            <a:avLst>
              <a:gd name="adj" fmla="val 3404"/>
            </a:avLst>
          </a:prstGeom>
          <a:solidFill>
            <a:schemeClr val="bg2"/>
          </a:solidFill>
          <a:ln/>
        </p:spPr>
      </p:sp>
      <p:sp>
        <p:nvSpPr>
          <p:cNvPr id="8" name="Text 6"/>
          <p:cNvSpPr txBox="1"/>
          <p:nvPr/>
        </p:nvSpPr>
        <p:spPr>
          <a:xfrm>
            <a:off x="466344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38 s</a:t>
            </a:r>
            <a:endParaRPr lang="en-US" sz="4800" dirty="0"/>
          </a:p>
        </p:txBody>
      </p:sp>
      <p:sp>
        <p:nvSpPr>
          <p:cNvPr id="9" name="Text 7"/>
          <p:cNvSpPr txBox="1"/>
          <p:nvPr/>
        </p:nvSpPr>
        <p:spPr>
          <a:xfrm>
            <a:off x="466344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Regional failover</a:t>
            </a:r>
            <a:endParaRPr lang="en-US" sz="1700" dirty="0"/>
          </a:p>
        </p:txBody>
      </p:sp>
      <p:sp>
        <p:nvSpPr>
          <p:cNvPr id="10" name="Text 8"/>
          <p:cNvSpPr txBox="1"/>
          <p:nvPr/>
        </p:nvSpPr>
        <p:spPr>
          <a:xfrm>
            <a:off x="466344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AWS us-east-1 → us-west-2</a:t>
            </a:r>
            <a:endParaRPr lang="en-US" sz="1300" dirty="0"/>
          </a:p>
          <a:p>
            <a:pPr indent="0" marL="0">
              <a:buNone/>
            </a:pPr>
            <a:r>
              <a:rPr lang="en-US" sz="1300" dirty="0">
                <a:solidFill>
                  <a:schemeClr val="tx2"/>
                </a:solidFill>
              </a:rPr>
              <a:t>Target: under 2 minutes</a:t>
            </a:r>
            <a:endParaRPr lang="en-US" sz="1300" dirty="0"/>
          </a:p>
        </p:txBody>
      </p:sp>
      <p:sp>
        <p:nvSpPr>
          <p:cNvPr id="11" name="stat-2"/>
          <p:cNvSpPr/>
          <p:nvPr/>
        </p:nvSpPr>
        <p:spPr>
          <a:xfrm>
            <a:off x="8138160" y="1371600"/>
            <a:ext cx="3520440" cy="2148840"/>
          </a:xfrm>
          <a:prstGeom prst="roundRect">
            <a:avLst>
              <a:gd name="adj" fmla="val 3404"/>
            </a:avLst>
          </a:prstGeom>
          <a:solidFill>
            <a:schemeClr val="bg2"/>
          </a:solidFill>
          <a:ln/>
        </p:spPr>
      </p:sp>
      <p:sp>
        <p:nvSpPr>
          <p:cNvPr id="12" name="Text 10"/>
          <p:cNvSpPr txBox="1"/>
          <p:nvPr/>
        </p:nvSpPr>
        <p:spPr>
          <a:xfrm>
            <a:off x="845820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45 s</a:t>
            </a:r>
            <a:endParaRPr lang="en-US" sz="4800" dirty="0"/>
          </a:p>
        </p:txBody>
      </p:sp>
      <p:sp>
        <p:nvSpPr>
          <p:cNvPr id="13" name="Text 11"/>
          <p:cNvSpPr txBox="1"/>
          <p:nvPr/>
        </p:nvSpPr>
        <p:spPr>
          <a:xfrm>
            <a:off x="845820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Cross-cloud failover</a:t>
            </a:r>
            <a:endParaRPr lang="en-US" sz="1700" dirty="0"/>
          </a:p>
        </p:txBody>
      </p:sp>
      <p:sp>
        <p:nvSpPr>
          <p:cNvPr id="14" name="Text 12"/>
          <p:cNvSpPr txBox="1"/>
          <p:nvPr/>
        </p:nvSpPr>
        <p:spPr>
          <a:xfrm>
            <a:off x="845820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Both AWS regions down → Azure</a:t>
            </a:r>
            <a:endParaRPr lang="en-US" sz="1300" dirty="0"/>
          </a:p>
          <a:p>
            <a:pPr indent="0" marL="0">
              <a:buNone/>
            </a:pPr>
            <a:r>
              <a:rPr lang="en-US" sz="1300" dirty="0">
                <a:solidFill>
                  <a:schemeClr val="tx2"/>
                </a:solidFill>
              </a:rPr>
              <a:t>Target: under 2 minutes</a:t>
            </a:r>
            <a:endParaRPr lang="en-US" sz="1300" dirty="0"/>
          </a:p>
        </p:txBody>
      </p:sp>
      <p:sp>
        <p:nvSpPr>
          <p:cNvPr id="15" name="stat-3"/>
          <p:cNvSpPr/>
          <p:nvPr/>
        </p:nvSpPr>
        <p:spPr>
          <a:xfrm>
            <a:off x="548640" y="3794760"/>
            <a:ext cx="3520440" cy="2148840"/>
          </a:xfrm>
          <a:prstGeom prst="roundRect">
            <a:avLst>
              <a:gd name="adj" fmla="val 3404"/>
            </a:avLst>
          </a:prstGeom>
          <a:solidFill>
            <a:schemeClr val="bg2"/>
          </a:solidFill>
          <a:ln/>
        </p:spPr>
      </p:sp>
      <p:sp>
        <p:nvSpPr>
          <p:cNvPr id="16" name="Text 14"/>
          <p:cNvSpPr txBox="1"/>
          <p:nvPr/>
        </p:nvSpPr>
        <p:spPr>
          <a:xfrm>
            <a:off x="868680" y="4023360"/>
            <a:ext cx="2926080" cy="868680"/>
          </a:xfrm>
          <a:prstGeom prst="rect">
            <a:avLst/>
          </a:prstGeom>
          <a:noFill/>
          <a:ln/>
        </p:spPr>
        <p:txBody>
          <a:bodyPr wrap="square" lIns="0" tIns="0" rIns="0" bIns="0" rtlCol="0" anchor="t"/>
          <a:lstStyle/>
          <a:p>
            <a:pPr indent="0" marL="0">
              <a:buNone/>
            </a:pPr>
            <a:r>
              <a:rPr lang="en-US" sz="4800" b="1" dirty="0">
                <a:solidFill>
                  <a:schemeClr val="accent6"/>
                </a:solidFill>
              </a:rPr>
              <a:t>93%</a:t>
            </a:r>
            <a:endParaRPr lang="en-US" sz="4800" dirty="0"/>
          </a:p>
        </p:txBody>
      </p:sp>
      <p:sp>
        <p:nvSpPr>
          <p:cNvPr id="17" name="Text 15"/>
          <p:cNvSpPr txBox="1"/>
          <p:nvPr/>
        </p:nvSpPr>
        <p:spPr>
          <a:xfrm>
            <a:off x="86868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Backend line coverage</a:t>
            </a:r>
            <a:endParaRPr lang="en-US" sz="1700" dirty="0"/>
          </a:p>
        </p:txBody>
      </p:sp>
      <p:sp>
        <p:nvSpPr>
          <p:cNvPr id="18" name="Text 16"/>
          <p:cNvSpPr txBox="1"/>
          <p:nvPr/>
        </p:nvSpPr>
        <p:spPr>
          <a:xfrm>
            <a:off x="86868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98 backend + 19 frontend tests</a:t>
            </a:r>
            <a:endParaRPr lang="en-US" sz="1300" dirty="0"/>
          </a:p>
          <a:p>
            <a:pPr indent="0" marL="0">
              <a:buNone/>
            </a:pPr>
            <a:r>
              <a:rPr lang="en-US" sz="1300" dirty="0">
                <a:solidFill>
                  <a:schemeClr val="tx2"/>
                </a:solidFill>
              </a:rPr>
              <a:t>Target: 70%</a:t>
            </a:r>
            <a:endParaRPr lang="en-US" sz="1300" dirty="0"/>
          </a:p>
        </p:txBody>
      </p:sp>
      <p:sp>
        <p:nvSpPr>
          <p:cNvPr id="19" name="stat-4"/>
          <p:cNvSpPr/>
          <p:nvPr/>
        </p:nvSpPr>
        <p:spPr>
          <a:xfrm>
            <a:off x="4343400" y="3794760"/>
            <a:ext cx="3520440" cy="2148840"/>
          </a:xfrm>
          <a:prstGeom prst="roundRect">
            <a:avLst>
              <a:gd name="adj" fmla="val 3404"/>
            </a:avLst>
          </a:prstGeom>
          <a:solidFill>
            <a:schemeClr val="bg2"/>
          </a:solidFill>
          <a:ln/>
        </p:spPr>
      </p:sp>
      <p:sp>
        <p:nvSpPr>
          <p:cNvPr id="20" name="Text 18"/>
          <p:cNvSpPr txBox="1"/>
          <p:nvPr/>
        </p:nvSpPr>
        <p:spPr>
          <a:xfrm>
            <a:off x="4663440" y="4023360"/>
            <a:ext cx="2926080" cy="868680"/>
          </a:xfrm>
          <a:prstGeom prst="rect">
            <a:avLst/>
          </a:prstGeom>
          <a:noFill/>
          <a:ln/>
        </p:spPr>
        <p:txBody>
          <a:bodyPr wrap="square" lIns="0" tIns="0" rIns="0" bIns="0" rtlCol="0" anchor="t"/>
          <a:lstStyle/>
          <a:p>
            <a:pPr indent="0" marL="0">
              <a:buNone/>
            </a:pPr>
            <a:r>
              <a:rPr lang="en-US" sz="4800" b="1" dirty="0">
                <a:solidFill>
                  <a:schemeClr val="accent2"/>
                </a:solidFill>
              </a:rPr>
              <a:t>~3 min</a:t>
            </a:r>
            <a:endParaRPr lang="en-US" sz="4800" dirty="0"/>
          </a:p>
        </p:txBody>
      </p:sp>
      <p:sp>
        <p:nvSpPr>
          <p:cNvPr id="21" name="Text 19"/>
          <p:cNvSpPr txBox="1"/>
          <p:nvPr/>
        </p:nvSpPr>
        <p:spPr>
          <a:xfrm>
            <a:off x="466344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Portal click → live environment</a:t>
            </a:r>
            <a:endParaRPr lang="en-US" sz="1700" dirty="0"/>
          </a:p>
        </p:txBody>
      </p:sp>
      <p:sp>
        <p:nvSpPr>
          <p:cNvPr id="22" name="Text 20"/>
          <p:cNvSpPr txBox="1"/>
          <p:nvPr/>
        </p:nvSpPr>
        <p:spPr>
          <a:xfrm>
            <a:off x="466344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Own namespace, database and URL</a:t>
            </a:r>
            <a:endParaRPr lang="en-US" sz="1300" dirty="0"/>
          </a:p>
        </p:txBody>
      </p:sp>
      <p:sp>
        <p:nvSpPr>
          <p:cNvPr id="23" name="stat-5"/>
          <p:cNvSpPr/>
          <p:nvPr/>
        </p:nvSpPr>
        <p:spPr>
          <a:xfrm>
            <a:off x="8138160" y="3794760"/>
            <a:ext cx="3520440" cy="2148840"/>
          </a:xfrm>
          <a:prstGeom prst="roundRect">
            <a:avLst>
              <a:gd name="adj" fmla="val 3404"/>
            </a:avLst>
          </a:prstGeom>
          <a:solidFill>
            <a:schemeClr val="bg2"/>
          </a:solidFill>
          <a:ln/>
        </p:spPr>
      </p:sp>
      <p:sp>
        <p:nvSpPr>
          <p:cNvPr id="24" name="Text 22"/>
          <p:cNvSpPr txBox="1"/>
          <p:nvPr/>
        </p:nvSpPr>
        <p:spPr>
          <a:xfrm>
            <a:off x="8458200" y="4023360"/>
            <a:ext cx="2926080" cy="868680"/>
          </a:xfrm>
          <a:prstGeom prst="rect">
            <a:avLst/>
          </a:prstGeom>
          <a:noFill/>
          <a:ln/>
        </p:spPr>
        <p:txBody>
          <a:bodyPr wrap="square" lIns="0" tIns="0" rIns="0" bIns="0" rtlCol="0" anchor="t"/>
          <a:lstStyle/>
          <a:p>
            <a:pPr indent="0" marL="0">
              <a:buNone/>
            </a:pPr>
            <a:r>
              <a:rPr lang="en-US" sz="4800" b="1" dirty="0">
                <a:solidFill>
                  <a:schemeClr val="accent3"/>
                </a:solidFill>
              </a:rPr>
              <a:t>0</a:t>
            </a:r>
            <a:endParaRPr lang="en-US" sz="4800" dirty="0"/>
          </a:p>
        </p:txBody>
      </p:sp>
      <p:sp>
        <p:nvSpPr>
          <p:cNvPr id="25" name="Text 23"/>
          <p:cNvSpPr txBox="1"/>
          <p:nvPr/>
        </p:nvSpPr>
        <p:spPr>
          <a:xfrm>
            <a:off x="845820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Cloud keys stored</a:t>
            </a:r>
            <a:endParaRPr lang="en-US" sz="1700" dirty="0"/>
          </a:p>
        </p:txBody>
      </p:sp>
      <p:sp>
        <p:nvSpPr>
          <p:cNvPr id="26" name="Text 24"/>
          <p:cNvSpPr txBox="1"/>
          <p:nvPr/>
        </p:nvSpPr>
        <p:spPr>
          <a:xfrm>
            <a:off x="845820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GitHub Actions logs in with OIDC</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01</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The application</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Roles, tickets, stack and security</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Four roles, enforced in the API and the UI</a:t>
            </a:r>
            <a:endParaRPr lang="en-US" sz="3200" dirty="0"/>
          </a:p>
        </p:txBody>
      </p:sp>
      <p:sp>
        <p:nvSpPr>
          <p:cNvPr id="3" name="role-0"/>
          <p:cNvSpPr/>
          <p:nvPr/>
        </p:nvSpPr>
        <p:spPr>
          <a:xfrm>
            <a:off x="548640" y="1371600"/>
            <a:ext cx="2606040" cy="3657600"/>
          </a:xfrm>
          <a:prstGeom prst="roundRect">
            <a:avLst>
              <a:gd name="adj" fmla="val 2807"/>
            </a:avLst>
          </a:prstGeom>
          <a:solidFill>
            <a:schemeClr val="bg2"/>
          </a:solidFill>
          <a:ln/>
        </p:spPr>
      </p:sp>
      <p:sp>
        <p:nvSpPr>
          <p:cNvPr id="4" name="Shape 2"/>
          <p:cNvSpPr/>
          <p:nvPr/>
        </p:nvSpPr>
        <p:spPr>
          <a:xfrm>
            <a:off x="822960" y="164592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Text 3"/>
          <p:cNvSpPr txBox="1"/>
          <p:nvPr/>
        </p:nvSpPr>
        <p:spPr>
          <a:xfrm>
            <a:off x="822960" y="2606040"/>
            <a:ext cx="2194560" cy="365760"/>
          </a:xfrm>
          <a:prstGeom prst="rect">
            <a:avLst/>
          </a:prstGeom>
          <a:noFill/>
          <a:ln/>
        </p:spPr>
        <p:txBody>
          <a:bodyPr wrap="square" lIns="0" tIns="0" rIns="0" bIns="0" rtlCol="0" anchor="t"/>
          <a:lstStyle/>
          <a:p>
            <a:pPr indent="0" marL="0">
              <a:buNone/>
            </a:pPr>
            <a:r>
              <a:rPr lang="en-US" sz="1600" b="1" dirty="0">
                <a:solidFill>
                  <a:schemeClr val="accent5"/>
                </a:solidFill>
              </a:rPr>
              <a:t>ADMIN</a:t>
            </a:r>
            <a:endParaRPr lang="en-US" sz="1600" dirty="0"/>
          </a:p>
        </p:txBody>
      </p:sp>
      <p:sp>
        <p:nvSpPr>
          <p:cNvPr id="7" name="Text 4"/>
          <p:cNvSpPr txBox="1"/>
          <p:nvPr/>
        </p:nvSpPr>
        <p:spPr>
          <a:xfrm>
            <a:off x="82296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Platform admin</a:t>
            </a:r>
            <a:endParaRPr lang="en-US" sz="1400" dirty="0"/>
          </a:p>
        </p:txBody>
      </p:sp>
      <p:sp>
        <p:nvSpPr>
          <p:cNvPr id="8" name="Text 5"/>
          <p:cNvSpPr txBox="1"/>
          <p:nvPr/>
        </p:nvSpPr>
        <p:spPr>
          <a:xfrm>
            <a:off x="82296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Users and roles</a:t>
            </a:r>
            <a:endParaRPr lang="en-US" sz="1400" dirty="0"/>
          </a:p>
          <a:p>
            <a:pPr marL="342900" indent="-342900">
              <a:spcAft>
                <a:spcPts val="400"/>
              </a:spcAft>
              <a:buSzPct val="100000"/>
              <a:buChar char="•"/>
            </a:pPr>
            <a:r>
              <a:rPr lang="en-US" sz="1400" dirty="0">
                <a:solidFill>
                  <a:schemeClr val="tx1"/>
                </a:solidFill>
              </a:rPr>
              <a:t>Every project and ticket</a:t>
            </a:r>
            <a:endParaRPr lang="en-US" sz="1400" dirty="0"/>
          </a:p>
          <a:p>
            <a:pPr marL="342900" indent="-342900">
              <a:spcAft>
                <a:spcPts val="400"/>
              </a:spcAft>
              <a:buSzPct val="100000"/>
              <a:buChar char="•"/>
            </a:pPr>
            <a:r>
              <a:rPr lang="en-US" sz="1400" dirty="0">
                <a:solidFill>
                  <a:schemeClr val="tx1"/>
                </a:solidFill>
              </a:rPr>
              <a:t>Deployment Portal</a:t>
            </a:r>
            <a:endParaRPr lang="en-US" sz="1400" dirty="0"/>
          </a:p>
        </p:txBody>
      </p:sp>
      <p:sp>
        <p:nvSpPr>
          <p:cNvPr id="9" name="role-1"/>
          <p:cNvSpPr/>
          <p:nvPr/>
        </p:nvSpPr>
        <p:spPr>
          <a:xfrm>
            <a:off x="3383280" y="1371600"/>
            <a:ext cx="2606040" cy="3657600"/>
          </a:xfrm>
          <a:prstGeom prst="roundRect">
            <a:avLst>
              <a:gd name="adj" fmla="val 2807"/>
            </a:avLst>
          </a:prstGeom>
          <a:solidFill>
            <a:schemeClr val="bg2"/>
          </a:solidFill>
          <a:ln/>
        </p:spPr>
      </p:sp>
      <p:sp>
        <p:nvSpPr>
          <p:cNvPr id="10" name="Shape 7"/>
          <p:cNvSpPr/>
          <p:nvPr/>
        </p:nvSpPr>
        <p:spPr>
          <a:xfrm>
            <a:off x="3657600" y="1645920"/>
            <a:ext cx="777240" cy="777240"/>
          </a:xfrm>
          <a:prstGeom prst="ellipse">
            <a:avLst/>
          </a:prstGeom>
          <a:solidFill>
            <a:schemeClr val="accent6"/>
          </a:solidFill>
          <a:ln/>
        </p:spPr>
      </p:sp>
      <p:pic>
        <p:nvPicPr>
          <p:cNvPr id="11" name="Image 1" descr="preencoded.png">    </p:cNvPr>
          <p:cNvPicPr>
            <a:picLocks noChangeAspect="1"/>
          </p:cNvPicPr>
          <p:nvPr/>
        </p:nvPicPr>
        <p:blipFill>
          <a:blip r:embed="rId2"/>
          <a:stretch>
            <a:fillRect/>
          </a:stretch>
        </p:blipFill>
        <p:spPr>
          <a:xfrm>
            <a:off x="3851910" y="1840230"/>
            <a:ext cx="388620" cy="388620"/>
          </a:xfrm>
          <a:prstGeom prst="rect">
            <a:avLst/>
          </a:prstGeom>
        </p:spPr>
      </p:pic>
      <p:sp>
        <p:nvSpPr>
          <p:cNvPr id="12" name="Text 8"/>
          <p:cNvSpPr txBox="1"/>
          <p:nvPr/>
        </p:nvSpPr>
        <p:spPr>
          <a:xfrm>
            <a:off x="3657600" y="2606040"/>
            <a:ext cx="2194560" cy="365760"/>
          </a:xfrm>
          <a:prstGeom prst="rect">
            <a:avLst/>
          </a:prstGeom>
          <a:noFill/>
          <a:ln/>
        </p:spPr>
        <p:txBody>
          <a:bodyPr wrap="square" lIns="0" tIns="0" rIns="0" bIns="0" rtlCol="0" anchor="t"/>
          <a:lstStyle/>
          <a:p>
            <a:pPr indent="0" marL="0">
              <a:buNone/>
            </a:pPr>
            <a:r>
              <a:rPr lang="en-US" sz="1600" b="1" dirty="0">
                <a:solidFill>
                  <a:schemeClr val="accent6"/>
                </a:solidFill>
              </a:rPr>
              <a:t>PROJECT_MANAGER</a:t>
            </a:r>
            <a:endParaRPr lang="en-US" sz="1600" dirty="0"/>
          </a:p>
        </p:txBody>
      </p:sp>
      <p:sp>
        <p:nvSpPr>
          <p:cNvPr id="13" name="Text 9"/>
          <p:cNvSpPr txBox="1"/>
          <p:nvPr/>
        </p:nvSpPr>
        <p:spPr>
          <a:xfrm>
            <a:off x="365760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Delivery lead</a:t>
            </a:r>
            <a:endParaRPr lang="en-US" sz="1400" dirty="0"/>
          </a:p>
        </p:txBody>
      </p:sp>
      <p:sp>
        <p:nvSpPr>
          <p:cNvPr id="14" name="Text 10"/>
          <p:cNvSpPr txBox="1"/>
          <p:nvPr/>
        </p:nvSpPr>
        <p:spPr>
          <a:xfrm>
            <a:off x="365760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Own projects and members</a:t>
            </a:r>
            <a:endParaRPr lang="en-US" sz="1400" dirty="0"/>
          </a:p>
          <a:p>
            <a:pPr marL="342900" indent="-342900">
              <a:spcAft>
                <a:spcPts val="400"/>
              </a:spcAft>
              <a:buSzPct val="100000"/>
              <a:buChar char="•"/>
            </a:pPr>
            <a:r>
              <a:rPr lang="en-US" sz="1400" dirty="0">
                <a:solidFill>
                  <a:schemeClr val="tx1"/>
                </a:solidFill>
              </a:rPr>
              <a:t>Assign, close, reopen</a:t>
            </a:r>
            <a:endParaRPr lang="en-US" sz="1400" dirty="0"/>
          </a:p>
          <a:p>
            <a:pPr marL="342900" indent="-342900">
              <a:spcAft>
                <a:spcPts val="400"/>
              </a:spcAft>
              <a:buSzPct val="100000"/>
              <a:buChar char="•"/>
            </a:pPr>
            <a:r>
              <a:rPr lang="en-US" sz="1400" dirty="0">
                <a:solidFill>
                  <a:schemeClr val="tx1"/>
                </a:solidFill>
              </a:rPr>
              <a:t>Reports and team metrics</a:t>
            </a:r>
            <a:endParaRPr lang="en-US" sz="1400" dirty="0"/>
          </a:p>
        </p:txBody>
      </p:sp>
      <p:sp>
        <p:nvSpPr>
          <p:cNvPr id="15" name="role-2"/>
          <p:cNvSpPr/>
          <p:nvPr/>
        </p:nvSpPr>
        <p:spPr>
          <a:xfrm>
            <a:off x="6217920" y="1371600"/>
            <a:ext cx="2606040" cy="3657600"/>
          </a:xfrm>
          <a:prstGeom prst="roundRect">
            <a:avLst>
              <a:gd name="adj" fmla="val 2807"/>
            </a:avLst>
          </a:prstGeom>
          <a:solidFill>
            <a:schemeClr val="bg2"/>
          </a:solidFill>
          <a:ln/>
        </p:spPr>
      </p:sp>
      <p:sp>
        <p:nvSpPr>
          <p:cNvPr id="16" name="Shape 12"/>
          <p:cNvSpPr/>
          <p:nvPr/>
        </p:nvSpPr>
        <p:spPr>
          <a:xfrm>
            <a:off x="6492240" y="1645920"/>
            <a:ext cx="777240" cy="77724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6686550" y="1840230"/>
            <a:ext cx="388620" cy="388620"/>
          </a:xfrm>
          <a:prstGeom prst="rect">
            <a:avLst/>
          </a:prstGeom>
        </p:spPr>
      </p:pic>
      <p:sp>
        <p:nvSpPr>
          <p:cNvPr id="18" name="Text 13"/>
          <p:cNvSpPr txBox="1"/>
          <p:nvPr/>
        </p:nvSpPr>
        <p:spPr>
          <a:xfrm>
            <a:off x="6492240" y="2606040"/>
            <a:ext cx="2194560" cy="365760"/>
          </a:xfrm>
          <a:prstGeom prst="rect">
            <a:avLst/>
          </a:prstGeom>
          <a:noFill/>
          <a:ln/>
        </p:spPr>
        <p:txBody>
          <a:bodyPr wrap="square" lIns="0" tIns="0" rIns="0" bIns="0" rtlCol="0" anchor="t"/>
          <a:lstStyle/>
          <a:p>
            <a:pPr indent="0" marL="0">
              <a:buNone/>
            </a:pPr>
            <a:r>
              <a:rPr lang="en-US" sz="1600" b="1" dirty="0">
                <a:solidFill>
                  <a:schemeClr val="accent1"/>
                </a:solidFill>
              </a:rPr>
              <a:t>DEVELOPER</a:t>
            </a:r>
            <a:endParaRPr lang="en-US" sz="1600" dirty="0"/>
          </a:p>
        </p:txBody>
      </p:sp>
      <p:sp>
        <p:nvSpPr>
          <p:cNvPr id="19" name="Text 14"/>
          <p:cNvSpPr txBox="1"/>
          <p:nvPr/>
        </p:nvSpPr>
        <p:spPr>
          <a:xfrm>
            <a:off x="649224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Engineer</a:t>
            </a:r>
            <a:endParaRPr lang="en-US" sz="1400" dirty="0"/>
          </a:p>
        </p:txBody>
      </p:sp>
      <p:sp>
        <p:nvSpPr>
          <p:cNvPr id="20" name="Text 15"/>
          <p:cNvSpPr txBox="1"/>
          <p:nvPr/>
        </p:nvSpPr>
        <p:spPr>
          <a:xfrm>
            <a:off x="649224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Tickets assigned to them</a:t>
            </a:r>
            <a:endParaRPr lang="en-US" sz="1400" dirty="0"/>
          </a:p>
          <a:p>
            <a:pPr marL="342900" indent="-342900">
              <a:spcAft>
                <a:spcPts val="400"/>
              </a:spcAft>
              <a:buSzPct val="100000"/>
              <a:buChar char="•"/>
            </a:pPr>
            <a:r>
              <a:rPr lang="en-US" sz="1400" dirty="0">
                <a:solidFill>
                  <a:schemeClr val="tx1"/>
                </a:solidFill>
              </a:rPr>
              <a:t>Move status on the board</a:t>
            </a:r>
            <a:endParaRPr lang="en-US" sz="1400" dirty="0"/>
          </a:p>
          <a:p>
            <a:pPr marL="342900" indent="-342900">
              <a:spcAft>
                <a:spcPts val="400"/>
              </a:spcAft>
              <a:buSzPct val="100000"/>
              <a:buChar char="•"/>
            </a:pPr>
            <a:r>
              <a:rPr lang="en-US" sz="1400" dirty="0">
                <a:solidFill>
                  <a:schemeClr val="tx1"/>
                </a:solidFill>
              </a:rPr>
              <a:t>Comment and discuss</a:t>
            </a:r>
            <a:endParaRPr lang="en-US" sz="1400" dirty="0"/>
          </a:p>
        </p:txBody>
      </p:sp>
      <p:sp>
        <p:nvSpPr>
          <p:cNvPr id="21" name="role-3"/>
          <p:cNvSpPr/>
          <p:nvPr/>
        </p:nvSpPr>
        <p:spPr>
          <a:xfrm>
            <a:off x="9052560" y="1371600"/>
            <a:ext cx="2606040" cy="3657600"/>
          </a:xfrm>
          <a:prstGeom prst="roundRect">
            <a:avLst>
              <a:gd name="adj" fmla="val 2807"/>
            </a:avLst>
          </a:prstGeom>
          <a:solidFill>
            <a:schemeClr val="bg2"/>
          </a:solidFill>
          <a:ln/>
        </p:spPr>
      </p:sp>
      <p:sp>
        <p:nvSpPr>
          <p:cNvPr id="22" name="Shape 17"/>
          <p:cNvSpPr/>
          <p:nvPr/>
        </p:nvSpPr>
        <p:spPr>
          <a:xfrm>
            <a:off x="9326880" y="1645920"/>
            <a:ext cx="777240" cy="777240"/>
          </a:xfrm>
          <a:prstGeom prst="ellipse">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9521190" y="1840230"/>
            <a:ext cx="388620" cy="388620"/>
          </a:xfrm>
          <a:prstGeom prst="rect">
            <a:avLst/>
          </a:prstGeom>
        </p:spPr>
      </p:pic>
      <p:sp>
        <p:nvSpPr>
          <p:cNvPr id="24" name="Text 18"/>
          <p:cNvSpPr txBox="1"/>
          <p:nvPr/>
        </p:nvSpPr>
        <p:spPr>
          <a:xfrm>
            <a:off x="9326880" y="2606040"/>
            <a:ext cx="2194560" cy="365760"/>
          </a:xfrm>
          <a:prstGeom prst="rect">
            <a:avLst/>
          </a:prstGeom>
          <a:noFill/>
          <a:ln/>
        </p:spPr>
        <p:txBody>
          <a:bodyPr wrap="square" lIns="0" tIns="0" rIns="0" bIns="0" rtlCol="0" anchor="t"/>
          <a:lstStyle/>
          <a:p>
            <a:pPr indent="0" marL="0">
              <a:buNone/>
            </a:pPr>
            <a:r>
              <a:rPr lang="en-US" sz="1600" b="1" dirty="0">
                <a:solidFill>
                  <a:schemeClr val="accent4"/>
                </a:solidFill>
              </a:rPr>
              <a:t>USER</a:t>
            </a:r>
            <a:endParaRPr lang="en-US" sz="1600" dirty="0"/>
          </a:p>
        </p:txBody>
      </p:sp>
      <p:sp>
        <p:nvSpPr>
          <p:cNvPr id="25" name="Text 19"/>
          <p:cNvSpPr txBox="1"/>
          <p:nvPr/>
        </p:nvSpPr>
        <p:spPr>
          <a:xfrm>
            <a:off x="932688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Requester</a:t>
            </a:r>
            <a:endParaRPr lang="en-US" sz="1400" dirty="0"/>
          </a:p>
        </p:txBody>
      </p:sp>
      <p:sp>
        <p:nvSpPr>
          <p:cNvPr id="26" name="Text 20"/>
          <p:cNvSpPr txBox="1"/>
          <p:nvPr/>
        </p:nvSpPr>
        <p:spPr>
          <a:xfrm>
            <a:off x="932688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Raise tickets</a:t>
            </a:r>
            <a:endParaRPr lang="en-US" sz="1400" dirty="0"/>
          </a:p>
          <a:p>
            <a:pPr marL="342900" indent="-342900">
              <a:spcAft>
                <a:spcPts val="400"/>
              </a:spcAft>
              <a:buSzPct val="100000"/>
              <a:buChar char="•"/>
            </a:pPr>
            <a:r>
              <a:rPr lang="en-US" sz="1400" dirty="0">
                <a:solidFill>
                  <a:schemeClr val="tx1"/>
                </a:solidFill>
              </a:rPr>
              <a:t>Follow their own tickets</a:t>
            </a:r>
            <a:endParaRPr lang="en-US" sz="1400" dirty="0"/>
          </a:p>
          <a:p>
            <a:pPr marL="342900" indent="-342900">
              <a:spcAft>
                <a:spcPts val="400"/>
              </a:spcAft>
              <a:buSzPct val="100000"/>
              <a:buChar char="•"/>
            </a:pPr>
            <a:r>
              <a:rPr lang="en-US" sz="1400" dirty="0">
                <a:solidFill>
                  <a:schemeClr val="tx1"/>
                </a:solidFill>
              </a:rPr>
              <a:t>Reopen within 14 days</a:t>
            </a:r>
            <a:endParaRPr lang="en-US" sz="1400" dirty="0"/>
          </a:p>
        </p:txBody>
      </p:sp>
      <p:sp>
        <p:nvSpPr>
          <p:cNvPr id="27" name="Text 21"/>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b="1" dirty="0">
                <a:solidFill>
                  <a:schemeClr val="tx2"/>
                </a:solidFill>
              </a:rPr>
              <a:t>Enforced twice: </a:t>
            </a:r>
            <a:pPr indent="0" marL="0">
              <a:buNone/>
            </a:pPr>
            <a:r>
              <a:rPr lang="en-US" sz="1500" dirty="0">
                <a:solidFill>
                  <a:schemeClr val="tx2"/>
                </a:solidFill>
              </a:rPr>
              <a:t>@PreAuthorize on every API method, row-level rules in one TicketAccessPolicy, and menus and routes built from one role map in React. A forbidden call returns 403.</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ticket lifecycle the API actually enforces</a:t>
            </a:r>
            <a:endParaRPr lang="en-US" sz="3200" dirty="0"/>
          </a:p>
        </p:txBody>
      </p:sp>
      <p:sp>
        <p:nvSpPr>
          <p:cNvPr id="3" name="Shape 1"/>
          <p:cNvSpPr/>
          <p:nvPr/>
        </p:nvSpPr>
        <p:spPr>
          <a:xfrm>
            <a:off x="822960" y="1463040"/>
            <a:ext cx="2103120" cy="685800"/>
          </a:xfrm>
          <a:prstGeom prst="roundRect">
            <a:avLst>
              <a:gd name="adj" fmla="val 8000"/>
            </a:avLst>
          </a:prstGeom>
          <a:solidFill>
            <a:schemeClr val="tx2"/>
          </a:solidFill>
          <a:ln/>
        </p:spPr>
      </p:sp>
      <p:sp>
        <p:nvSpPr>
          <p:cNvPr id="4" name="Text 2"/>
          <p:cNvSpPr txBox="1"/>
          <p:nvPr/>
        </p:nvSpPr>
        <p:spPr>
          <a:xfrm>
            <a:off x="82296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OPEN</a:t>
            </a:r>
            <a:endParaRPr lang="en-US" sz="1600" dirty="0"/>
          </a:p>
        </p:txBody>
      </p:sp>
      <p:sp>
        <p:nvSpPr>
          <p:cNvPr id="5" name="Shape 3"/>
          <p:cNvSpPr/>
          <p:nvPr/>
        </p:nvSpPr>
        <p:spPr>
          <a:xfrm>
            <a:off x="2971800" y="1805940"/>
            <a:ext cx="594360" cy="914"/>
          </a:xfrm>
          <a:prstGeom prst="line">
            <a:avLst/>
          </a:prstGeom>
          <a:noFill/>
          <a:ln w="25400">
            <a:solidFill>
              <a:schemeClr val="tx2"/>
            </a:solidFill>
            <a:prstDash val="solid"/>
            <a:tailEnd type="triangle"/>
          </a:ln>
        </p:spPr>
      </p:sp>
      <p:sp>
        <p:nvSpPr>
          <p:cNvPr id="6" name="Shape 4"/>
          <p:cNvSpPr/>
          <p:nvPr/>
        </p:nvSpPr>
        <p:spPr>
          <a:xfrm>
            <a:off x="3611880" y="1463040"/>
            <a:ext cx="2103120" cy="685800"/>
          </a:xfrm>
          <a:prstGeom prst="roundRect">
            <a:avLst>
              <a:gd name="adj" fmla="val 8000"/>
            </a:avLst>
          </a:prstGeom>
          <a:solidFill>
            <a:schemeClr val="accent1"/>
          </a:solidFill>
          <a:ln/>
        </p:spPr>
      </p:sp>
      <p:sp>
        <p:nvSpPr>
          <p:cNvPr id="7" name="Text 5"/>
          <p:cNvSpPr txBox="1"/>
          <p:nvPr/>
        </p:nvSpPr>
        <p:spPr>
          <a:xfrm>
            <a:off x="361188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PROGRESS</a:t>
            </a:r>
            <a:endParaRPr lang="en-US" sz="1600" dirty="0"/>
          </a:p>
        </p:txBody>
      </p:sp>
      <p:sp>
        <p:nvSpPr>
          <p:cNvPr id="8" name="Shape 6"/>
          <p:cNvSpPr/>
          <p:nvPr/>
        </p:nvSpPr>
        <p:spPr>
          <a:xfrm>
            <a:off x="5760720" y="1805940"/>
            <a:ext cx="594360" cy="914"/>
          </a:xfrm>
          <a:prstGeom prst="line">
            <a:avLst/>
          </a:prstGeom>
          <a:noFill/>
          <a:ln w="25400">
            <a:solidFill>
              <a:schemeClr val="tx2"/>
            </a:solidFill>
            <a:prstDash val="solid"/>
            <a:tailEnd type="triangle"/>
          </a:ln>
        </p:spPr>
      </p:sp>
      <p:sp>
        <p:nvSpPr>
          <p:cNvPr id="9" name="Shape 7"/>
          <p:cNvSpPr/>
          <p:nvPr/>
        </p:nvSpPr>
        <p:spPr>
          <a:xfrm>
            <a:off x="6400800" y="1463040"/>
            <a:ext cx="2103120" cy="685800"/>
          </a:xfrm>
          <a:prstGeom prst="roundRect">
            <a:avLst>
              <a:gd name="adj" fmla="val 8000"/>
            </a:avLst>
          </a:prstGeom>
          <a:solidFill>
            <a:schemeClr val="accent6"/>
          </a:solidFill>
          <a:ln/>
        </p:spPr>
      </p:sp>
      <p:sp>
        <p:nvSpPr>
          <p:cNvPr id="10" name="Text 8"/>
          <p:cNvSpPr txBox="1"/>
          <p:nvPr/>
        </p:nvSpPr>
        <p:spPr>
          <a:xfrm>
            <a:off x="640080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REVIEW</a:t>
            </a:r>
            <a:endParaRPr lang="en-US" sz="1600" dirty="0"/>
          </a:p>
        </p:txBody>
      </p:sp>
      <p:sp>
        <p:nvSpPr>
          <p:cNvPr id="11" name="Shape 9"/>
          <p:cNvSpPr/>
          <p:nvPr/>
        </p:nvSpPr>
        <p:spPr>
          <a:xfrm>
            <a:off x="8549640" y="1805940"/>
            <a:ext cx="594360" cy="914"/>
          </a:xfrm>
          <a:prstGeom prst="line">
            <a:avLst/>
          </a:prstGeom>
          <a:noFill/>
          <a:ln w="25400">
            <a:solidFill>
              <a:schemeClr val="tx2"/>
            </a:solidFill>
            <a:prstDash val="solid"/>
            <a:tailEnd type="triangle"/>
          </a:ln>
        </p:spPr>
      </p:sp>
      <p:sp>
        <p:nvSpPr>
          <p:cNvPr id="12" name="Shape 10"/>
          <p:cNvSpPr/>
          <p:nvPr/>
        </p:nvSpPr>
        <p:spPr>
          <a:xfrm>
            <a:off x="9189720" y="1463040"/>
            <a:ext cx="2103120" cy="685800"/>
          </a:xfrm>
          <a:prstGeom prst="roundRect">
            <a:avLst>
              <a:gd name="adj" fmla="val 8000"/>
            </a:avLst>
          </a:prstGeom>
          <a:solidFill>
            <a:schemeClr val="accent4"/>
          </a:solidFill>
          <a:ln/>
        </p:spPr>
      </p:sp>
      <p:sp>
        <p:nvSpPr>
          <p:cNvPr id="13" name="Text 11"/>
          <p:cNvSpPr txBox="1"/>
          <p:nvPr/>
        </p:nvSpPr>
        <p:spPr>
          <a:xfrm>
            <a:off x="918972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CLOSED</a:t>
            </a:r>
            <a:endParaRPr lang="en-US" sz="1600" dirty="0"/>
          </a:p>
        </p:txBody>
      </p:sp>
      <p:sp>
        <p:nvSpPr>
          <p:cNvPr id="14" name="Shape 12"/>
          <p:cNvSpPr/>
          <p:nvPr/>
        </p:nvSpPr>
        <p:spPr>
          <a:xfrm>
            <a:off x="1874520" y="2194560"/>
            <a:ext cx="914" cy="411480"/>
          </a:xfrm>
          <a:prstGeom prst="line">
            <a:avLst/>
          </a:prstGeom>
          <a:noFill/>
          <a:ln w="19050">
            <a:solidFill>
              <a:schemeClr val="accent5"/>
            </a:solidFill>
            <a:prstDash val="solid"/>
            <a:headEnd type="triangle"/>
          </a:ln>
        </p:spPr>
      </p:sp>
      <p:sp>
        <p:nvSpPr>
          <p:cNvPr id="15" name="Shape 13"/>
          <p:cNvSpPr/>
          <p:nvPr/>
        </p:nvSpPr>
        <p:spPr>
          <a:xfrm>
            <a:off x="1874520" y="2606040"/>
            <a:ext cx="8366760" cy="914"/>
          </a:xfrm>
          <a:prstGeom prst="line">
            <a:avLst/>
          </a:prstGeom>
          <a:noFill/>
          <a:ln w="19050">
            <a:solidFill>
              <a:schemeClr val="accent5"/>
            </a:solidFill>
            <a:prstDash val="solid"/>
          </a:ln>
        </p:spPr>
      </p:sp>
      <p:sp>
        <p:nvSpPr>
          <p:cNvPr id="16" name="Shape 14"/>
          <p:cNvSpPr/>
          <p:nvPr/>
        </p:nvSpPr>
        <p:spPr>
          <a:xfrm>
            <a:off x="10241280" y="2194560"/>
            <a:ext cx="914" cy="411480"/>
          </a:xfrm>
          <a:prstGeom prst="line">
            <a:avLst/>
          </a:prstGeom>
          <a:noFill/>
          <a:ln w="19050">
            <a:solidFill>
              <a:schemeClr val="accent5"/>
            </a:solidFill>
            <a:prstDash val="solid"/>
          </a:ln>
        </p:spPr>
      </p:sp>
      <p:sp>
        <p:nvSpPr>
          <p:cNvPr id="17" name="Text 15"/>
          <p:cNvSpPr txBox="1"/>
          <p:nvPr/>
        </p:nvSpPr>
        <p:spPr>
          <a:xfrm>
            <a:off x="4206240" y="2697480"/>
            <a:ext cx="3840480" cy="320040"/>
          </a:xfrm>
          <a:prstGeom prst="rect">
            <a:avLst/>
          </a:prstGeom>
          <a:noFill/>
          <a:ln/>
        </p:spPr>
        <p:txBody>
          <a:bodyPr wrap="square" lIns="0" tIns="0" rIns="0" bIns="0" rtlCol="0" anchor="t"/>
          <a:lstStyle/>
          <a:p>
            <a:pPr algn="ctr" indent="0" marL="0">
              <a:buNone/>
            </a:pPr>
            <a:r>
              <a:rPr lang="en-US" sz="1300" dirty="0">
                <a:solidFill>
                  <a:schemeClr val="accent5"/>
                </a:solidFill>
              </a:rPr>
              <a:t>Reopen: PM, admin or the reporter</a:t>
            </a:r>
            <a:endParaRPr lang="en-US" sz="1300" dirty="0"/>
          </a:p>
        </p:txBody>
      </p:sp>
      <p:sp>
        <p:nvSpPr>
          <p:cNvPr id="18" name="Text 16"/>
          <p:cNvSpPr txBox="1"/>
          <p:nvPr/>
        </p:nvSpPr>
        <p:spPr>
          <a:xfrm>
            <a:off x="822960" y="3108960"/>
            <a:ext cx="10515600" cy="365760"/>
          </a:xfrm>
          <a:prstGeom prst="rect">
            <a:avLst/>
          </a:prstGeom>
          <a:noFill/>
          <a:ln/>
        </p:spPr>
        <p:txBody>
          <a:bodyPr wrap="square" lIns="0" tIns="0" rIns="0" bIns="0" rtlCol="0" anchor="t"/>
          <a:lstStyle/>
          <a:p>
            <a:pPr algn="ctr" indent="0" marL="0">
              <a:buNone/>
            </a:pPr>
            <a:r>
              <a:rPr lang="en-US" sz="1400" i="1" dirty="0">
                <a:solidFill>
                  <a:schemeClr val="tx2"/>
                </a:solidFill>
              </a:rPr>
              <a:t>Illegal moves are rejected with 409 Conflict  ·  two editors can't overwrite each other (@Version)</a:t>
            </a:r>
            <a:endParaRPr lang="en-US" sz="1400" dirty="0"/>
          </a:p>
        </p:txBody>
      </p:sp>
      <p:sp>
        <p:nvSpPr>
          <p:cNvPr id="19" name="Shape 17"/>
          <p:cNvSpPr/>
          <p:nvPr/>
        </p:nvSpPr>
        <p:spPr>
          <a:xfrm>
            <a:off x="548640" y="3794760"/>
            <a:ext cx="3520440" cy="960120"/>
          </a:xfrm>
          <a:prstGeom prst="roundRect">
            <a:avLst>
              <a:gd name="adj" fmla="val 7619"/>
            </a:avLst>
          </a:prstGeom>
          <a:solidFill>
            <a:schemeClr val="bg2"/>
          </a:solidFill>
          <a:ln/>
        </p:spPr>
      </p:sp>
      <p:pic>
        <p:nvPicPr>
          <p:cNvPr id="20" name="Image 0" descr="preencoded.png">    </p:cNvPr>
          <p:cNvPicPr>
            <a:picLocks noChangeAspect="1"/>
          </p:cNvPicPr>
          <p:nvPr/>
        </p:nvPicPr>
        <p:blipFill>
          <a:blip r:embed="rId1"/>
          <a:stretch>
            <a:fillRect/>
          </a:stretch>
        </p:blipFill>
        <p:spPr>
          <a:xfrm>
            <a:off x="777240" y="4069080"/>
            <a:ext cx="411480" cy="411480"/>
          </a:xfrm>
          <a:prstGeom prst="rect">
            <a:avLst/>
          </a:prstGeom>
        </p:spPr>
      </p:pic>
      <p:sp>
        <p:nvSpPr>
          <p:cNvPr id="21" name="Text 18"/>
          <p:cNvSpPr txBox="1"/>
          <p:nvPr/>
        </p:nvSpPr>
        <p:spPr>
          <a:xfrm>
            <a:off x="137160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Kanban board</a:t>
            </a:r>
            <a:endParaRPr lang="en-US" sz="1500" dirty="0"/>
          </a:p>
        </p:txBody>
      </p:sp>
      <p:sp>
        <p:nvSpPr>
          <p:cNvPr id="22" name="Text 19"/>
          <p:cNvSpPr txBox="1"/>
          <p:nvPr/>
        </p:nvSpPr>
        <p:spPr>
          <a:xfrm>
            <a:off x="137160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Drag a card to change status</a:t>
            </a:r>
            <a:endParaRPr lang="en-US" sz="1300" dirty="0"/>
          </a:p>
        </p:txBody>
      </p:sp>
      <p:sp>
        <p:nvSpPr>
          <p:cNvPr id="23" name="Shape 20"/>
          <p:cNvSpPr/>
          <p:nvPr/>
        </p:nvSpPr>
        <p:spPr>
          <a:xfrm>
            <a:off x="4343400" y="3794760"/>
            <a:ext cx="3520440" cy="960120"/>
          </a:xfrm>
          <a:prstGeom prst="roundRect">
            <a:avLst>
              <a:gd name="adj" fmla="val 7619"/>
            </a:avLst>
          </a:prstGeom>
          <a:solidFill>
            <a:schemeClr val="bg2"/>
          </a:solidFill>
          <a:ln/>
        </p:spPr>
      </p:sp>
      <p:pic>
        <p:nvPicPr>
          <p:cNvPr id="24" name="Image 1" descr="preencoded.png">    </p:cNvPr>
          <p:cNvPicPr>
            <a:picLocks noChangeAspect="1"/>
          </p:cNvPicPr>
          <p:nvPr/>
        </p:nvPicPr>
        <p:blipFill>
          <a:blip r:embed="rId2"/>
          <a:stretch>
            <a:fillRect/>
          </a:stretch>
        </p:blipFill>
        <p:spPr>
          <a:xfrm>
            <a:off x="4572000" y="4069080"/>
            <a:ext cx="411480" cy="411480"/>
          </a:xfrm>
          <a:prstGeom prst="rect">
            <a:avLst/>
          </a:prstGeom>
        </p:spPr>
      </p:pic>
      <p:sp>
        <p:nvSpPr>
          <p:cNvPr id="25" name="Text 21"/>
          <p:cNvSpPr txBox="1"/>
          <p:nvPr/>
        </p:nvSpPr>
        <p:spPr>
          <a:xfrm>
            <a:off x="516636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History and activity</a:t>
            </a:r>
            <a:endParaRPr lang="en-US" sz="1500" dirty="0"/>
          </a:p>
        </p:txBody>
      </p:sp>
      <p:sp>
        <p:nvSpPr>
          <p:cNvPr id="26" name="Text 22"/>
          <p:cNvSpPr txBox="1"/>
          <p:nvPr/>
        </p:nvSpPr>
        <p:spPr>
          <a:xfrm>
            <a:off x="516636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Who changed what, and when</a:t>
            </a:r>
            <a:endParaRPr lang="en-US" sz="1300" dirty="0"/>
          </a:p>
        </p:txBody>
      </p:sp>
      <p:sp>
        <p:nvSpPr>
          <p:cNvPr id="27" name="Shape 23"/>
          <p:cNvSpPr/>
          <p:nvPr/>
        </p:nvSpPr>
        <p:spPr>
          <a:xfrm>
            <a:off x="8138160" y="3794760"/>
            <a:ext cx="3520440" cy="960120"/>
          </a:xfrm>
          <a:prstGeom prst="roundRect">
            <a:avLst>
              <a:gd name="adj" fmla="val 7619"/>
            </a:avLst>
          </a:prstGeom>
          <a:solidFill>
            <a:schemeClr val="bg2"/>
          </a:solidFill>
          <a:ln/>
        </p:spPr>
      </p:sp>
      <p:pic>
        <p:nvPicPr>
          <p:cNvPr id="28" name="Image 2" descr="preencoded.png">    </p:cNvPr>
          <p:cNvPicPr>
            <a:picLocks noChangeAspect="1"/>
          </p:cNvPicPr>
          <p:nvPr/>
        </p:nvPicPr>
        <p:blipFill>
          <a:blip r:embed="rId3"/>
          <a:stretch>
            <a:fillRect/>
          </a:stretch>
        </p:blipFill>
        <p:spPr>
          <a:xfrm>
            <a:off x="8366760" y="4069080"/>
            <a:ext cx="411480" cy="411480"/>
          </a:xfrm>
          <a:prstGeom prst="rect">
            <a:avLst/>
          </a:prstGeom>
        </p:spPr>
      </p:pic>
      <p:sp>
        <p:nvSpPr>
          <p:cNvPr id="29" name="Text 24"/>
          <p:cNvSpPr txBox="1"/>
          <p:nvPr/>
        </p:nvSpPr>
        <p:spPr>
          <a:xfrm>
            <a:off x="896112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Search and filters</a:t>
            </a:r>
            <a:endParaRPr lang="en-US" sz="1500" dirty="0"/>
          </a:p>
        </p:txBody>
      </p:sp>
      <p:sp>
        <p:nvSpPr>
          <p:cNvPr id="30" name="Text 25"/>
          <p:cNvSpPr txBox="1"/>
          <p:nvPr/>
        </p:nvSpPr>
        <p:spPr>
          <a:xfrm>
            <a:off x="896112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Project, status, priority, assignee</a:t>
            </a:r>
            <a:endParaRPr lang="en-US" sz="1300" dirty="0"/>
          </a:p>
        </p:txBody>
      </p:sp>
      <p:sp>
        <p:nvSpPr>
          <p:cNvPr id="31" name="Shape 26"/>
          <p:cNvSpPr/>
          <p:nvPr/>
        </p:nvSpPr>
        <p:spPr>
          <a:xfrm>
            <a:off x="548640" y="4937760"/>
            <a:ext cx="3520440" cy="960120"/>
          </a:xfrm>
          <a:prstGeom prst="roundRect">
            <a:avLst>
              <a:gd name="adj" fmla="val 7619"/>
            </a:avLst>
          </a:prstGeom>
          <a:solidFill>
            <a:schemeClr val="bg2"/>
          </a:solidFill>
          <a:ln/>
        </p:spPr>
      </p:sp>
      <p:pic>
        <p:nvPicPr>
          <p:cNvPr id="32" name="Image 3" descr="preencoded.png">    </p:cNvPr>
          <p:cNvPicPr>
            <a:picLocks noChangeAspect="1"/>
          </p:cNvPicPr>
          <p:nvPr/>
        </p:nvPicPr>
        <p:blipFill>
          <a:blip r:embed="rId4"/>
          <a:stretch>
            <a:fillRect/>
          </a:stretch>
        </p:blipFill>
        <p:spPr>
          <a:xfrm>
            <a:off x="777240" y="5212080"/>
            <a:ext cx="411480" cy="411480"/>
          </a:xfrm>
          <a:prstGeom prst="rect">
            <a:avLst/>
          </a:prstGeom>
        </p:spPr>
      </p:pic>
      <p:sp>
        <p:nvSpPr>
          <p:cNvPr id="33" name="Text 27"/>
          <p:cNvSpPr txBox="1"/>
          <p:nvPr/>
        </p:nvSpPr>
        <p:spPr>
          <a:xfrm>
            <a:off x="137160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Dashboard and reports</a:t>
            </a:r>
            <a:endParaRPr lang="en-US" sz="1500" dirty="0"/>
          </a:p>
        </p:txBody>
      </p:sp>
      <p:sp>
        <p:nvSpPr>
          <p:cNvPr id="34" name="Text 28"/>
          <p:cNvSpPr txBox="1"/>
          <p:nvPr/>
        </p:nvSpPr>
        <p:spPr>
          <a:xfrm>
            <a:off x="137160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Charts and team productivity</a:t>
            </a:r>
            <a:endParaRPr lang="en-US" sz="1300" dirty="0"/>
          </a:p>
        </p:txBody>
      </p:sp>
      <p:sp>
        <p:nvSpPr>
          <p:cNvPr id="35" name="Shape 29"/>
          <p:cNvSpPr/>
          <p:nvPr/>
        </p:nvSpPr>
        <p:spPr>
          <a:xfrm>
            <a:off x="4343400" y="4937760"/>
            <a:ext cx="3520440" cy="960120"/>
          </a:xfrm>
          <a:prstGeom prst="roundRect">
            <a:avLst>
              <a:gd name="adj" fmla="val 7619"/>
            </a:avLst>
          </a:prstGeom>
          <a:solidFill>
            <a:schemeClr val="bg2"/>
          </a:solidFill>
          <a:ln/>
        </p:spPr>
      </p:sp>
      <p:pic>
        <p:nvPicPr>
          <p:cNvPr id="36" name="Image 4" descr="preencoded.png">    </p:cNvPr>
          <p:cNvPicPr>
            <a:picLocks noChangeAspect="1"/>
          </p:cNvPicPr>
          <p:nvPr/>
        </p:nvPicPr>
        <p:blipFill>
          <a:blip r:embed="rId5"/>
          <a:stretch>
            <a:fillRect/>
          </a:stretch>
        </p:blipFill>
        <p:spPr>
          <a:xfrm>
            <a:off x="4572000" y="5212080"/>
            <a:ext cx="411480" cy="411480"/>
          </a:xfrm>
          <a:prstGeom prst="rect">
            <a:avLst/>
          </a:prstGeom>
        </p:spPr>
      </p:pic>
      <p:sp>
        <p:nvSpPr>
          <p:cNvPr id="37" name="Text 30"/>
          <p:cNvSpPr txBox="1"/>
          <p:nvPr/>
        </p:nvSpPr>
        <p:spPr>
          <a:xfrm>
            <a:off x="516636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Comments</a:t>
            </a:r>
            <a:endParaRPr lang="en-US" sz="1500" dirty="0"/>
          </a:p>
        </p:txBody>
      </p:sp>
      <p:sp>
        <p:nvSpPr>
          <p:cNvPr id="38" name="Text 31"/>
          <p:cNvSpPr txBox="1"/>
          <p:nvPr/>
        </p:nvSpPr>
        <p:spPr>
          <a:xfrm>
            <a:off x="516636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Edit your own; soft delete</a:t>
            </a:r>
            <a:endParaRPr lang="en-US" sz="1300" dirty="0"/>
          </a:p>
        </p:txBody>
      </p:sp>
      <p:sp>
        <p:nvSpPr>
          <p:cNvPr id="39" name="Shape 32"/>
          <p:cNvSpPr/>
          <p:nvPr/>
        </p:nvSpPr>
        <p:spPr>
          <a:xfrm>
            <a:off x="8138160" y="4937760"/>
            <a:ext cx="3520440" cy="960120"/>
          </a:xfrm>
          <a:prstGeom prst="roundRect">
            <a:avLst>
              <a:gd name="adj" fmla="val 7619"/>
            </a:avLst>
          </a:prstGeom>
          <a:solidFill>
            <a:schemeClr val="bg2"/>
          </a:solidFill>
          <a:ln/>
        </p:spPr>
      </p:sp>
      <p:pic>
        <p:nvPicPr>
          <p:cNvPr id="40" name="Image 5" descr="preencoded.png">    </p:cNvPr>
          <p:cNvPicPr>
            <a:picLocks noChangeAspect="1"/>
          </p:cNvPicPr>
          <p:nvPr/>
        </p:nvPicPr>
        <p:blipFill>
          <a:blip r:embed="rId6"/>
          <a:stretch>
            <a:fillRect/>
          </a:stretch>
        </p:blipFill>
        <p:spPr>
          <a:xfrm>
            <a:off x="8366760" y="5212080"/>
            <a:ext cx="411480" cy="411480"/>
          </a:xfrm>
          <a:prstGeom prst="rect">
            <a:avLst/>
          </a:prstGeom>
        </p:spPr>
      </p:pic>
      <p:sp>
        <p:nvSpPr>
          <p:cNvPr id="41" name="Text 33"/>
          <p:cNvSpPr txBox="1"/>
          <p:nvPr/>
        </p:nvSpPr>
        <p:spPr>
          <a:xfrm>
            <a:off x="896112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Audit-friendly data</a:t>
            </a:r>
            <a:endParaRPr lang="en-US" sz="1500" dirty="0"/>
          </a:p>
        </p:txBody>
      </p:sp>
      <p:sp>
        <p:nvSpPr>
          <p:cNvPr id="42" name="Text 34"/>
          <p:cNvSpPr txBox="1"/>
          <p:nvPr/>
        </p:nvSpPr>
        <p:spPr>
          <a:xfrm>
            <a:off x="896112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Flyway schema, UTC, soft delete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Technology stack</a:t>
            </a:r>
            <a:endParaRPr lang="en-US" sz="3200" dirty="0"/>
          </a:p>
        </p:txBody>
      </p:sp>
      <p:sp>
        <p:nvSpPr>
          <p:cNvPr id="3" name="Shape 1"/>
          <p:cNvSpPr/>
          <p:nvPr/>
        </p:nvSpPr>
        <p:spPr>
          <a:xfrm>
            <a:off x="548640" y="1325880"/>
            <a:ext cx="5440680" cy="1024128"/>
          </a:xfrm>
          <a:prstGeom prst="roundRect">
            <a:avLst>
              <a:gd name="adj" fmla="val 7143"/>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22960" y="1591056"/>
            <a:ext cx="502920" cy="502920"/>
          </a:xfrm>
          <a:prstGeom prst="rect">
            <a:avLst/>
          </a:prstGeom>
        </p:spPr>
      </p:pic>
      <p:sp>
        <p:nvSpPr>
          <p:cNvPr id="5" name="Text 2"/>
          <p:cNvSpPr txBox="1"/>
          <p:nvPr/>
        </p:nvSpPr>
        <p:spPr>
          <a:xfrm>
            <a:off x="155448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Frontend</a:t>
            </a:r>
            <a:endParaRPr lang="en-US" sz="1600" dirty="0"/>
          </a:p>
        </p:txBody>
      </p:sp>
      <p:sp>
        <p:nvSpPr>
          <p:cNvPr id="6" name="Text 3"/>
          <p:cNvSpPr txBox="1"/>
          <p:nvPr/>
        </p:nvSpPr>
        <p:spPr>
          <a:xfrm>
            <a:off x="155448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React 19, TypeScript, Vite, Redux Toolkit + RTK Query, MUI 7</a:t>
            </a:r>
            <a:endParaRPr lang="en-US" sz="1300" dirty="0"/>
          </a:p>
        </p:txBody>
      </p:sp>
      <p:sp>
        <p:nvSpPr>
          <p:cNvPr id="7" name="Shape 4"/>
          <p:cNvSpPr/>
          <p:nvPr/>
        </p:nvSpPr>
        <p:spPr>
          <a:xfrm>
            <a:off x="6172200" y="1325880"/>
            <a:ext cx="5440680" cy="1024128"/>
          </a:xfrm>
          <a:prstGeom prst="roundRect">
            <a:avLst>
              <a:gd name="adj" fmla="val 7143"/>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46520" y="1591056"/>
            <a:ext cx="502920" cy="502920"/>
          </a:xfrm>
          <a:prstGeom prst="rect">
            <a:avLst/>
          </a:prstGeom>
        </p:spPr>
      </p:pic>
      <p:sp>
        <p:nvSpPr>
          <p:cNvPr id="9" name="Text 5"/>
          <p:cNvSpPr txBox="1"/>
          <p:nvPr/>
        </p:nvSpPr>
        <p:spPr>
          <a:xfrm>
            <a:off x="717804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Backend</a:t>
            </a:r>
            <a:endParaRPr lang="en-US" sz="1600" dirty="0"/>
          </a:p>
        </p:txBody>
      </p:sp>
      <p:sp>
        <p:nvSpPr>
          <p:cNvPr id="10" name="Text 6"/>
          <p:cNvSpPr txBox="1"/>
          <p:nvPr/>
        </p:nvSpPr>
        <p:spPr>
          <a:xfrm>
            <a:off x="717804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Java 21, Spring Boot 3.5, Spring Security, JPA, MapStruct, Flyway</a:t>
            </a:r>
            <a:endParaRPr lang="en-US" sz="1300" dirty="0"/>
          </a:p>
        </p:txBody>
      </p:sp>
      <p:sp>
        <p:nvSpPr>
          <p:cNvPr id="11" name="Shape 7"/>
          <p:cNvSpPr/>
          <p:nvPr/>
        </p:nvSpPr>
        <p:spPr>
          <a:xfrm>
            <a:off x="548640" y="2532888"/>
            <a:ext cx="5440680" cy="1024128"/>
          </a:xfrm>
          <a:prstGeom prst="roundRect">
            <a:avLst>
              <a:gd name="adj" fmla="val 7143"/>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2798064"/>
            <a:ext cx="502920" cy="502920"/>
          </a:xfrm>
          <a:prstGeom prst="rect">
            <a:avLst/>
          </a:prstGeom>
        </p:spPr>
      </p:pic>
      <p:sp>
        <p:nvSpPr>
          <p:cNvPr id="13" name="Text 8"/>
          <p:cNvSpPr txBox="1"/>
          <p:nvPr/>
        </p:nvSpPr>
        <p:spPr>
          <a:xfrm>
            <a:off x="155448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Database</a:t>
            </a:r>
            <a:endParaRPr lang="en-US" sz="1600" dirty="0"/>
          </a:p>
        </p:txBody>
      </p:sp>
      <p:sp>
        <p:nvSpPr>
          <p:cNvPr id="14" name="Text 9"/>
          <p:cNvSpPr txBox="1"/>
          <p:nvPr/>
        </p:nvSpPr>
        <p:spPr>
          <a:xfrm>
            <a:off x="155448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MySQL 8: Docker locally, Amazon RDS, Azure MySQL Flexible</a:t>
            </a:r>
            <a:endParaRPr lang="en-US" sz="1300" dirty="0"/>
          </a:p>
        </p:txBody>
      </p:sp>
      <p:sp>
        <p:nvSpPr>
          <p:cNvPr id="15" name="Shape 10"/>
          <p:cNvSpPr/>
          <p:nvPr/>
        </p:nvSpPr>
        <p:spPr>
          <a:xfrm>
            <a:off x="6172200" y="2532888"/>
            <a:ext cx="5440680" cy="1024128"/>
          </a:xfrm>
          <a:prstGeom prst="roundRect">
            <a:avLst>
              <a:gd name="adj" fmla="val 7143"/>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46520" y="2798064"/>
            <a:ext cx="502920" cy="502920"/>
          </a:xfrm>
          <a:prstGeom prst="rect">
            <a:avLst/>
          </a:prstGeom>
        </p:spPr>
      </p:pic>
      <p:sp>
        <p:nvSpPr>
          <p:cNvPr id="17" name="Text 11"/>
          <p:cNvSpPr txBox="1"/>
          <p:nvPr/>
        </p:nvSpPr>
        <p:spPr>
          <a:xfrm>
            <a:off x="717804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Containers</a:t>
            </a:r>
            <a:endParaRPr lang="en-US" sz="1600" dirty="0"/>
          </a:p>
        </p:txBody>
      </p:sp>
      <p:sp>
        <p:nvSpPr>
          <p:cNvPr id="18" name="Text 12"/>
          <p:cNvSpPr txBox="1"/>
          <p:nvPr/>
        </p:nvSpPr>
        <p:spPr>
          <a:xfrm>
            <a:off x="717804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Multi-stage Docker builds; non-root, read-only file system</a:t>
            </a:r>
            <a:endParaRPr lang="en-US" sz="1300" dirty="0"/>
          </a:p>
        </p:txBody>
      </p:sp>
      <p:sp>
        <p:nvSpPr>
          <p:cNvPr id="19" name="Shape 13"/>
          <p:cNvSpPr/>
          <p:nvPr/>
        </p:nvSpPr>
        <p:spPr>
          <a:xfrm>
            <a:off x="548640" y="3739896"/>
            <a:ext cx="5440680" cy="1024128"/>
          </a:xfrm>
          <a:prstGeom prst="roundRect">
            <a:avLst>
              <a:gd name="adj" fmla="val 7143"/>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822960" y="4005072"/>
            <a:ext cx="502920" cy="502920"/>
          </a:xfrm>
          <a:prstGeom prst="rect">
            <a:avLst/>
          </a:prstGeom>
        </p:spPr>
      </p:pic>
      <p:sp>
        <p:nvSpPr>
          <p:cNvPr id="21" name="Text 14"/>
          <p:cNvSpPr txBox="1"/>
          <p:nvPr/>
        </p:nvSpPr>
        <p:spPr>
          <a:xfrm>
            <a:off x="155448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Orchestration</a:t>
            </a:r>
            <a:endParaRPr lang="en-US" sz="1600" dirty="0"/>
          </a:p>
        </p:txBody>
      </p:sp>
      <p:sp>
        <p:nvSpPr>
          <p:cNvPr id="22" name="Text 15"/>
          <p:cNvSpPr txBox="1"/>
          <p:nvPr/>
        </p:nvSpPr>
        <p:spPr>
          <a:xfrm>
            <a:off x="155448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Kubernetes 1.33 on kind, EKS and AKS; Kustomize overlays</a:t>
            </a:r>
            <a:endParaRPr lang="en-US" sz="1300" dirty="0"/>
          </a:p>
        </p:txBody>
      </p:sp>
      <p:sp>
        <p:nvSpPr>
          <p:cNvPr id="23" name="Shape 16"/>
          <p:cNvSpPr/>
          <p:nvPr/>
        </p:nvSpPr>
        <p:spPr>
          <a:xfrm>
            <a:off x="6172200" y="3739896"/>
            <a:ext cx="5440680" cy="1024128"/>
          </a:xfrm>
          <a:prstGeom prst="roundRect">
            <a:avLst>
              <a:gd name="adj" fmla="val 7143"/>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6446520" y="4005072"/>
            <a:ext cx="502920" cy="502920"/>
          </a:xfrm>
          <a:prstGeom prst="rect">
            <a:avLst/>
          </a:prstGeom>
        </p:spPr>
      </p:pic>
      <p:sp>
        <p:nvSpPr>
          <p:cNvPr id="25" name="Text 17"/>
          <p:cNvSpPr txBox="1"/>
          <p:nvPr/>
        </p:nvSpPr>
        <p:spPr>
          <a:xfrm>
            <a:off x="717804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Infrastructure as code</a:t>
            </a:r>
            <a:endParaRPr lang="en-US" sz="1600" dirty="0"/>
          </a:p>
        </p:txBody>
      </p:sp>
      <p:sp>
        <p:nvSpPr>
          <p:cNvPr id="26" name="Text 18"/>
          <p:cNvSpPr txBox="1"/>
          <p:nvPr/>
        </p:nvSpPr>
        <p:spPr>
          <a:xfrm>
            <a:off x="717804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OpenTofu 1.10; remote state in S3 and Azure Storage</a:t>
            </a:r>
            <a:endParaRPr lang="en-US" sz="1300" dirty="0"/>
          </a:p>
        </p:txBody>
      </p:sp>
      <p:sp>
        <p:nvSpPr>
          <p:cNvPr id="27" name="Shape 19"/>
          <p:cNvSpPr/>
          <p:nvPr/>
        </p:nvSpPr>
        <p:spPr>
          <a:xfrm>
            <a:off x="548640" y="4946904"/>
            <a:ext cx="5440680" cy="1024128"/>
          </a:xfrm>
          <a:prstGeom prst="roundRect">
            <a:avLst>
              <a:gd name="adj" fmla="val 7143"/>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822960" y="5212080"/>
            <a:ext cx="502920" cy="502920"/>
          </a:xfrm>
          <a:prstGeom prst="rect">
            <a:avLst/>
          </a:prstGeom>
        </p:spPr>
      </p:pic>
      <p:sp>
        <p:nvSpPr>
          <p:cNvPr id="29" name="Text 20"/>
          <p:cNvSpPr txBox="1"/>
          <p:nvPr/>
        </p:nvSpPr>
        <p:spPr>
          <a:xfrm>
            <a:off x="155448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CI/CD</a:t>
            </a:r>
            <a:endParaRPr lang="en-US" sz="1600" dirty="0"/>
          </a:p>
        </p:txBody>
      </p:sp>
      <p:sp>
        <p:nvSpPr>
          <p:cNvPr id="30" name="Text 21"/>
          <p:cNvSpPr txBox="1"/>
          <p:nvPr/>
        </p:nvSpPr>
        <p:spPr>
          <a:xfrm>
            <a:off x="155448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GitHub Actions with OIDC logins; Trivy image scanning</a:t>
            </a:r>
            <a:endParaRPr lang="en-US" sz="1300" dirty="0"/>
          </a:p>
        </p:txBody>
      </p:sp>
      <p:sp>
        <p:nvSpPr>
          <p:cNvPr id="31" name="Shape 22"/>
          <p:cNvSpPr/>
          <p:nvPr/>
        </p:nvSpPr>
        <p:spPr>
          <a:xfrm>
            <a:off x="6172200" y="4946904"/>
            <a:ext cx="5440680" cy="1024128"/>
          </a:xfrm>
          <a:prstGeom prst="roundRect">
            <a:avLst>
              <a:gd name="adj" fmla="val 7143"/>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6446520" y="5212080"/>
            <a:ext cx="502920" cy="502920"/>
          </a:xfrm>
          <a:prstGeom prst="rect">
            <a:avLst/>
          </a:prstGeom>
        </p:spPr>
      </p:pic>
      <p:sp>
        <p:nvSpPr>
          <p:cNvPr id="33" name="Text 23"/>
          <p:cNvSpPr txBox="1"/>
          <p:nvPr/>
        </p:nvSpPr>
        <p:spPr>
          <a:xfrm>
            <a:off x="717804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Testing</a:t>
            </a:r>
            <a:endParaRPr lang="en-US" sz="1600" dirty="0"/>
          </a:p>
        </p:txBody>
      </p:sp>
      <p:sp>
        <p:nvSpPr>
          <p:cNvPr id="34" name="Text 24"/>
          <p:cNvSpPr txBox="1"/>
          <p:nvPr/>
        </p:nvSpPr>
        <p:spPr>
          <a:xfrm>
            <a:off x="717804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JUnit 5, Mockito, Testcontainers (real MySQL), Vitest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Security from login to cloud credentials</a:t>
            </a:r>
            <a:endParaRPr lang="en-US" sz="3200" dirty="0"/>
          </a:p>
        </p:txBody>
      </p:sp>
      <p:sp>
        <p:nvSpPr>
          <p:cNvPr id="3" name="Text 1"/>
          <p:cNvSpPr txBox="1"/>
          <p:nvPr/>
        </p:nvSpPr>
        <p:spPr>
          <a:xfrm>
            <a:off x="548640" y="1280160"/>
            <a:ext cx="5486400" cy="365760"/>
          </a:xfrm>
          <a:prstGeom prst="rect">
            <a:avLst/>
          </a:prstGeom>
          <a:noFill/>
          <a:ln/>
        </p:spPr>
        <p:txBody>
          <a:bodyPr wrap="square" lIns="0" tIns="0" rIns="0" bIns="0" rtlCol="0" anchor="t"/>
          <a:lstStyle/>
          <a:p>
            <a:pPr indent="0" marL="0">
              <a:buNone/>
            </a:pPr>
            <a:r>
              <a:rPr lang="en-US" sz="1800" b="1" dirty="0">
                <a:solidFill>
                  <a:schemeClr val="accent1"/>
                </a:solidFill>
              </a:rPr>
              <a:t>Request flow</a:t>
            </a:r>
            <a:endParaRPr lang="en-US" sz="1800" dirty="0"/>
          </a:p>
        </p:txBody>
      </p:sp>
      <p:sp>
        <p:nvSpPr>
          <p:cNvPr id="4" name="Shape 2"/>
          <p:cNvSpPr/>
          <p:nvPr/>
        </p:nvSpPr>
        <p:spPr>
          <a:xfrm>
            <a:off x="548640" y="1783080"/>
            <a:ext cx="457200" cy="457200"/>
          </a:xfrm>
          <a:prstGeom prst="roundRect">
            <a:avLst>
              <a:gd name="adj" fmla="val 12000"/>
            </a:avLst>
          </a:prstGeom>
          <a:solidFill>
            <a:schemeClr val="accent1"/>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764792"/>
            <a:ext cx="4846320" cy="777240"/>
          </a:xfrm>
          <a:prstGeom prst="rect">
            <a:avLst/>
          </a:prstGeom>
          <a:noFill/>
          <a:ln/>
        </p:spPr>
        <p:txBody>
          <a:bodyPr wrap="square" lIns="0" tIns="0" rIns="0" bIns="0" rtlCol="0" anchor="t"/>
          <a:lstStyle/>
          <a:p>
            <a:pPr indent="0" marL="0">
              <a:buNone/>
            </a:pPr>
            <a:r>
              <a:rPr lang="en-US" sz="1400" dirty="0">
                <a:solidFill>
                  <a:schemeClr val="tx1"/>
                </a:solidFill>
              </a:rPr>
              <a:t>Login returns a 15-minute access token (kept in memory) and a 7-day refresh token in an httpOnly cookie</a:t>
            </a:r>
            <a:endParaRPr lang="en-US" sz="1400" dirty="0"/>
          </a:p>
        </p:txBody>
      </p:sp>
      <p:sp>
        <p:nvSpPr>
          <p:cNvPr id="7" name="Shape 5"/>
          <p:cNvSpPr/>
          <p:nvPr/>
        </p:nvSpPr>
        <p:spPr>
          <a:xfrm>
            <a:off x="548640" y="2624328"/>
            <a:ext cx="457200" cy="457200"/>
          </a:xfrm>
          <a:prstGeom prst="roundRect">
            <a:avLst>
              <a:gd name="adj" fmla="val 12000"/>
            </a:avLst>
          </a:prstGeom>
          <a:solidFill>
            <a:schemeClr val="accent1"/>
          </a:solidFill>
          <a:ln/>
        </p:spPr>
      </p:sp>
      <p:sp>
        <p:nvSpPr>
          <p:cNvPr id="8" name="Text 6"/>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606040"/>
            <a:ext cx="4846320" cy="777240"/>
          </a:xfrm>
          <a:prstGeom prst="rect">
            <a:avLst/>
          </a:prstGeom>
          <a:noFill/>
          <a:ln/>
        </p:spPr>
        <p:txBody>
          <a:bodyPr wrap="square" lIns="0" tIns="0" rIns="0" bIns="0" rtlCol="0" anchor="t"/>
          <a:lstStyle/>
          <a:p>
            <a:pPr indent="0" marL="0">
              <a:buNone/>
            </a:pPr>
            <a:r>
              <a:rPr lang="en-US" sz="1400" dirty="0">
                <a:solidFill>
                  <a:schemeClr val="tx1"/>
                </a:solidFill>
              </a:rPr>
              <a:t>Every API call carries the access token; a filter validates it and loads the user's roles</a:t>
            </a:r>
            <a:endParaRPr lang="en-US" sz="1400" dirty="0"/>
          </a:p>
        </p:txBody>
      </p:sp>
      <p:sp>
        <p:nvSpPr>
          <p:cNvPr id="10" name="Shape 8"/>
          <p:cNvSpPr/>
          <p:nvPr/>
        </p:nvSpPr>
        <p:spPr>
          <a:xfrm>
            <a:off x="548640" y="3465576"/>
            <a:ext cx="457200" cy="457200"/>
          </a:xfrm>
          <a:prstGeom prst="roundRect">
            <a:avLst>
              <a:gd name="adj" fmla="val 12000"/>
            </a:avLst>
          </a:prstGeom>
          <a:solidFill>
            <a:schemeClr val="accent1"/>
          </a:solidFill>
          <a:ln/>
        </p:spPr>
      </p:sp>
      <p:sp>
        <p:nvSpPr>
          <p:cNvPr id="11" name="Text 9"/>
          <p:cNvSpPr txBox="1"/>
          <p:nvPr/>
        </p:nvSpPr>
        <p:spPr>
          <a:xfrm>
            <a:off x="548640" y="3465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188720" y="3447288"/>
            <a:ext cx="4846320" cy="777240"/>
          </a:xfrm>
          <a:prstGeom prst="rect">
            <a:avLst/>
          </a:prstGeom>
          <a:noFill/>
          <a:ln/>
        </p:spPr>
        <p:txBody>
          <a:bodyPr wrap="square" lIns="0" tIns="0" rIns="0" bIns="0" rtlCol="0" anchor="t"/>
          <a:lstStyle/>
          <a:p>
            <a:pPr indent="0" marL="0">
              <a:buNone/>
            </a:pPr>
            <a:r>
              <a:rPr lang="en-US" sz="1400" dirty="0">
                <a:solidFill>
                  <a:schemeClr val="tx1"/>
                </a:solidFill>
              </a:rPr>
              <a:t>@PreAuthorize checks the role; TicketAccessPolicy checks ownership of the row</a:t>
            </a:r>
            <a:endParaRPr lang="en-US" sz="1400" dirty="0"/>
          </a:p>
        </p:txBody>
      </p:sp>
      <p:sp>
        <p:nvSpPr>
          <p:cNvPr id="13" name="Shape 11"/>
          <p:cNvSpPr/>
          <p:nvPr/>
        </p:nvSpPr>
        <p:spPr>
          <a:xfrm>
            <a:off x="548640" y="4306824"/>
            <a:ext cx="457200" cy="457200"/>
          </a:xfrm>
          <a:prstGeom prst="roundRect">
            <a:avLst>
              <a:gd name="adj" fmla="val 12000"/>
            </a:avLst>
          </a:prstGeom>
          <a:solidFill>
            <a:schemeClr val="accent1"/>
          </a:solidFill>
          <a:ln/>
        </p:spPr>
      </p:sp>
      <p:sp>
        <p:nvSpPr>
          <p:cNvPr id="14" name="Text 12"/>
          <p:cNvSpPr txBox="1"/>
          <p:nvPr/>
        </p:nvSpPr>
        <p:spPr>
          <a:xfrm>
            <a:off x="548640" y="43068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188720" y="4288536"/>
            <a:ext cx="4846320" cy="777240"/>
          </a:xfrm>
          <a:prstGeom prst="rect">
            <a:avLst/>
          </a:prstGeom>
          <a:noFill/>
          <a:ln/>
        </p:spPr>
        <p:txBody>
          <a:bodyPr wrap="square" lIns="0" tIns="0" rIns="0" bIns="0" rtlCol="0" anchor="t"/>
          <a:lstStyle/>
          <a:p>
            <a:pPr indent="0" marL="0">
              <a:buNone/>
            </a:pPr>
            <a:r>
              <a:rPr lang="en-US" sz="1400" dirty="0">
                <a:solidFill>
                  <a:schemeClr val="tx1"/>
                </a:solidFill>
              </a:rPr>
              <a:t>On a 401 the client refreshes once and retries; refresh tokens rotate and are stored hashed</a:t>
            </a:r>
            <a:endParaRPr lang="en-US" sz="1400" dirty="0"/>
          </a:p>
        </p:txBody>
      </p:sp>
      <p:sp>
        <p:nvSpPr>
          <p:cNvPr id="16" name="Shape 14"/>
          <p:cNvSpPr/>
          <p:nvPr/>
        </p:nvSpPr>
        <p:spPr>
          <a:xfrm>
            <a:off x="548640" y="5148072"/>
            <a:ext cx="457200" cy="457200"/>
          </a:xfrm>
          <a:prstGeom prst="roundRect">
            <a:avLst>
              <a:gd name="adj" fmla="val 12000"/>
            </a:avLst>
          </a:prstGeom>
          <a:solidFill>
            <a:schemeClr val="accent1"/>
          </a:solidFill>
          <a:ln/>
        </p:spPr>
      </p:sp>
      <p:sp>
        <p:nvSpPr>
          <p:cNvPr id="17" name="Text 15"/>
          <p:cNvSpPr txBox="1"/>
          <p:nvPr/>
        </p:nvSpPr>
        <p:spPr>
          <a:xfrm>
            <a:off x="548640" y="5148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188720" y="5129784"/>
            <a:ext cx="4846320" cy="777240"/>
          </a:xfrm>
          <a:prstGeom prst="rect">
            <a:avLst/>
          </a:prstGeom>
          <a:noFill/>
          <a:ln/>
        </p:spPr>
        <p:txBody>
          <a:bodyPr wrap="square" lIns="0" tIns="0" rIns="0" bIns="0" rtlCol="0" anchor="t"/>
          <a:lstStyle/>
          <a:p>
            <a:pPr indent="0" marL="0">
              <a:buNone/>
            </a:pPr>
            <a:r>
              <a:rPr lang="en-US" sz="1400" dirty="0">
                <a:solidFill>
                  <a:schemeClr val="tx1"/>
                </a:solidFill>
              </a:rPr>
              <a:t>Logout revokes the refresh token</a:t>
            </a:r>
            <a:endParaRPr lang="en-US" sz="1400" dirty="0"/>
          </a:p>
        </p:txBody>
      </p:sp>
      <p:sp>
        <p:nvSpPr>
          <p:cNvPr id="19" name="hardening"/>
          <p:cNvSpPr/>
          <p:nvPr/>
        </p:nvSpPr>
        <p:spPr>
          <a:xfrm>
            <a:off x="6492240" y="1280160"/>
            <a:ext cx="5120640" cy="4800600"/>
          </a:xfrm>
          <a:prstGeom prst="roundRect">
            <a:avLst>
              <a:gd name="adj" fmla="val 1524"/>
            </a:avLst>
          </a:prstGeom>
          <a:solidFill>
            <a:schemeClr val="bg2"/>
          </a:solidFill>
          <a:ln/>
        </p:spPr>
      </p:sp>
      <p:sp>
        <p:nvSpPr>
          <p:cNvPr id="20" name="Shape 18"/>
          <p:cNvSpPr/>
          <p:nvPr/>
        </p:nvSpPr>
        <p:spPr>
          <a:xfrm>
            <a:off x="6812280" y="1554480"/>
            <a:ext cx="685800" cy="685800"/>
          </a:xfrm>
          <a:prstGeom prst="ellipse">
            <a:avLst/>
          </a:prstGeom>
          <a:solidFill>
            <a:schemeClr val="accent4"/>
          </a:solidFill>
          <a:ln/>
        </p:spPr>
      </p:sp>
      <p:pic>
        <p:nvPicPr>
          <p:cNvPr id="21" name="Image 0" descr="preencoded.png">    </p:cNvPr>
          <p:cNvPicPr>
            <a:picLocks noChangeAspect="1"/>
          </p:cNvPicPr>
          <p:nvPr/>
        </p:nvPicPr>
        <p:blipFill>
          <a:blip r:embed="rId1"/>
          <a:stretch>
            <a:fillRect/>
          </a:stretch>
        </p:blipFill>
        <p:spPr>
          <a:xfrm>
            <a:off x="6983730" y="1725930"/>
            <a:ext cx="342900" cy="342900"/>
          </a:xfrm>
          <a:prstGeom prst="rect">
            <a:avLst/>
          </a:prstGeom>
        </p:spPr>
      </p:pic>
      <p:sp>
        <p:nvSpPr>
          <p:cNvPr id="22" name="Text 19"/>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1800" b="1" dirty="0">
                <a:solidFill>
                  <a:schemeClr val="tx1"/>
                </a:solidFill>
              </a:rPr>
              <a:t>Hardening</a:t>
            </a:r>
            <a:endParaRPr lang="en-US" sz="1800" dirty="0"/>
          </a:p>
        </p:txBody>
      </p:sp>
      <p:sp>
        <p:nvSpPr>
          <p:cNvPr id="23" name="Text 20"/>
          <p:cNvSpPr txBox="1"/>
          <p:nvPr/>
        </p:nvSpPr>
        <p:spPr>
          <a:xfrm>
            <a:off x="6812280" y="2468880"/>
            <a:ext cx="4572000" cy="34747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BCrypt (cost 12) passwords; HS512-signed JWTs</a:t>
            </a:r>
            <a:endParaRPr lang="en-US" sz="1400" dirty="0"/>
          </a:p>
          <a:p>
            <a:pPr marL="342900" indent="-342900">
              <a:spcAft>
                <a:spcPts val="900"/>
              </a:spcAft>
              <a:buSzPct val="100000"/>
              <a:buChar char="•"/>
            </a:pPr>
            <a:r>
              <a:rPr lang="en-US" sz="1400" dirty="0">
                <a:solidFill>
                  <a:schemeClr val="tx1"/>
                </a:solidFill>
              </a:rPr>
              <a:t>Login, register and refresh limited to 10 per minute per IP</a:t>
            </a:r>
            <a:endParaRPr lang="en-US" sz="1400" dirty="0"/>
          </a:p>
          <a:p>
            <a:pPr marL="342900" indent="-342900">
              <a:spcAft>
                <a:spcPts val="900"/>
              </a:spcAft>
              <a:buSzPct val="100000"/>
              <a:buChar char="•"/>
            </a:pPr>
            <a:r>
              <a:rPr lang="en-US" sz="1400" dirty="0">
                <a:solidFill>
                  <a:schemeClr val="tx1"/>
                </a:solidFill>
              </a:rPr>
              <a:t>Pods run as non-root with a read-only file system</a:t>
            </a:r>
            <a:endParaRPr lang="en-US" sz="1400" dirty="0"/>
          </a:p>
          <a:p>
            <a:pPr marL="342900" indent="-342900">
              <a:spcAft>
                <a:spcPts val="900"/>
              </a:spcAft>
              <a:buSzPct val="100000"/>
              <a:buChar char="•"/>
            </a:pPr>
            <a:r>
              <a:rPr lang="en-US" sz="1400" dirty="0">
                <a:solidFill>
                  <a:schemeClr val="tx1"/>
                </a:solidFill>
              </a:rPr>
              <a:t>Trivy scan fails CI on any CRITICAL vulnerability</a:t>
            </a:r>
            <a:endParaRPr lang="en-US" sz="1400" dirty="0"/>
          </a:p>
          <a:p>
            <a:pPr marL="342900" indent="-342900">
              <a:spcAft>
                <a:spcPts val="900"/>
              </a:spcAft>
              <a:buSzPct val="100000"/>
              <a:buChar char="•"/>
            </a:pPr>
            <a:r>
              <a:rPr lang="en-US" sz="1400" dirty="0">
                <a:solidFill>
                  <a:schemeClr val="tx1"/>
                </a:solidFill>
              </a:rPr>
              <a:t>GitHub reaches AWS and Azure through OIDC: no stored cloud keys</a:t>
            </a:r>
            <a:endParaRPr lang="en-US" sz="1400" dirty="0"/>
          </a:p>
          <a:p>
            <a:pPr marL="342900" indent="-342900">
              <a:spcAft>
                <a:spcPts val="900"/>
              </a:spcAft>
              <a:buSzPct val="100000"/>
              <a:buChar char="•"/>
            </a:pPr>
            <a:r>
              <a:rPr lang="en-US" sz="1400" dirty="0">
                <a:solidFill>
                  <a:schemeClr val="tx1"/>
                </a:solidFill>
              </a:rPr>
              <a:t>Pipeline callbacks to the portal are HMAC-signed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02</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Architecture</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How one codebase runs on two clouds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URL, four clusters, two clouds</a:t>
            </a:r>
            <a:endParaRPr lang="en-US" sz="3200" dirty="0"/>
          </a:p>
        </p:txBody>
      </p:sp>
      <p:sp>
        <p:nvSpPr>
          <p:cNvPr id="3" name="Shape 1"/>
          <p:cNvSpPr/>
          <p:nvPr/>
        </p:nvSpPr>
        <p:spPr>
          <a:xfrm>
            <a:off x="5751576" y="1143000"/>
            <a:ext cx="685800" cy="68580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5923026" y="1314450"/>
            <a:ext cx="342900" cy="342900"/>
          </a:xfrm>
          <a:prstGeom prst="rect">
            <a:avLst/>
          </a:prstGeom>
        </p:spPr>
      </p:pic>
      <p:sp>
        <p:nvSpPr>
          <p:cNvPr id="5" name="Shape 2"/>
          <p:cNvSpPr/>
          <p:nvPr/>
        </p:nvSpPr>
        <p:spPr>
          <a:xfrm>
            <a:off x="6094476" y="1828800"/>
            <a:ext cx="914" cy="274320"/>
          </a:xfrm>
          <a:prstGeom prst="line">
            <a:avLst/>
          </a:prstGeom>
          <a:noFill/>
          <a:ln w="19050">
            <a:solidFill>
              <a:schemeClr val="tx2"/>
            </a:solidFill>
            <a:prstDash val="solid"/>
            <a:tailEnd type="triangle"/>
          </a:ln>
        </p:spPr>
      </p:sp>
      <p:sp>
        <p:nvSpPr>
          <p:cNvPr id="6" name="traffic-manager"/>
          <p:cNvSpPr/>
          <p:nvPr/>
        </p:nvSpPr>
        <p:spPr>
          <a:xfrm>
            <a:off x="3355848" y="2103120"/>
            <a:ext cx="5486400" cy="868680"/>
          </a:xfrm>
          <a:prstGeom prst="roundRect">
            <a:avLst>
              <a:gd name="adj" fmla="val 8421"/>
            </a:avLst>
          </a:prstGeom>
          <a:solidFill>
            <a:schemeClr val="accent1"/>
          </a:solidFill>
          <a:ln/>
        </p:spPr>
      </p:sp>
      <p:sp>
        <p:nvSpPr>
          <p:cNvPr id="7" name="Text 4"/>
          <p:cNvSpPr txBox="1"/>
          <p:nvPr/>
        </p:nvSpPr>
        <p:spPr>
          <a:xfrm>
            <a:off x="3355848" y="2157984"/>
            <a:ext cx="5486400" cy="384048"/>
          </a:xfrm>
          <a:prstGeom prst="rect">
            <a:avLst/>
          </a:prstGeom>
          <a:noFill/>
          <a:ln/>
        </p:spPr>
        <p:txBody>
          <a:bodyPr wrap="square" lIns="0" tIns="0" rIns="0" bIns="0" rtlCol="0" anchor="t"/>
          <a:lstStyle/>
          <a:p>
            <a:pPr algn="ctr" indent="0" marL="0">
              <a:buNone/>
            </a:pPr>
            <a:r>
              <a:rPr lang="en-US" sz="1600" b="1" dirty="0">
                <a:solidFill>
                  <a:schemeClr val="bg1"/>
                </a:solidFill>
              </a:rPr>
              <a:t>Azure Traffic Manager · priority routing</a:t>
            </a:r>
            <a:endParaRPr lang="en-US" sz="1600" dirty="0"/>
          </a:p>
        </p:txBody>
      </p:sp>
      <p:sp>
        <p:nvSpPr>
          <p:cNvPr id="8" name="Text 5"/>
          <p:cNvSpPr txBox="1"/>
          <p:nvPr/>
        </p:nvSpPr>
        <p:spPr>
          <a:xfrm>
            <a:off x="3355848" y="2523744"/>
            <a:ext cx="5486400" cy="365760"/>
          </a:xfrm>
          <a:prstGeom prst="rect">
            <a:avLst/>
          </a:prstGeom>
          <a:noFill/>
          <a:ln/>
        </p:spPr>
        <p:txBody>
          <a:bodyPr wrap="square" lIns="0" tIns="0" rIns="0" bIns="0" rtlCol="0" anchor="t"/>
          <a:lstStyle/>
          <a:p>
            <a:pPr algn="ctr" indent="0" marL="0">
              <a:buNone/>
            </a:pPr>
            <a:r>
              <a:rPr lang="en-US" sz="1200" dirty="0">
                <a:solidFill>
                  <a:schemeClr val="bg1"/>
                </a:solidFill>
              </a:rPr>
              <a:t>trackflow-dev-sahil.trafficmanager.net  ·  probes /actuator/health every 10 s</a:t>
            </a:r>
            <a:endParaRPr lang="en-US" sz="1200" dirty="0"/>
          </a:p>
        </p:txBody>
      </p:sp>
      <p:sp>
        <p:nvSpPr>
          <p:cNvPr id="9" name="Shape 6"/>
          <p:cNvSpPr/>
          <p:nvPr/>
        </p:nvSpPr>
        <p:spPr>
          <a:xfrm>
            <a:off x="6094476" y="2971800"/>
            <a:ext cx="914" cy="155448"/>
          </a:xfrm>
          <a:prstGeom prst="line">
            <a:avLst/>
          </a:prstGeom>
          <a:noFill/>
          <a:ln w="19050">
            <a:solidFill>
              <a:schemeClr val="accent1"/>
            </a:solidFill>
            <a:prstDash val="solid"/>
          </a:ln>
        </p:spPr>
      </p:sp>
      <p:sp>
        <p:nvSpPr>
          <p:cNvPr id="10" name="Shape 7"/>
          <p:cNvSpPr/>
          <p:nvPr/>
        </p:nvSpPr>
        <p:spPr>
          <a:xfrm>
            <a:off x="1988820" y="3127248"/>
            <a:ext cx="8211312" cy="914"/>
          </a:xfrm>
          <a:prstGeom prst="line">
            <a:avLst/>
          </a:prstGeom>
          <a:noFill/>
          <a:ln w="19050">
            <a:solidFill>
              <a:schemeClr val="accent1"/>
            </a:solidFill>
            <a:prstDash val="solid"/>
          </a:ln>
        </p:spPr>
      </p:sp>
      <p:sp>
        <p:nvSpPr>
          <p:cNvPr id="11" name="Shape 8"/>
          <p:cNvSpPr/>
          <p:nvPr/>
        </p:nvSpPr>
        <p:spPr>
          <a:xfrm>
            <a:off x="548640" y="3291840"/>
            <a:ext cx="5394960" cy="2926080"/>
          </a:xfrm>
          <a:prstGeom prst="roundRect">
            <a:avLst>
              <a:gd name="adj" fmla="val 3125"/>
            </a:avLst>
          </a:prstGeom>
          <a:solidFill>
            <a:schemeClr val="bg2"/>
          </a:solidFill>
          <a:ln w="19050">
            <a:solidFill>
              <a:schemeClr val="accent2"/>
            </a:solidFill>
            <a:prstDash val="solid"/>
          </a:ln>
        </p:spPr>
      </p:sp>
      <p:sp>
        <p:nvSpPr>
          <p:cNvPr id="12" name="Shape 9"/>
          <p:cNvSpPr/>
          <p:nvPr/>
        </p:nvSpPr>
        <p:spPr>
          <a:xfrm>
            <a:off x="1988820" y="3127248"/>
            <a:ext cx="914" cy="347472"/>
          </a:xfrm>
          <a:prstGeom prst="line">
            <a:avLst/>
          </a:prstGeom>
          <a:noFill/>
          <a:ln w="19050">
            <a:solidFill>
              <a:schemeClr val="accent1"/>
            </a:solidFill>
            <a:prstDash val="solid"/>
            <a:tailEnd type="triangle"/>
          </a:ln>
        </p:spPr>
      </p:sp>
      <p:sp>
        <p:nvSpPr>
          <p:cNvPr id="13" name="Shape 10"/>
          <p:cNvSpPr/>
          <p:nvPr/>
        </p:nvSpPr>
        <p:spPr>
          <a:xfrm>
            <a:off x="7772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4" name="Text 11"/>
          <p:cNvSpPr txBox="1"/>
          <p:nvPr/>
        </p:nvSpPr>
        <p:spPr>
          <a:xfrm>
            <a:off x="9144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us-east-1</a:t>
            </a:r>
            <a:endParaRPr lang="en-US" sz="1500" dirty="0"/>
          </a:p>
        </p:txBody>
      </p:sp>
      <p:sp>
        <p:nvSpPr>
          <p:cNvPr id="15" name="Text 12"/>
          <p:cNvSpPr txBox="1"/>
          <p:nvPr/>
        </p:nvSpPr>
        <p:spPr>
          <a:xfrm>
            <a:off x="9144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P1 · primary</a:t>
            </a:r>
            <a:endParaRPr lang="en-US" sz="1200" dirty="0"/>
          </a:p>
        </p:txBody>
      </p:sp>
      <p:sp>
        <p:nvSpPr>
          <p:cNvPr id="16" name="Text 13"/>
          <p:cNvSpPr txBox="1"/>
          <p:nvPr/>
        </p:nvSpPr>
        <p:spPr>
          <a:xfrm>
            <a:off x="9144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sp>
        <p:nvSpPr>
          <p:cNvPr id="17" name="Shape 14"/>
          <p:cNvSpPr/>
          <p:nvPr/>
        </p:nvSpPr>
        <p:spPr>
          <a:xfrm>
            <a:off x="4503420" y="3127248"/>
            <a:ext cx="914" cy="347472"/>
          </a:xfrm>
          <a:prstGeom prst="line">
            <a:avLst/>
          </a:prstGeom>
          <a:noFill/>
          <a:ln w="19050">
            <a:solidFill>
              <a:schemeClr val="accent1"/>
            </a:solidFill>
            <a:prstDash val="solid"/>
            <a:tailEnd type="triangle"/>
          </a:ln>
        </p:spPr>
      </p:sp>
      <p:sp>
        <p:nvSpPr>
          <p:cNvPr id="18" name="Shape 15"/>
          <p:cNvSpPr/>
          <p:nvPr/>
        </p:nvSpPr>
        <p:spPr>
          <a:xfrm>
            <a:off x="32918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9" name="Text 16"/>
          <p:cNvSpPr txBox="1"/>
          <p:nvPr/>
        </p:nvSpPr>
        <p:spPr>
          <a:xfrm>
            <a:off x="34290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us-west-2</a:t>
            </a:r>
            <a:endParaRPr lang="en-US" sz="1500" dirty="0"/>
          </a:p>
        </p:txBody>
      </p:sp>
      <p:sp>
        <p:nvSpPr>
          <p:cNvPr id="20" name="Text 17"/>
          <p:cNvSpPr txBox="1"/>
          <p:nvPr/>
        </p:nvSpPr>
        <p:spPr>
          <a:xfrm>
            <a:off x="34290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P2</a:t>
            </a:r>
            <a:endParaRPr lang="en-US" sz="1200" dirty="0"/>
          </a:p>
        </p:txBody>
      </p:sp>
      <p:sp>
        <p:nvSpPr>
          <p:cNvPr id="21" name="Text 18"/>
          <p:cNvSpPr txBox="1"/>
          <p:nvPr/>
        </p:nvSpPr>
        <p:spPr>
          <a:xfrm>
            <a:off x="34290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pic>
        <p:nvPicPr>
          <p:cNvPr id="22" name="Image 1" descr="preencoded.png">    </p:cNvPr>
          <p:cNvPicPr>
            <a:picLocks noChangeAspect="1"/>
          </p:cNvPicPr>
          <p:nvPr/>
        </p:nvPicPr>
        <p:blipFill>
          <a:blip r:embed="rId2"/>
          <a:stretch>
            <a:fillRect/>
          </a:stretch>
        </p:blipFill>
        <p:spPr>
          <a:xfrm>
            <a:off x="777240" y="4727448"/>
            <a:ext cx="384048" cy="384048"/>
          </a:xfrm>
          <a:prstGeom prst="rect">
            <a:avLst/>
          </a:prstGeom>
        </p:spPr>
      </p:pic>
      <p:sp>
        <p:nvSpPr>
          <p:cNvPr id="23" name="Text 19"/>
          <p:cNvSpPr txBox="1"/>
          <p:nvPr/>
        </p:nvSpPr>
        <p:spPr>
          <a:xfrm>
            <a:off x="1280160" y="4736592"/>
            <a:ext cx="1097280" cy="365760"/>
          </a:xfrm>
          <a:prstGeom prst="rect">
            <a:avLst/>
          </a:prstGeom>
          <a:noFill/>
          <a:ln/>
        </p:spPr>
        <p:txBody>
          <a:bodyPr wrap="square" lIns="0" tIns="0" rIns="0" bIns="0" rtlCol="0" anchor="ctr"/>
          <a:lstStyle/>
          <a:p>
            <a:pPr indent="0" marL="0">
              <a:buNone/>
            </a:pPr>
            <a:r>
              <a:rPr lang="en-US" sz="1600" b="1" dirty="0">
                <a:solidFill>
                  <a:schemeClr val="accent2"/>
                </a:solidFill>
              </a:rPr>
              <a:t>AWS</a:t>
            </a:r>
            <a:endParaRPr lang="en-US" sz="1600" dirty="0"/>
          </a:p>
        </p:txBody>
      </p:sp>
      <p:sp>
        <p:nvSpPr>
          <p:cNvPr id="24" name="Text 20"/>
          <p:cNvSpPr txBox="1"/>
          <p:nvPr/>
        </p:nvSpPr>
        <p:spPr>
          <a:xfrm>
            <a:off x="2377440"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ECR in both regions</a:t>
            </a:r>
            <a:endParaRPr lang="en-US" sz="1200" dirty="0"/>
          </a:p>
        </p:txBody>
      </p:sp>
      <p:sp>
        <p:nvSpPr>
          <p:cNvPr id="25" name="Shape 21"/>
          <p:cNvSpPr/>
          <p:nvPr/>
        </p:nvSpPr>
        <p:spPr>
          <a:xfrm>
            <a:off x="777240" y="5303520"/>
            <a:ext cx="4937760" cy="731520"/>
          </a:xfrm>
          <a:prstGeom prst="roundRect">
            <a:avLst>
              <a:gd name="adj" fmla="val 10000"/>
            </a:avLst>
          </a:prstGeom>
          <a:solidFill>
            <a:schemeClr val="bg1"/>
          </a:solidFill>
          <a:ln w="12700">
            <a:solidFill>
              <a:schemeClr val="tx2"/>
            </a:solidFill>
            <a:prstDash val="solid"/>
          </a:ln>
        </p:spPr>
      </p:sp>
      <p:pic>
        <p:nvPicPr>
          <p:cNvPr id="26" name="Image 2" descr="preencoded.png">    </p:cNvPr>
          <p:cNvPicPr>
            <a:picLocks noChangeAspect="1"/>
          </p:cNvPicPr>
          <p:nvPr/>
        </p:nvPicPr>
        <p:blipFill>
          <a:blip r:embed="rId3"/>
          <a:stretch>
            <a:fillRect/>
          </a:stretch>
        </p:blipFill>
        <p:spPr>
          <a:xfrm>
            <a:off x="960120" y="5486400"/>
            <a:ext cx="365760" cy="365760"/>
          </a:xfrm>
          <a:prstGeom prst="rect">
            <a:avLst/>
          </a:prstGeom>
        </p:spPr>
      </p:pic>
      <p:sp>
        <p:nvSpPr>
          <p:cNvPr id="27" name="Text 22"/>
          <p:cNvSpPr txBox="1"/>
          <p:nvPr/>
        </p:nvSpPr>
        <p:spPr>
          <a:xfrm>
            <a:off x="1463040"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RDS MySQL 8 (us-east-1); us-west-2 connects over VPC peering</a:t>
            </a:r>
            <a:endParaRPr lang="en-US" sz="1200" dirty="0"/>
          </a:p>
        </p:txBody>
      </p:sp>
      <p:sp>
        <p:nvSpPr>
          <p:cNvPr id="28" name="Shape 23"/>
          <p:cNvSpPr/>
          <p:nvPr/>
        </p:nvSpPr>
        <p:spPr>
          <a:xfrm>
            <a:off x="6245352" y="3291840"/>
            <a:ext cx="5394960" cy="2926080"/>
          </a:xfrm>
          <a:prstGeom prst="roundRect">
            <a:avLst>
              <a:gd name="adj" fmla="val 3125"/>
            </a:avLst>
          </a:prstGeom>
          <a:solidFill>
            <a:schemeClr val="bg2"/>
          </a:solidFill>
          <a:ln w="19050">
            <a:solidFill>
              <a:schemeClr val="accent3"/>
            </a:solidFill>
            <a:prstDash val="solid"/>
          </a:ln>
        </p:spPr>
      </p:sp>
      <p:sp>
        <p:nvSpPr>
          <p:cNvPr id="29" name="Shape 24"/>
          <p:cNvSpPr/>
          <p:nvPr/>
        </p:nvSpPr>
        <p:spPr>
          <a:xfrm>
            <a:off x="7685532" y="3127248"/>
            <a:ext cx="914" cy="347472"/>
          </a:xfrm>
          <a:prstGeom prst="line">
            <a:avLst/>
          </a:prstGeom>
          <a:noFill/>
          <a:ln w="19050">
            <a:solidFill>
              <a:schemeClr val="accent1"/>
            </a:solidFill>
            <a:prstDash val="solid"/>
            <a:tailEnd type="triangle"/>
          </a:ln>
        </p:spPr>
      </p:sp>
      <p:sp>
        <p:nvSpPr>
          <p:cNvPr id="30" name="Shape 25"/>
          <p:cNvSpPr/>
          <p:nvPr/>
        </p:nvSpPr>
        <p:spPr>
          <a:xfrm>
            <a:off x="64739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1" name="Text 26"/>
          <p:cNvSpPr txBox="1"/>
          <p:nvPr/>
        </p:nvSpPr>
        <p:spPr>
          <a:xfrm>
            <a:off x="66111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eastasia</a:t>
            </a:r>
            <a:endParaRPr lang="en-US" sz="1500" dirty="0"/>
          </a:p>
        </p:txBody>
      </p:sp>
      <p:sp>
        <p:nvSpPr>
          <p:cNvPr id="32" name="Text 27"/>
          <p:cNvSpPr txBox="1"/>
          <p:nvPr/>
        </p:nvSpPr>
        <p:spPr>
          <a:xfrm>
            <a:off x="66111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P3</a:t>
            </a:r>
            <a:endParaRPr lang="en-US" sz="1200" dirty="0"/>
          </a:p>
        </p:txBody>
      </p:sp>
      <p:sp>
        <p:nvSpPr>
          <p:cNvPr id="33" name="Text 28"/>
          <p:cNvSpPr txBox="1"/>
          <p:nvPr/>
        </p:nvSpPr>
        <p:spPr>
          <a:xfrm>
            <a:off x="66111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sp>
        <p:nvSpPr>
          <p:cNvPr id="34" name="Shape 29"/>
          <p:cNvSpPr/>
          <p:nvPr/>
        </p:nvSpPr>
        <p:spPr>
          <a:xfrm>
            <a:off x="10200132" y="3127248"/>
            <a:ext cx="914" cy="347472"/>
          </a:xfrm>
          <a:prstGeom prst="line">
            <a:avLst/>
          </a:prstGeom>
          <a:noFill/>
          <a:ln w="19050">
            <a:solidFill>
              <a:schemeClr val="accent1"/>
            </a:solidFill>
            <a:prstDash val="solid"/>
            <a:tailEnd type="triangle"/>
          </a:ln>
        </p:spPr>
      </p:sp>
      <p:sp>
        <p:nvSpPr>
          <p:cNvPr id="35" name="Shape 30"/>
          <p:cNvSpPr/>
          <p:nvPr/>
        </p:nvSpPr>
        <p:spPr>
          <a:xfrm>
            <a:off x="89885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6" name="Text 31"/>
          <p:cNvSpPr txBox="1"/>
          <p:nvPr/>
        </p:nvSpPr>
        <p:spPr>
          <a:xfrm>
            <a:off x="91257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koreacentral</a:t>
            </a:r>
            <a:endParaRPr lang="en-US" sz="1500" dirty="0"/>
          </a:p>
        </p:txBody>
      </p:sp>
      <p:sp>
        <p:nvSpPr>
          <p:cNvPr id="37" name="Text 32"/>
          <p:cNvSpPr txBox="1"/>
          <p:nvPr/>
        </p:nvSpPr>
        <p:spPr>
          <a:xfrm>
            <a:off x="91257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P4</a:t>
            </a:r>
            <a:endParaRPr lang="en-US" sz="1200" dirty="0"/>
          </a:p>
        </p:txBody>
      </p:sp>
      <p:sp>
        <p:nvSpPr>
          <p:cNvPr id="38" name="Text 33"/>
          <p:cNvSpPr txBox="1"/>
          <p:nvPr/>
        </p:nvSpPr>
        <p:spPr>
          <a:xfrm>
            <a:off x="91257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pic>
        <p:nvPicPr>
          <p:cNvPr id="39" name="Image 3" descr="preencoded.png">    </p:cNvPr>
          <p:cNvPicPr>
            <a:picLocks noChangeAspect="1"/>
          </p:cNvPicPr>
          <p:nvPr/>
        </p:nvPicPr>
        <p:blipFill>
          <a:blip r:embed="rId4"/>
          <a:stretch>
            <a:fillRect/>
          </a:stretch>
        </p:blipFill>
        <p:spPr>
          <a:xfrm>
            <a:off x="6473952" y="4727448"/>
            <a:ext cx="384048" cy="384048"/>
          </a:xfrm>
          <a:prstGeom prst="rect">
            <a:avLst/>
          </a:prstGeom>
        </p:spPr>
      </p:pic>
      <p:sp>
        <p:nvSpPr>
          <p:cNvPr id="40" name="Text 34"/>
          <p:cNvSpPr txBox="1"/>
          <p:nvPr/>
        </p:nvSpPr>
        <p:spPr>
          <a:xfrm>
            <a:off x="6976872" y="4736592"/>
            <a:ext cx="1097280" cy="365760"/>
          </a:xfrm>
          <a:prstGeom prst="rect">
            <a:avLst/>
          </a:prstGeom>
          <a:noFill/>
          <a:ln/>
        </p:spPr>
        <p:txBody>
          <a:bodyPr wrap="square" lIns="0" tIns="0" rIns="0" bIns="0" rtlCol="0" anchor="ctr"/>
          <a:lstStyle/>
          <a:p>
            <a:pPr indent="0" marL="0">
              <a:buNone/>
            </a:pPr>
            <a:r>
              <a:rPr lang="en-US" sz="1600" b="1" dirty="0">
                <a:solidFill>
                  <a:schemeClr val="accent3"/>
                </a:solidFill>
              </a:rPr>
              <a:t>Azure</a:t>
            </a:r>
            <a:endParaRPr lang="en-US" sz="1600" dirty="0"/>
          </a:p>
        </p:txBody>
      </p:sp>
      <p:sp>
        <p:nvSpPr>
          <p:cNvPr id="41" name="Text 35"/>
          <p:cNvSpPr txBox="1"/>
          <p:nvPr/>
        </p:nvSpPr>
        <p:spPr>
          <a:xfrm>
            <a:off x="8074152"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One ACR, both clusters pull</a:t>
            </a:r>
            <a:endParaRPr lang="en-US" sz="1200" dirty="0"/>
          </a:p>
        </p:txBody>
      </p:sp>
      <p:sp>
        <p:nvSpPr>
          <p:cNvPr id="42" name="Shape 36"/>
          <p:cNvSpPr/>
          <p:nvPr/>
        </p:nvSpPr>
        <p:spPr>
          <a:xfrm>
            <a:off x="6473952" y="5303520"/>
            <a:ext cx="4937760" cy="731520"/>
          </a:xfrm>
          <a:prstGeom prst="roundRect">
            <a:avLst>
              <a:gd name="adj" fmla="val 10000"/>
            </a:avLst>
          </a:prstGeom>
          <a:solidFill>
            <a:schemeClr val="bg1"/>
          </a:solidFill>
          <a:ln w="12700">
            <a:solidFill>
              <a:schemeClr val="tx2"/>
            </a:solidFill>
            <a:prstDash val="solid"/>
          </a:ln>
        </p:spPr>
      </p:sp>
      <p:pic>
        <p:nvPicPr>
          <p:cNvPr id="43" name="Image 4" descr="preencoded.png">    </p:cNvPr>
          <p:cNvPicPr>
            <a:picLocks noChangeAspect="1"/>
          </p:cNvPicPr>
          <p:nvPr/>
        </p:nvPicPr>
        <p:blipFill>
          <a:blip r:embed="rId5"/>
          <a:stretch>
            <a:fillRect/>
          </a:stretch>
        </p:blipFill>
        <p:spPr>
          <a:xfrm>
            <a:off x="6656832" y="5486400"/>
            <a:ext cx="365760" cy="365760"/>
          </a:xfrm>
          <a:prstGeom prst="rect">
            <a:avLst/>
          </a:prstGeom>
        </p:spPr>
      </p:pic>
      <p:sp>
        <p:nvSpPr>
          <p:cNvPr id="44" name="Text 37"/>
          <p:cNvSpPr txBox="1"/>
          <p:nvPr/>
        </p:nvSpPr>
        <p:spPr>
          <a:xfrm>
            <a:off x="7159752"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Azure Database for MySQL Flexible Server (eastasia)</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Inside every cluster</a:t>
            </a:r>
            <a:endParaRPr lang="en-US" sz="3200" dirty="0"/>
          </a:p>
        </p:txBody>
      </p:sp>
      <p:sp>
        <p:nvSpPr>
          <p:cNvPr id="3" name="ingress"/>
          <p:cNvSpPr/>
          <p:nvPr/>
        </p:nvSpPr>
        <p:spPr>
          <a:xfrm>
            <a:off x="548640" y="2331720"/>
            <a:ext cx="2377440" cy="1463040"/>
          </a:xfrm>
          <a:prstGeom prst="roundRect">
            <a:avLst>
              <a:gd name="adj" fmla="val 5000"/>
            </a:avLst>
          </a:prstGeom>
          <a:solidFill>
            <a:schemeClr val="tx2"/>
          </a:solidFill>
          <a:ln/>
        </p:spPr>
      </p:sp>
      <p:sp>
        <p:nvSpPr>
          <p:cNvPr id="4" name="Text 2"/>
          <p:cNvSpPr txBox="1"/>
          <p:nvPr/>
        </p:nvSpPr>
        <p:spPr>
          <a:xfrm>
            <a:off x="685800" y="2514600"/>
            <a:ext cx="2103120" cy="365760"/>
          </a:xfrm>
          <a:prstGeom prst="rect">
            <a:avLst/>
          </a:prstGeom>
          <a:noFill/>
          <a:ln/>
        </p:spPr>
        <p:txBody>
          <a:bodyPr wrap="square" lIns="0" tIns="0" rIns="0" bIns="0" rtlCol="0" anchor="t"/>
          <a:lstStyle/>
          <a:p>
            <a:pPr indent="0" marL="0">
              <a:buNone/>
            </a:pPr>
            <a:r>
              <a:rPr lang="en-US" sz="1600" b="1" dirty="0">
                <a:solidFill>
                  <a:schemeClr val="bg1"/>
                </a:solidFill>
              </a:rPr>
              <a:t>ingress-nginx</a:t>
            </a:r>
            <a:endParaRPr lang="en-US" sz="1600" dirty="0"/>
          </a:p>
        </p:txBody>
      </p:sp>
      <p:sp>
        <p:nvSpPr>
          <p:cNvPr id="5" name="Text 3"/>
          <p:cNvSpPr txBox="1"/>
          <p:nvPr/>
        </p:nvSpPr>
        <p:spPr>
          <a:xfrm>
            <a:off x="685800" y="2926080"/>
            <a:ext cx="2148840" cy="731520"/>
          </a:xfrm>
          <a:prstGeom prst="rect">
            <a:avLst/>
          </a:prstGeom>
          <a:noFill/>
          <a:ln/>
        </p:spPr>
        <p:txBody>
          <a:bodyPr wrap="square" lIns="0" tIns="0" rIns="0" bIns="0" rtlCol="0" anchor="t"/>
          <a:lstStyle/>
          <a:p>
            <a:pPr indent="0" marL="0">
              <a:buNone/>
            </a:pPr>
            <a:r>
              <a:rPr lang="en-US" sz="1200" dirty="0">
                <a:solidFill>
                  <a:schemeClr val="bg1"/>
                </a:solidFill>
              </a:rPr>
              <a:t>AWS: on the node's public IP</a:t>
            </a:r>
            <a:endParaRPr lang="en-US" sz="1200" dirty="0"/>
          </a:p>
          <a:p>
            <a:pPr indent="0" marL="0">
              <a:buNone/>
            </a:pPr>
            <a:r>
              <a:rPr lang="en-US" sz="1200" dirty="0">
                <a:solidFill>
                  <a:schemeClr val="bg1"/>
                </a:solidFill>
              </a:rPr>
              <a:t>Azure: behind a load balancer</a:t>
            </a:r>
            <a:endParaRPr lang="en-US" sz="1200" dirty="0"/>
          </a:p>
        </p:txBody>
      </p:sp>
      <p:sp>
        <p:nvSpPr>
          <p:cNvPr id="6" name="Shape 4"/>
          <p:cNvSpPr/>
          <p:nvPr/>
        </p:nvSpPr>
        <p:spPr>
          <a:xfrm flipV="1">
            <a:off x="2926080" y="1920240"/>
            <a:ext cx="914400" cy="822960"/>
          </a:xfrm>
          <a:prstGeom prst="line">
            <a:avLst/>
          </a:prstGeom>
          <a:noFill/>
          <a:ln w="19050">
            <a:solidFill>
              <a:schemeClr val="tx2"/>
            </a:solidFill>
            <a:prstDash val="solid"/>
            <a:tailEnd type="triangle"/>
          </a:ln>
        </p:spPr>
      </p:sp>
      <p:sp>
        <p:nvSpPr>
          <p:cNvPr id="7" name="Shape 5"/>
          <p:cNvSpPr/>
          <p:nvPr/>
        </p:nvSpPr>
        <p:spPr>
          <a:xfrm>
            <a:off x="2926080" y="3383280"/>
            <a:ext cx="914400" cy="822960"/>
          </a:xfrm>
          <a:prstGeom prst="line">
            <a:avLst/>
          </a:prstGeom>
          <a:noFill/>
          <a:ln w="19050">
            <a:solidFill>
              <a:schemeClr val="tx2"/>
            </a:solidFill>
            <a:prstDash val="solid"/>
            <a:tailEnd type="triangle"/>
          </a:ln>
        </p:spPr>
      </p:sp>
      <p:sp>
        <p:nvSpPr>
          <p:cNvPr id="8" name="Text 6"/>
          <p:cNvSpPr txBox="1"/>
          <p:nvPr/>
        </p:nvSpPr>
        <p:spPr>
          <a:xfrm>
            <a:off x="2514600" y="2011680"/>
            <a:ext cx="1280160" cy="274320"/>
          </a:xfrm>
          <a:prstGeom prst="rect">
            <a:avLst/>
          </a:prstGeom>
          <a:noFill/>
          <a:ln/>
        </p:spPr>
        <p:txBody>
          <a:bodyPr wrap="square" lIns="0" tIns="0" rIns="0" bIns="0" rtlCol="0" anchor="t"/>
          <a:lstStyle/>
          <a:p>
            <a:pPr indent="0" marL="0">
              <a:buNone/>
            </a:pPr>
            <a:r>
              <a:rPr lang="en-US" sz="1100" dirty="0">
                <a:solidFill>
                  <a:schemeClr val="tx2"/>
                </a:solidFill>
              </a:rPr>
              <a:t>/api, /actuator</a:t>
            </a:r>
            <a:endParaRPr lang="en-US" sz="1100" dirty="0"/>
          </a:p>
        </p:txBody>
      </p:sp>
      <p:sp>
        <p:nvSpPr>
          <p:cNvPr id="9" name="Text 7"/>
          <p:cNvSpPr txBox="1"/>
          <p:nvPr/>
        </p:nvSpPr>
        <p:spPr>
          <a:xfrm>
            <a:off x="2514600" y="3886200"/>
            <a:ext cx="1280160" cy="274320"/>
          </a:xfrm>
          <a:prstGeom prst="rect">
            <a:avLst/>
          </a:prstGeom>
          <a:noFill/>
          <a:ln/>
        </p:spPr>
        <p:txBody>
          <a:bodyPr wrap="square" lIns="0" tIns="0" rIns="0" bIns="0" rtlCol="0" anchor="t"/>
          <a:lstStyle/>
          <a:p>
            <a:pPr indent="0" marL="0">
              <a:buNone/>
            </a:pPr>
            <a:r>
              <a:rPr lang="en-US" sz="1100" dirty="0">
                <a:solidFill>
                  <a:schemeClr val="tx2"/>
                </a:solidFill>
              </a:rPr>
              <a:t>everything else</a:t>
            </a:r>
            <a:endParaRPr lang="en-US" sz="1100" dirty="0"/>
          </a:p>
        </p:txBody>
      </p:sp>
      <p:sp>
        <p:nvSpPr>
          <p:cNvPr id="10" name="Shape 8"/>
          <p:cNvSpPr/>
          <p:nvPr/>
        </p:nvSpPr>
        <p:spPr>
          <a:xfrm>
            <a:off x="3840480" y="1280160"/>
            <a:ext cx="3749040" cy="1600200"/>
          </a:xfrm>
          <a:prstGeom prst="roundRect">
            <a:avLst>
              <a:gd name="adj" fmla="val 4571"/>
            </a:avLst>
          </a:prstGeom>
          <a:solidFill>
            <a:schemeClr val="bg2"/>
          </a:solidFill>
          <a:ln w="12700">
            <a:solidFill>
              <a:schemeClr val="accent4"/>
            </a:solidFill>
            <a:prstDash val="solid"/>
          </a:ln>
        </p:spPr>
      </p:sp>
      <p:pic>
        <p:nvPicPr>
          <p:cNvPr id="11" name="Image 0" descr="preencoded.png">    </p:cNvPr>
          <p:cNvPicPr>
            <a:picLocks noChangeAspect="1"/>
          </p:cNvPicPr>
          <p:nvPr/>
        </p:nvPicPr>
        <p:blipFill>
          <a:blip r:embed="rId1"/>
          <a:stretch>
            <a:fillRect/>
          </a:stretch>
        </p:blipFill>
        <p:spPr>
          <a:xfrm>
            <a:off x="4023360" y="1417320"/>
            <a:ext cx="411480" cy="411480"/>
          </a:xfrm>
          <a:prstGeom prst="rect">
            <a:avLst/>
          </a:prstGeom>
        </p:spPr>
      </p:pic>
      <p:sp>
        <p:nvSpPr>
          <p:cNvPr id="12" name="Text 9"/>
          <p:cNvSpPr txBox="1"/>
          <p:nvPr/>
        </p:nvSpPr>
        <p:spPr>
          <a:xfrm>
            <a:off x="4572000" y="1435608"/>
            <a:ext cx="2926080" cy="365760"/>
          </a:xfrm>
          <a:prstGeom prst="rect">
            <a:avLst/>
          </a:prstGeom>
          <a:noFill/>
          <a:ln/>
        </p:spPr>
        <p:txBody>
          <a:bodyPr wrap="square" lIns="0" tIns="0" rIns="0" bIns="0" rtlCol="0" anchor="t"/>
          <a:lstStyle/>
          <a:p>
            <a:pPr indent="0" marL="0">
              <a:buNone/>
            </a:pPr>
            <a:r>
              <a:rPr lang="en-US" sz="1600" b="1" dirty="0">
                <a:solidFill>
                  <a:schemeClr val="tx1"/>
                </a:solidFill>
              </a:rPr>
              <a:t>Backend · Spring Boot</a:t>
            </a:r>
            <a:endParaRPr lang="en-US" sz="1600" dirty="0"/>
          </a:p>
        </p:txBody>
      </p:sp>
      <p:sp>
        <p:nvSpPr>
          <p:cNvPr id="13" name="Text 10"/>
          <p:cNvSpPr txBox="1"/>
          <p:nvPr/>
        </p:nvSpPr>
        <p:spPr>
          <a:xfrm>
            <a:off x="4023360" y="1874520"/>
            <a:ext cx="3474720" cy="914400"/>
          </a:xfrm>
          <a:prstGeom prst="rect">
            <a:avLst/>
          </a:prstGeom>
          <a:noFill/>
          <a:ln/>
        </p:spPr>
        <p:txBody>
          <a:bodyPr wrap="square" lIns="0" tIns="0" rIns="0" bIns="0" rtlCol="0" anchor="t"/>
          <a:lstStyle/>
          <a:p>
            <a:pPr indent="0" marL="0">
              <a:buNone/>
            </a:pPr>
            <a:r>
              <a:rPr lang="en-US" sz="1300" dirty="0">
                <a:solidFill>
                  <a:schemeClr val="tx2"/>
                </a:solidFill>
              </a:rPr>
              <a:t>2 pods, autoscaled 2–6 at 70% CPU</a:t>
            </a:r>
            <a:endParaRPr lang="en-US" sz="1300" dirty="0"/>
          </a:p>
          <a:p>
            <a:pPr indent="0" marL="0">
              <a:buNone/>
            </a:pPr>
            <a:r>
              <a:rPr lang="en-US" sz="1300" dirty="0">
                <a:solidFill>
                  <a:schemeClr val="tx2"/>
                </a:solidFill>
              </a:rPr>
              <a:t>Disruption budget keeps 1 always up</a:t>
            </a:r>
            <a:endParaRPr lang="en-US" sz="1300" dirty="0"/>
          </a:p>
          <a:p>
            <a:pPr indent="0" marL="0">
              <a:buNone/>
            </a:pPr>
            <a:r>
              <a:rPr lang="en-US" sz="1300" dirty="0">
                <a:solidFill>
                  <a:schemeClr val="tx2"/>
                </a:solidFill>
              </a:rPr>
              <a:t>Health, readiness and liveness probes</a:t>
            </a:r>
            <a:endParaRPr lang="en-US" sz="1300" dirty="0"/>
          </a:p>
        </p:txBody>
      </p:sp>
      <p:sp>
        <p:nvSpPr>
          <p:cNvPr id="14" name="Shape 11"/>
          <p:cNvSpPr/>
          <p:nvPr/>
        </p:nvSpPr>
        <p:spPr>
          <a:xfrm>
            <a:off x="3840480" y="3611880"/>
            <a:ext cx="3749040" cy="1417320"/>
          </a:xfrm>
          <a:prstGeom prst="roundRect">
            <a:avLst>
              <a:gd name="adj" fmla="val 5161"/>
            </a:avLst>
          </a:prstGeom>
          <a:solidFill>
            <a:schemeClr val="bg2"/>
          </a:solidFill>
          <a:ln w="12700">
            <a:solidFill>
              <a:schemeClr val="accent1"/>
            </a:solidFill>
            <a:prstDash val="solid"/>
          </a:ln>
        </p:spPr>
      </p:sp>
      <p:pic>
        <p:nvPicPr>
          <p:cNvPr id="15" name="Image 1" descr="preencoded.png">    </p:cNvPr>
          <p:cNvPicPr>
            <a:picLocks noChangeAspect="1"/>
          </p:cNvPicPr>
          <p:nvPr/>
        </p:nvPicPr>
        <p:blipFill>
          <a:blip r:embed="rId2"/>
          <a:stretch>
            <a:fillRect/>
          </a:stretch>
        </p:blipFill>
        <p:spPr>
          <a:xfrm>
            <a:off x="4023360" y="3749040"/>
            <a:ext cx="411480" cy="411480"/>
          </a:xfrm>
          <a:prstGeom prst="rect">
            <a:avLst/>
          </a:prstGeom>
        </p:spPr>
      </p:pic>
      <p:sp>
        <p:nvSpPr>
          <p:cNvPr id="16" name="Text 12"/>
          <p:cNvSpPr txBox="1"/>
          <p:nvPr/>
        </p:nvSpPr>
        <p:spPr>
          <a:xfrm>
            <a:off x="4572000" y="3767328"/>
            <a:ext cx="2926080" cy="365760"/>
          </a:xfrm>
          <a:prstGeom prst="rect">
            <a:avLst/>
          </a:prstGeom>
          <a:noFill/>
          <a:ln/>
        </p:spPr>
        <p:txBody>
          <a:bodyPr wrap="square" lIns="0" tIns="0" rIns="0" bIns="0" rtlCol="0" anchor="t"/>
          <a:lstStyle/>
          <a:p>
            <a:pPr indent="0" marL="0">
              <a:buNone/>
            </a:pPr>
            <a:r>
              <a:rPr lang="en-US" sz="1600" b="1" dirty="0">
                <a:solidFill>
                  <a:schemeClr val="tx1"/>
                </a:solidFill>
              </a:rPr>
              <a:t>Web app · nginx + React</a:t>
            </a:r>
            <a:endParaRPr lang="en-US" sz="1600" dirty="0"/>
          </a:p>
        </p:txBody>
      </p:sp>
      <p:sp>
        <p:nvSpPr>
          <p:cNvPr id="17" name="Text 13"/>
          <p:cNvSpPr txBox="1"/>
          <p:nvPr/>
        </p:nvSpPr>
        <p:spPr>
          <a:xfrm>
            <a:off x="4023360" y="4206240"/>
            <a:ext cx="3474720" cy="731520"/>
          </a:xfrm>
          <a:prstGeom prst="rect">
            <a:avLst/>
          </a:prstGeom>
          <a:noFill/>
          <a:ln/>
        </p:spPr>
        <p:txBody>
          <a:bodyPr wrap="square" lIns="0" tIns="0" rIns="0" bIns="0" rtlCol="0" anchor="t"/>
          <a:lstStyle/>
          <a:p>
            <a:pPr indent="0" marL="0">
              <a:buNone/>
            </a:pPr>
            <a:r>
              <a:rPr lang="en-US" sz="1300" dirty="0">
                <a:solidFill>
                  <a:schemeClr val="tx2"/>
                </a:solidFill>
              </a:rPr>
              <a:t>2 pods serving the SPA; proxies</a:t>
            </a:r>
            <a:endParaRPr lang="en-US" sz="1300" dirty="0"/>
          </a:p>
          <a:p>
            <a:pPr indent="0" marL="0">
              <a:buNone/>
            </a:pPr>
            <a:r>
              <a:rPr lang="en-US" sz="1300" dirty="0">
                <a:solidFill>
                  <a:schemeClr val="tx2"/>
                </a:solidFill>
              </a:rPr>
              <a:t>/api to the backend (one origin)</a:t>
            </a:r>
            <a:endParaRPr lang="en-US" sz="1300" dirty="0"/>
          </a:p>
        </p:txBody>
      </p:sp>
      <p:sp>
        <p:nvSpPr>
          <p:cNvPr id="18" name="Shape 14"/>
          <p:cNvSpPr/>
          <p:nvPr/>
        </p:nvSpPr>
        <p:spPr>
          <a:xfrm flipV="1">
            <a:off x="5715000" y="2880360"/>
            <a:ext cx="914" cy="731520"/>
          </a:xfrm>
          <a:prstGeom prst="line">
            <a:avLst/>
          </a:prstGeom>
          <a:noFill/>
          <a:ln w="19050">
            <a:solidFill>
              <a:schemeClr val="tx2"/>
            </a:solidFill>
            <a:prstDash val="solid"/>
            <a:tailEnd type="triangle"/>
          </a:ln>
        </p:spPr>
      </p:sp>
      <p:sp>
        <p:nvSpPr>
          <p:cNvPr id="19" name="Shape 15"/>
          <p:cNvSpPr/>
          <p:nvPr/>
        </p:nvSpPr>
        <p:spPr>
          <a:xfrm>
            <a:off x="7589520" y="2075688"/>
            <a:ext cx="914400" cy="914"/>
          </a:xfrm>
          <a:prstGeom prst="line">
            <a:avLst/>
          </a:prstGeom>
          <a:noFill/>
          <a:ln w="19050">
            <a:solidFill>
              <a:schemeClr val="tx2"/>
            </a:solidFill>
            <a:prstDash val="solid"/>
            <a:tailEnd type="triangle"/>
          </a:ln>
        </p:spPr>
      </p:sp>
      <p:sp>
        <p:nvSpPr>
          <p:cNvPr id="20" name="Shape 16"/>
          <p:cNvSpPr/>
          <p:nvPr/>
        </p:nvSpPr>
        <p:spPr>
          <a:xfrm>
            <a:off x="8503920" y="1280160"/>
            <a:ext cx="3108960" cy="1600200"/>
          </a:xfrm>
          <a:prstGeom prst="roundRect">
            <a:avLst>
              <a:gd name="adj" fmla="val 4571"/>
            </a:avLst>
          </a:prstGeom>
          <a:solidFill>
            <a:schemeClr val="bg1"/>
          </a:solidFill>
          <a:ln w="12700">
            <a:solidFill>
              <a:schemeClr val="tx2"/>
            </a:solidFill>
            <a:prstDash val="solid"/>
          </a:ln>
          <a:effectLst>
            <a:outerShdw sx="100000" sy="100000" kx="0" ky="0" algn="bl" rotWithShape="0" blurRad="76200" dist="25400" dir="5400000">
              <a:srgbClr val="091E42">
                <a:alpha val="12000"/>
              </a:srgbClr>
            </a:outerShdw>
          </a:effectLst>
        </p:spPr>
      </p:sp>
      <p:pic>
        <p:nvPicPr>
          <p:cNvPr id="21" name="Image 2" descr="preencoded.png">    </p:cNvPr>
          <p:cNvPicPr>
            <a:picLocks noChangeAspect="1"/>
          </p:cNvPicPr>
          <p:nvPr/>
        </p:nvPicPr>
        <p:blipFill>
          <a:blip r:embed="rId3"/>
          <a:stretch>
            <a:fillRect/>
          </a:stretch>
        </p:blipFill>
        <p:spPr>
          <a:xfrm>
            <a:off x="8686800" y="1417320"/>
            <a:ext cx="457200" cy="457200"/>
          </a:xfrm>
          <a:prstGeom prst="rect">
            <a:avLst/>
          </a:prstGeom>
        </p:spPr>
      </p:pic>
      <p:sp>
        <p:nvSpPr>
          <p:cNvPr id="22" name="Text 17"/>
          <p:cNvSpPr txBox="1"/>
          <p:nvPr/>
        </p:nvSpPr>
        <p:spPr>
          <a:xfrm>
            <a:off x="9235440" y="1463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Managed MySQL</a:t>
            </a:r>
            <a:endParaRPr lang="en-US" sz="1600" dirty="0"/>
          </a:p>
        </p:txBody>
      </p:sp>
      <p:sp>
        <p:nvSpPr>
          <p:cNvPr id="23" name="Text 18"/>
          <p:cNvSpPr txBox="1"/>
          <p:nvPr/>
        </p:nvSpPr>
        <p:spPr>
          <a:xfrm>
            <a:off x="8686800" y="1965960"/>
            <a:ext cx="2743200" cy="777240"/>
          </a:xfrm>
          <a:prstGeom prst="rect">
            <a:avLst/>
          </a:prstGeom>
          <a:noFill/>
          <a:ln/>
        </p:spPr>
        <p:txBody>
          <a:bodyPr wrap="square" lIns="0" tIns="0" rIns="0" bIns="0" rtlCol="0" anchor="t"/>
          <a:lstStyle/>
          <a:p>
            <a:pPr indent="0" marL="0">
              <a:buNone/>
            </a:pPr>
            <a:r>
              <a:rPr lang="en-US" sz="1300" dirty="0">
                <a:solidFill>
                  <a:schemeClr val="tx2"/>
                </a:solidFill>
              </a:rPr>
              <a:t>Outside the cluster; TLS required; schema by Flyway</a:t>
            </a:r>
            <a:endParaRPr lang="en-US" sz="1300" dirty="0"/>
          </a:p>
        </p:txBody>
      </p:sp>
      <p:sp>
        <p:nvSpPr>
          <p:cNvPr id="24" name="Shape 19"/>
          <p:cNvSpPr/>
          <p:nvPr/>
        </p:nvSpPr>
        <p:spPr>
          <a:xfrm>
            <a:off x="8503920" y="3611880"/>
            <a:ext cx="3108960" cy="1417320"/>
          </a:xfrm>
          <a:prstGeom prst="roundRect">
            <a:avLst>
              <a:gd name="adj" fmla="val 5161"/>
            </a:avLst>
          </a:prstGeom>
          <a:solidFill>
            <a:schemeClr val="bg2"/>
          </a:solidFill>
          <a:ln/>
        </p:spPr>
      </p:sp>
      <p:sp>
        <p:nvSpPr>
          <p:cNvPr id="25" name="Text 20"/>
          <p:cNvSpPr txBox="1"/>
          <p:nvPr/>
        </p:nvSpPr>
        <p:spPr>
          <a:xfrm>
            <a:off x="8686800" y="3730752"/>
            <a:ext cx="2743200" cy="347472"/>
          </a:xfrm>
          <a:prstGeom prst="rect">
            <a:avLst/>
          </a:prstGeom>
          <a:noFill/>
          <a:ln/>
        </p:spPr>
        <p:txBody>
          <a:bodyPr wrap="square" lIns="0" tIns="0" rIns="0" bIns="0" rtlCol="0" anchor="t"/>
          <a:lstStyle/>
          <a:p>
            <a:pPr indent="0" marL="0">
              <a:buNone/>
            </a:pPr>
            <a:r>
              <a:rPr lang="en-US" sz="1500" b="1" dirty="0">
                <a:solidFill>
                  <a:schemeClr val="tx1"/>
                </a:solidFill>
              </a:rPr>
              <a:t>Config per cluster</a:t>
            </a:r>
            <a:endParaRPr lang="en-US" sz="1500" dirty="0"/>
          </a:p>
        </p:txBody>
      </p:sp>
      <p:sp>
        <p:nvSpPr>
          <p:cNvPr id="26" name="Text 21"/>
          <p:cNvSpPr txBox="1"/>
          <p:nvPr/>
        </p:nvSpPr>
        <p:spPr>
          <a:xfrm>
            <a:off x="8686800" y="4114800"/>
            <a:ext cx="2788920" cy="822960"/>
          </a:xfrm>
          <a:prstGeom prst="rect">
            <a:avLst/>
          </a:prstGeom>
          <a:noFill/>
          <a:ln/>
        </p:spPr>
        <p:txBody>
          <a:bodyPr wrap="square" lIns="0" tIns="0" rIns="0" bIns="0" rtlCol="0" anchor="t"/>
          <a:lstStyle/>
          <a:p>
            <a:pPr indent="0" marL="0">
              <a:buNone/>
            </a:pPr>
            <a:r>
              <a:rPr lang="en-US" sz="1300" dirty="0">
                <a:solidFill>
                  <a:schemeClr val="tx2"/>
                </a:solidFill>
              </a:rPr>
              <a:t>ConfigMap + Secret written by the deploy pipeline from tofu outputs</a:t>
            </a:r>
            <a:endParaRPr lang="en-US" sz="1300" dirty="0"/>
          </a:p>
        </p:txBody>
      </p:sp>
      <p:sp>
        <p:nvSpPr>
          <p:cNvPr id="27" name="Text 22"/>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500" b="1" dirty="0">
                <a:solidFill>
                  <a:schemeClr val="tx2"/>
                </a:solidFill>
              </a:rPr>
              <a:t>Same images everywhere. </a:t>
            </a:r>
            <a:pPr indent="0" marL="0">
              <a:buNone/>
            </a:pPr>
            <a:r>
              <a:rPr lang="en-US" sz="1500" dirty="0">
                <a:solidFill>
                  <a:schemeClr val="tx2"/>
                </a:solidFill>
              </a:rPr>
              <a:t>The only differences between kind, EKS and AKS are a Kustomize overlay and the values the pipeline fills in.</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Infrastructure as code with OpenTofu</a:t>
            </a:r>
            <a:endParaRPr lang="en-US" sz="3200" dirty="0"/>
          </a:p>
        </p:txBody>
      </p:sp>
      <p:sp>
        <p:nvSpPr>
          <p:cNvPr id="3" name="Shape 1"/>
          <p:cNvSpPr/>
          <p:nvPr/>
        </p:nvSpPr>
        <p:spPr>
          <a:xfrm>
            <a:off x="548640" y="1325880"/>
            <a:ext cx="3520440" cy="4023360"/>
          </a:xfrm>
          <a:prstGeom prst="roundRect">
            <a:avLst>
              <a:gd name="adj" fmla="val 2078"/>
            </a:avLst>
          </a:prstGeom>
          <a:solidFill>
            <a:schemeClr val="bg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822960" y="1508760"/>
            <a:ext cx="457200" cy="457200"/>
          </a:xfrm>
          <a:prstGeom prst="rect">
            <a:avLst/>
          </a:prstGeom>
        </p:spPr>
      </p:pic>
      <p:sp>
        <p:nvSpPr>
          <p:cNvPr id="5" name="Text 2"/>
          <p:cNvSpPr txBox="1"/>
          <p:nvPr/>
        </p:nvSpPr>
        <p:spPr>
          <a:xfrm>
            <a:off x="141732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AWS modules</a:t>
            </a:r>
            <a:endParaRPr lang="en-US" sz="1700" dirty="0"/>
          </a:p>
        </p:txBody>
      </p:sp>
      <p:sp>
        <p:nvSpPr>
          <p:cNvPr id="6" name="Shape 3"/>
          <p:cNvSpPr/>
          <p:nvPr/>
        </p:nvSpPr>
        <p:spPr>
          <a:xfrm>
            <a:off x="822960" y="2194560"/>
            <a:ext cx="2971800" cy="365760"/>
          </a:xfrm>
          <a:prstGeom prst="roundRect">
            <a:avLst>
              <a:gd name="adj" fmla="val 15000"/>
            </a:avLst>
          </a:prstGeom>
          <a:solidFill>
            <a:schemeClr val="bg1"/>
          </a:solidFill>
          <a:ln/>
        </p:spPr>
      </p:sp>
      <p:sp>
        <p:nvSpPr>
          <p:cNvPr id="7" name="Text 4"/>
          <p:cNvSpPr txBox="1"/>
          <p:nvPr/>
        </p:nvSpPr>
        <p:spPr>
          <a:xfrm>
            <a:off x="82296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vpc</a:t>
            </a:r>
            <a:endParaRPr lang="en-US" sz="1300" dirty="0"/>
          </a:p>
        </p:txBody>
      </p:sp>
      <p:sp>
        <p:nvSpPr>
          <p:cNvPr id="8" name="Shape 5"/>
          <p:cNvSpPr/>
          <p:nvPr/>
        </p:nvSpPr>
        <p:spPr>
          <a:xfrm>
            <a:off x="822960" y="2651760"/>
            <a:ext cx="2971800" cy="365760"/>
          </a:xfrm>
          <a:prstGeom prst="roundRect">
            <a:avLst>
              <a:gd name="adj" fmla="val 15000"/>
            </a:avLst>
          </a:prstGeom>
          <a:solidFill>
            <a:schemeClr val="bg1"/>
          </a:solidFill>
          <a:ln/>
        </p:spPr>
      </p:sp>
      <p:sp>
        <p:nvSpPr>
          <p:cNvPr id="9" name="Text 6"/>
          <p:cNvSpPr txBox="1"/>
          <p:nvPr/>
        </p:nvSpPr>
        <p:spPr>
          <a:xfrm>
            <a:off x="82296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eks</a:t>
            </a:r>
            <a:endParaRPr lang="en-US" sz="1300" dirty="0"/>
          </a:p>
        </p:txBody>
      </p:sp>
      <p:sp>
        <p:nvSpPr>
          <p:cNvPr id="10" name="Shape 7"/>
          <p:cNvSpPr/>
          <p:nvPr/>
        </p:nvSpPr>
        <p:spPr>
          <a:xfrm>
            <a:off x="822960" y="3108960"/>
            <a:ext cx="2971800" cy="365760"/>
          </a:xfrm>
          <a:prstGeom prst="roundRect">
            <a:avLst>
              <a:gd name="adj" fmla="val 15000"/>
            </a:avLst>
          </a:prstGeom>
          <a:solidFill>
            <a:schemeClr val="bg1"/>
          </a:solidFill>
          <a:ln/>
        </p:spPr>
      </p:sp>
      <p:sp>
        <p:nvSpPr>
          <p:cNvPr id="11" name="Text 8"/>
          <p:cNvSpPr txBox="1"/>
          <p:nvPr/>
        </p:nvSpPr>
        <p:spPr>
          <a:xfrm>
            <a:off x="82296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ecr</a:t>
            </a:r>
            <a:endParaRPr lang="en-US" sz="1300" dirty="0"/>
          </a:p>
        </p:txBody>
      </p:sp>
      <p:sp>
        <p:nvSpPr>
          <p:cNvPr id="12" name="Shape 9"/>
          <p:cNvSpPr/>
          <p:nvPr/>
        </p:nvSpPr>
        <p:spPr>
          <a:xfrm>
            <a:off x="822960" y="3566160"/>
            <a:ext cx="2971800" cy="365760"/>
          </a:xfrm>
          <a:prstGeom prst="roundRect">
            <a:avLst>
              <a:gd name="adj" fmla="val 15000"/>
            </a:avLst>
          </a:prstGeom>
          <a:solidFill>
            <a:schemeClr val="bg1"/>
          </a:solidFill>
          <a:ln/>
        </p:spPr>
      </p:sp>
      <p:sp>
        <p:nvSpPr>
          <p:cNvPr id="13" name="Text 10"/>
          <p:cNvSpPr txBox="1"/>
          <p:nvPr/>
        </p:nvSpPr>
        <p:spPr>
          <a:xfrm>
            <a:off x="82296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rds</a:t>
            </a:r>
            <a:endParaRPr lang="en-US" sz="1300" dirty="0"/>
          </a:p>
        </p:txBody>
      </p:sp>
      <p:sp>
        <p:nvSpPr>
          <p:cNvPr id="14" name="Shape 11"/>
          <p:cNvSpPr/>
          <p:nvPr/>
        </p:nvSpPr>
        <p:spPr>
          <a:xfrm>
            <a:off x="822960" y="4023360"/>
            <a:ext cx="2971800" cy="365760"/>
          </a:xfrm>
          <a:prstGeom prst="roundRect">
            <a:avLst>
              <a:gd name="adj" fmla="val 15000"/>
            </a:avLst>
          </a:prstGeom>
          <a:solidFill>
            <a:schemeClr val="bg1"/>
          </a:solidFill>
          <a:ln/>
        </p:spPr>
      </p:sp>
      <p:sp>
        <p:nvSpPr>
          <p:cNvPr id="15" name="Text 12"/>
          <p:cNvSpPr txBox="1"/>
          <p:nvPr/>
        </p:nvSpPr>
        <p:spPr>
          <a:xfrm>
            <a:off x="82296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frontend (S3 + CloudFront)</a:t>
            </a:r>
            <a:endParaRPr lang="en-US" sz="1300" dirty="0"/>
          </a:p>
        </p:txBody>
      </p:sp>
      <p:sp>
        <p:nvSpPr>
          <p:cNvPr id="16" name="Shape 13"/>
          <p:cNvSpPr/>
          <p:nvPr/>
        </p:nvSpPr>
        <p:spPr>
          <a:xfrm>
            <a:off x="822960" y="4480560"/>
            <a:ext cx="2971800" cy="365760"/>
          </a:xfrm>
          <a:prstGeom prst="roundRect">
            <a:avLst>
              <a:gd name="adj" fmla="val 15000"/>
            </a:avLst>
          </a:prstGeom>
          <a:solidFill>
            <a:schemeClr val="bg1"/>
          </a:solidFill>
          <a:ln/>
        </p:spPr>
      </p:sp>
      <p:sp>
        <p:nvSpPr>
          <p:cNvPr id="17" name="Text 14"/>
          <p:cNvSpPr txBox="1"/>
          <p:nvPr/>
        </p:nvSpPr>
        <p:spPr>
          <a:xfrm>
            <a:off x="822960" y="4480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route53</a:t>
            </a:r>
            <a:endParaRPr lang="en-US" sz="1300" dirty="0"/>
          </a:p>
        </p:txBody>
      </p:sp>
      <p:sp>
        <p:nvSpPr>
          <p:cNvPr id="18" name="Text 15"/>
          <p:cNvSpPr txBox="1"/>
          <p:nvPr/>
        </p:nvSpPr>
        <p:spPr>
          <a:xfrm>
            <a:off x="822960" y="4892040"/>
            <a:ext cx="3017520" cy="320040"/>
          </a:xfrm>
          <a:prstGeom prst="rect">
            <a:avLst/>
          </a:prstGeom>
          <a:noFill/>
          <a:ln/>
        </p:spPr>
        <p:txBody>
          <a:bodyPr wrap="square" lIns="0" tIns="0" rIns="0" bIns="0" rtlCol="0" anchor="t"/>
          <a:lstStyle/>
          <a:p>
            <a:pPr indent="0" marL="0">
              <a:buNone/>
            </a:pPr>
            <a:r>
              <a:rPr lang="en-US" sz="1300" b="1" dirty="0">
                <a:solidFill>
                  <a:schemeClr val="accent2"/>
                </a:solidFill>
              </a:rPr>
              <a:t>us-east-1 + us-west-2 · 63 resources</a:t>
            </a:r>
            <a:endParaRPr lang="en-US" sz="1300" dirty="0"/>
          </a:p>
        </p:txBody>
      </p:sp>
      <p:sp>
        <p:nvSpPr>
          <p:cNvPr id="19" name="Shape 16"/>
          <p:cNvSpPr/>
          <p:nvPr/>
        </p:nvSpPr>
        <p:spPr>
          <a:xfrm>
            <a:off x="4343400" y="1325880"/>
            <a:ext cx="3520440" cy="4023360"/>
          </a:xfrm>
          <a:prstGeom prst="roundRect">
            <a:avLst>
              <a:gd name="adj" fmla="val 2078"/>
            </a:avLst>
          </a:prstGeom>
          <a:solidFill>
            <a:schemeClr val="bg2"/>
          </a:solidFill>
          <a:ln w="12700">
            <a:solidFill>
              <a:schemeClr val="accent3"/>
            </a:solidFill>
            <a:prstDash val="solid"/>
          </a:ln>
        </p:spPr>
      </p:sp>
      <p:pic>
        <p:nvPicPr>
          <p:cNvPr id="20" name="Image 1" descr="preencoded.png">    </p:cNvPr>
          <p:cNvPicPr>
            <a:picLocks noChangeAspect="1"/>
          </p:cNvPicPr>
          <p:nvPr/>
        </p:nvPicPr>
        <p:blipFill>
          <a:blip r:embed="rId2"/>
          <a:stretch>
            <a:fillRect/>
          </a:stretch>
        </p:blipFill>
        <p:spPr>
          <a:xfrm>
            <a:off x="4617720" y="1508760"/>
            <a:ext cx="457200" cy="457200"/>
          </a:xfrm>
          <a:prstGeom prst="rect">
            <a:avLst/>
          </a:prstGeom>
        </p:spPr>
      </p:pic>
      <p:sp>
        <p:nvSpPr>
          <p:cNvPr id="21" name="Text 17"/>
          <p:cNvSpPr txBox="1"/>
          <p:nvPr/>
        </p:nvSpPr>
        <p:spPr>
          <a:xfrm>
            <a:off x="521208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Azure modules</a:t>
            </a:r>
            <a:endParaRPr lang="en-US" sz="1700" dirty="0"/>
          </a:p>
        </p:txBody>
      </p:sp>
      <p:sp>
        <p:nvSpPr>
          <p:cNvPr id="22" name="Shape 18"/>
          <p:cNvSpPr/>
          <p:nvPr/>
        </p:nvSpPr>
        <p:spPr>
          <a:xfrm>
            <a:off x="4617720" y="2194560"/>
            <a:ext cx="2971800" cy="365760"/>
          </a:xfrm>
          <a:prstGeom prst="roundRect">
            <a:avLst>
              <a:gd name="adj" fmla="val 15000"/>
            </a:avLst>
          </a:prstGeom>
          <a:solidFill>
            <a:schemeClr val="bg1"/>
          </a:solidFill>
          <a:ln/>
        </p:spPr>
      </p:sp>
      <p:sp>
        <p:nvSpPr>
          <p:cNvPr id="23" name="Text 19"/>
          <p:cNvSpPr txBox="1"/>
          <p:nvPr/>
        </p:nvSpPr>
        <p:spPr>
          <a:xfrm>
            <a:off x="461772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aks</a:t>
            </a:r>
            <a:endParaRPr lang="en-US" sz="1300" dirty="0"/>
          </a:p>
        </p:txBody>
      </p:sp>
      <p:sp>
        <p:nvSpPr>
          <p:cNvPr id="24" name="Shape 20"/>
          <p:cNvSpPr/>
          <p:nvPr/>
        </p:nvSpPr>
        <p:spPr>
          <a:xfrm>
            <a:off x="4617720" y="2651760"/>
            <a:ext cx="2971800" cy="365760"/>
          </a:xfrm>
          <a:prstGeom prst="roundRect">
            <a:avLst>
              <a:gd name="adj" fmla="val 15000"/>
            </a:avLst>
          </a:prstGeom>
          <a:solidFill>
            <a:schemeClr val="bg1"/>
          </a:solidFill>
          <a:ln/>
        </p:spPr>
      </p:sp>
      <p:sp>
        <p:nvSpPr>
          <p:cNvPr id="25" name="Text 21"/>
          <p:cNvSpPr txBox="1"/>
          <p:nvPr/>
        </p:nvSpPr>
        <p:spPr>
          <a:xfrm>
            <a:off x="461772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acr</a:t>
            </a:r>
            <a:endParaRPr lang="en-US" sz="1300" dirty="0"/>
          </a:p>
        </p:txBody>
      </p:sp>
      <p:sp>
        <p:nvSpPr>
          <p:cNvPr id="26" name="Shape 22"/>
          <p:cNvSpPr/>
          <p:nvPr/>
        </p:nvSpPr>
        <p:spPr>
          <a:xfrm>
            <a:off x="4617720" y="3108960"/>
            <a:ext cx="2971800" cy="365760"/>
          </a:xfrm>
          <a:prstGeom prst="roundRect">
            <a:avLst>
              <a:gd name="adj" fmla="val 15000"/>
            </a:avLst>
          </a:prstGeom>
          <a:solidFill>
            <a:schemeClr val="bg1"/>
          </a:solidFill>
          <a:ln/>
        </p:spPr>
      </p:sp>
      <p:sp>
        <p:nvSpPr>
          <p:cNvPr id="27" name="Text 23"/>
          <p:cNvSpPr txBox="1"/>
          <p:nvPr/>
        </p:nvSpPr>
        <p:spPr>
          <a:xfrm>
            <a:off x="461772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mysql</a:t>
            </a:r>
            <a:endParaRPr lang="en-US" sz="1300" dirty="0"/>
          </a:p>
        </p:txBody>
      </p:sp>
      <p:sp>
        <p:nvSpPr>
          <p:cNvPr id="28" name="Shape 24"/>
          <p:cNvSpPr/>
          <p:nvPr/>
        </p:nvSpPr>
        <p:spPr>
          <a:xfrm>
            <a:off x="4617720" y="3566160"/>
            <a:ext cx="2971800" cy="365760"/>
          </a:xfrm>
          <a:prstGeom prst="roundRect">
            <a:avLst>
              <a:gd name="adj" fmla="val 15000"/>
            </a:avLst>
          </a:prstGeom>
          <a:solidFill>
            <a:schemeClr val="bg1"/>
          </a:solidFill>
          <a:ln/>
        </p:spPr>
      </p:sp>
      <p:sp>
        <p:nvSpPr>
          <p:cNvPr id="29" name="Text 25"/>
          <p:cNvSpPr txBox="1"/>
          <p:nvPr/>
        </p:nvSpPr>
        <p:spPr>
          <a:xfrm>
            <a:off x="461772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traffic-manager</a:t>
            </a:r>
            <a:endParaRPr lang="en-US" sz="1300" dirty="0"/>
          </a:p>
        </p:txBody>
      </p:sp>
      <p:sp>
        <p:nvSpPr>
          <p:cNvPr id="30" name="Shape 26"/>
          <p:cNvSpPr/>
          <p:nvPr/>
        </p:nvSpPr>
        <p:spPr>
          <a:xfrm>
            <a:off x="4617720" y="4023360"/>
            <a:ext cx="2971800" cy="365760"/>
          </a:xfrm>
          <a:prstGeom prst="roundRect">
            <a:avLst>
              <a:gd name="adj" fmla="val 15000"/>
            </a:avLst>
          </a:prstGeom>
          <a:solidFill>
            <a:schemeClr val="bg1"/>
          </a:solidFill>
          <a:ln/>
        </p:spPr>
      </p:sp>
      <p:sp>
        <p:nvSpPr>
          <p:cNvPr id="31" name="Text 27"/>
          <p:cNvSpPr txBox="1"/>
          <p:nvPr/>
        </p:nvSpPr>
        <p:spPr>
          <a:xfrm>
            <a:off x="461772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static-web-app</a:t>
            </a:r>
            <a:endParaRPr lang="en-US" sz="1300" dirty="0"/>
          </a:p>
        </p:txBody>
      </p:sp>
      <p:sp>
        <p:nvSpPr>
          <p:cNvPr id="32" name="Text 28"/>
          <p:cNvSpPr txBox="1"/>
          <p:nvPr/>
        </p:nvSpPr>
        <p:spPr>
          <a:xfrm>
            <a:off x="4617720" y="4892040"/>
            <a:ext cx="3017520" cy="320040"/>
          </a:xfrm>
          <a:prstGeom prst="rect">
            <a:avLst/>
          </a:prstGeom>
          <a:noFill/>
          <a:ln/>
        </p:spPr>
        <p:txBody>
          <a:bodyPr wrap="square" lIns="0" tIns="0" rIns="0" bIns="0" rtlCol="0" anchor="t"/>
          <a:lstStyle/>
          <a:p>
            <a:pPr indent="0" marL="0">
              <a:buNone/>
            </a:pPr>
            <a:r>
              <a:rPr lang="en-US" sz="1300" b="1" dirty="0">
                <a:solidFill>
                  <a:schemeClr val="accent3"/>
                </a:solidFill>
              </a:rPr>
              <a:t>eastasia + koreacentral · 17 resources</a:t>
            </a:r>
            <a:endParaRPr lang="en-US" sz="1300" dirty="0"/>
          </a:p>
        </p:txBody>
      </p:sp>
      <p:sp>
        <p:nvSpPr>
          <p:cNvPr id="33" name="Shape 29"/>
          <p:cNvSpPr/>
          <p:nvPr/>
        </p:nvSpPr>
        <p:spPr>
          <a:xfrm>
            <a:off x="8138160" y="1325880"/>
            <a:ext cx="3474720" cy="4023360"/>
          </a:xfrm>
          <a:prstGeom prst="roundRect">
            <a:avLst>
              <a:gd name="adj" fmla="val 2105"/>
            </a:avLst>
          </a:prstGeom>
          <a:solidFill>
            <a:schemeClr val="tx1"/>
          </a:solidFill>
          <a:ln/>
        </p:spPr>
      </p:sp>
      <p:sp>
        <p:nvSpPr>
          <p:cNvPr id="34" name="Text 30"/>
          <p:cNvSpPr txBox="1"/>
          <p:nvPr/>
        </p:nvSpPr>
        <p:spPr>
          <a:xfrm>
            <a:off x="8412480" y="1554480"/>
            <a:ext cx="3017520" cy="365760"/>
          </a:xfrm>
          <a:prstGeom prst="rect">
            <a:avLst/>
          </a:prstGeom>
          <a:noFill/>
          <a:ln/>
        </p:spPr>
        <p:txBody>
          <a:bodyPr wrap="square" lIns="0" tIns="0" rIns="0" bIns="0" rtlCol="0" anchor="t"/>
          <a:lstStyle/>
          <a:p>
            <a:pPr indent="0" marL="0">
              <a:buNone/>
            </a:pPr>
            <a:r>
              <a:rPr lang="en-US" sz="1700" b="1" dirty="0">
                <a:solidFill>
                  <a:schemeClr val="bg1"/>
                </a:solidFill>
              </a:rPr>
              <a:t>How it's run</a:t>
            </a:r>
            <a:endParaRPr lang="en-US" sz="1700" dirty="0"/>
          </a:p>
        </p:txBody>
      </p:sp>
      <p:sp>
        <p:nvSpPr>
          <p:cNvPr id="35" name="Text 31"/>
          <p:cNvSpPr txBox="1"/>
          <p:nvPr/>
        </p:nvSpPr>
        <p:spPr>
          <a:xfrm>
            <a:off x="8412480" y="2057400"/>
            <a:ext cx="301752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One-time bootstrap: state bucket, storage account and GitHub OIDC trust</a:t>
            </a:r>
            <a:endParaRPr lang="en-US" sz="1400" dirty="0"/>
          </a:p>
          <a:p>
            <a:pPr marL="342900" indent="-342900">
              <a:spcAft>
                <a:spcPts val="800"/>
              </a:spcAft>
              <a:buSzPct val="100000"/>
              <a:buChar char="•"/>
            </a:pPr>
            <a:r>
              <a:rPr lang="en-US" sz="1400" dirty="0">
                <a:solidFill>
                  <a:schemeClr val="bg1"/>
                </a:solidFill>
              </a:rPr>
              <a:t>Apply and destroy only from GitHub Actions; apply needs your approval</a:t>
            </a:r>
            <a:endParaRPr lang="en-US" sz="1400" dirty="0"/>
          </a:p>
          <a:p>
            <a:pPr marL="342900" indent="-342900">
              <a:spcAft>
                <a:spcPts val="800"/>
              </a:spcAft>
              <a:buSzPct val="100000"/>
              <a:buChar char="•"/>
            </a:pPr>
            <a:r>
              <a:rPr lang="en-US" sz="1400" dirty="0">
                <a:solidFill>
                  <a:schemeClr val="bg1"/>
                </a:solidFill>
              </a:rPr>
              <a:t>cluster_count (1–5) is a for_each over clusters</a:t>
            </a:r>
            <a:endParaRPr lang="en-US" sz="1400" dirty="0"/>
          </a:p>
          <a:p>
            <a:pPr marL="342900" indent="-342900">
              <a:spcAft>
                <a:spcPts val="800"/>
              </a:spcAft>
              <a:buSzPct val="100000"/>
              <a:buChar char="•"/>
            </a:pPr>
            <a:r>
              <a:rPr lang="en-US" sz="1400" dirty="0">
                <a:solidFill>
                  <a:schemeClr val="bg1"/>
                </a:solidFill>
              </a:rPr>
              <a:t>Free-plan limits are flags: enable_replicas, enable_cloudfront, domain_name</a:t>
            </a:r>
            <a:endParaRPr lang="en-US" sz="1400" dirty="0"/>
          </a:p>
        </p:txBody>
      </p:sp>
      <p:sp>
        <p:nvSpPr>
          <p:cNvPr id="36" name="Text 32"/>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Fresh accounts to a running multi-cloud stack: one apply + one deploy, about 40 minutes, no console clicks.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CI/CD: from git push to four clusters</a:t>
            </a:r>
            <a:endParaRPr lang="en-US" sz="3200" dirty="0"/>
          </a:p>
        </p:txBody>
      </p:sp>
      <p:sp>
        <p:nvSpPr>
          <p:cNvPr id="3" name="Shape 1"/>
          <p:cNvSpPr/>
          <p:nvPr/>
        </p:nvSpPr>
        <p:spPr>
          <a:xfrm>
            <a:off x="960120" y="1371600"/>
            <a:ext cx="868680" cy="868680"/>
          </a:xfrm>
          <a:prstGeom prst="ellipse">
            <a:avLst/>
          </a:prstGeom>
          <a:solidFill>
            <a:schemeClr val="tx1"/>
          </a:solidFill>
          <a:ln/>
        </p:spPr>
      </p:sp>
      <p:pic>
        <p:nvPicPr>
          <p:cNvPr id="4" name="Image 0" descr="preencoded.png">    </p:cNvPr>
          <p:cNvPicPr>
            <a:picLocks noChangeAspect="1"/>
          </p:cNvPicPr>
          <p:nvPr/>
        </p:nvPicPr>
        <p:blipFill>
          <a:blip r:embed="rId1"/>
          <a:stretch>
            <a:fillRect/>
          </a:stretch>
        </p:blipFill>
        <p:spPr>
          <a:xfrm>
            <a:off x="1177290" y="1588770"/>
            <a:ext cx="434340" cy="434340"/>
          </a:xfrm>
          <a:prstGeom prst="rect">
            <a:avLst/>
          </a:prstGeom>
        </p:spPr>
      </p:pic>
      <p:sp>
        <p:nvSpPr>
          <p:cNvPr id="5" name="Shape 2"/>
          <p:cNvSpPr/>
          <p:nvPr/>
        </p:nvSpPr>
        <p:spPr>
          <a:xfrm>
            <a:off x="1920240" y="1805940"/>
            <a:ext cx="868680" cy="914"/>
          </a:xfrm>
          <a:prstGeom prst="line">
            <a:avLst/>
          </a:prstGeom>
          <a:noFill/>
          <a:ln w="19050">
            <a:solidFill>
              <a:schemeClr val="tx2"/>
            </a:solidFill>
            <a:prstDash val="solid"/>
            <a:tailEnd type="triangle"/>
          </a:ln>
        </p:spPr>
      </p:sp>
      <p:sp>
        <p:nvSpPr>
          <p:cNvPr id="6" name="Text 3"/>
          <p:cNvSpPr txBox="1"/>
          <p:nvPr/>
        </p:nvSpPr>
        <p:spPr>
          <a:xfrm>
            <a:off x="5486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 to main</a:t>
            </a:r>
            <a:endParaRPr lang="en-US" sz="1500" dirty="0"/>
          </a:p>
        </p:txBody>
      </p:sp>
      <p:sp>
        <p:nvSpPr>
          <p:cNvPr id="7" name="Shape 4"/>
          <p:cNvSpPr/>
          <p:nvPr/>
        </p:nvSpPr>
        <p:spPr>
          <a:xfrm>
            <a:off x="2880360" y="1371600"/>
            <a:ext cx="868680" cy="8686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3097530" y="1588770"/>
            <a:ext cx="434340" cy="434340"/>
          </a:xfrm>
          <a:prstGeom prst="rect">
            <a:avLst/>
          </a:prstGeom>
        </p:spPr>
      </p:pic>
      <p:sp>
        <p:nvSpPr>
          <p:cNvPr id="9" name="Shape 5"/>
          <p:cNvSpPr/>
          <p:nvPr/>
        </p:nvSpPr>
        <p:spPr>
          <a:xfrm>
            <a:off x="3840480" y="1805940"/>
            <a:ext cx="868680" cy="914"/>
          </a:xfrm>
          <a:prstGeom prst="line">
            <a:avLst/>
          </a:prstGeom>
          <a:noFill/>
          <a:ln w="19050">
            <a:solidFill>
              <a:schemeClr val="tx2"/>
            </a:solidFill>
            <a:prstDash val="solid"/>
            <a:tailEnd type="triangle"/>
          </a:ln>
        </p:spPr>
      </p:sp>
      <p:sp>
        <p:nvSpPr>
          <p:cNvPr id="10" name="Text 6"/>
          <p:cNvSpPr txBox="1"/>
          <p:nvPr/>
        </p:nvSpPr>
        <p:spPr>
          <a:xfrm>
            <a:off x="246888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CI</a:t>
            </a:r>
            <a:endParaRPr lang="en-US" sz="1500" dirty="0"/>
          </a:p>
        </p:txBody>
      </p:sp>
      <p:sp>
        <p:nvSpPr>
          <p:cNvPr id="11" name="Text 7"/>
          <p:cNvSpPr txBox="1"/>
          <p:nvPr/>
        </p:nvSpPr>
        <p:spPr>
          <a:xfrm>
            <a:off x="246888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Tests, lint, Trivy scan</a:t>
            </a:r>
            <a:endParaRPr lang="en-US" sz="1200" dirty="0"/>
          </a:p>
        </p:txBody>
      </p:sp>
      <p:sp>
        <p:nvSpPr>
          <p:cNvPr id="12" name="Shape 8"/>
          <p:cNvSpPr/>
          <p:nvPr/>
        </p:nvSpPr>
        <p:spPr>
          <a:xfrm>
            <a:off x="4800600" y="1371600"/>
            <a:ext cx="868680" cy="868680"/>
          </a:xfrm>
          <a:prstGeom prst="ellipse">
            <a:avLst/>
          </a:prstGeom>
          <a:solidFill>
            <a:srgbClr val="2496ED"/>
          </a:solidFill>
          <a:ln/>
        </p:spPr>
      </p:sp>
      <p:pic>
        <p:nvPicPr>
          <p:cNvPr id="13" name="Image 2" descr="preencoded.png">    </p:cNvPr>
          <p:cNvPicPr>
            <a:picLocks noChangeAspect="1"/>
          </p:cNvPicPr>
          <p:nvPr/>
        </p:nvPicPr>
        <p:blipFill>
          <a:blip r:embed="rId3"/>
          <a:stretch>
            <a:fillRect/>
          </a:stretch>
        </p:blipFill>
        <p:spPr>
          <a:xfrm>
            <a:off x="5017770" y="1588770"/>
            <a:ext cx="434340" cy="434340"/>
          </a:xfrm>
          <a:prstGeom prst="rect">
            <a:avLst/>
          </a:prstGeom>
        </p:spPr>
      </p:pic>
      <p:sp>
        <p:nvSpPr>
          <p:cNvPr id="14" name="Shape 9"/>
          <p:cNvSpPr/>
          <p:nvPr/>
        </p:nvSpPr>
        <p:spPr>
          <a:xfrm>
            <a:off x="5760720" y="1805940"/>
            <a:ext cx="868680" cy="914"/>
          </a:xfrm>
          <a:prstGeom prst="line">
            <a:avLst/>
          </a:prstGeom>
          <a:noFill/>
          <a:ln w="19050">
            <a:solidFill>
              <a:schemeClr val="tx2"/>
            </a:solidFill>
            <a:prstDash val="solid"/>
            <a:tailEnd type="triangle"/>
          </a:ln>
        </p:spPr>
      </p:sp>
      <p:sp>
        <p:nvSpPr>
          <p:cNvPr id="15" name="Text 10"/>
          <p:cNvSpPr txBox="1"/>
          <p:nvPr/>
        </p:nvSpPr>
        <p:spPr>
          <a:xfrm>
            <a:off x="438912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Build images</a:t>
            </a:r>
            <a:endParaRPr lang="en-US" sz="1500" dirty="0"/>
          </a:p>
        </p:txBody>
      </p:sp>
      <p:sp>
        <p:nvSpPr>
          <p:cNvPr id="16" name="Text 11"/>
          <p:cNvSpPr txBox="1"/>
          <p:nvPr/>
        </p:nvSpPr>
        <p:spPr>
          <a:xfrm>
            <a:off x="438912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Tagged with the Git SHA</a:t>
            </a:r>
            <a:endParaRPr lang="en-US" sz="1200" dirty="0"/>
          </a:p>
        </p:txBody>
      </p:sp>
      <p:sp>
        <p:nvSpPr>
          <p:cNvPr id="17" name="Shape 12"/>
          <p:cNvSpPr/>
          <p:nvPr/>
        </p:nvSpPr>
        <p:spPr>
          <a:xfrm>
            <a:off x="6720840" y="1371600"/>
            <a:ext cx="868680" cy="868680"/>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6938010" y="1588770"/>
            <a:ext cx="434340" cy="434340"/>
          </a:xfrm>
          <a:prstGeom prst="rect">
            <a:avLst/>
          </a:prstGeom>
        </p:spPr>
      </p:pic>
      <p:sp>
        <p:nvSpPr>
          <p:cNvPr id="19" name="Shape 13"/>
          <p:cNvSpPr/>
          <p:nvPr/>
        </p:nvSpPr>
        <p:spPr>
          <a:xfrm>
            <a:off x="7680960" y="1805940"/>
            <a:ext cx="868680" cy="914"/>
          </a:xfrm>
          <a:prstGeom prst="line">
            <a:avLst/>
          </a:prstGeom>
          <a:noFill/>
          <a:ln w="19050">
            <a:solidFill>
              <a:schemeClr val="tx2"/>
            </a:solidFill>
            <a:prstDash val="solid"/>
            <a:tailEnd type="triangle"/>
          </a:ln>
        </p:spPr>
      </p:sp>
      <p:sp>
        <p:nvSpPr>
          <p:cNvPr id="20" name="Text 14"/>
          <p:cNvSpPr txBox="1"/>
          <p:nvPr/>
        </p:nvSpPr>
        <p:spPr>
          <a:xfrm>
            <a:off x="630936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a:t>
            </a:r>
            <a:endParaRPr lang="en-US" sz="1500" dirty="0"/>
          </a:p>
        </p:txBody>
      </p:sp>
      <p:sp>
        <p:nvSpPr>
          <p:cNvPr id="21" name="Text 15"/>
          <p:cNvSpPr txBox="1"/>
          <p:nvPr/>
        </p:nvSpPr>
        <p:spPr>
          <a:xfrm>
            <a:off x="630936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ECR × 2 regions + ACR</a:t>
            </a:r>
            <a:endParaRPr lang="en-US" sz="1200" dirty="0"/>
          </a:p>
        </p:txBody>
      </p:sp>
      <p:sp>
        <p:nvSpPr>
          <p:cNvPr id="22" name="Shape 16"/>
          <p:cNvSpPr/>
          <p:nvPr/>
        </p:nvSpPr>
        <p:spPr>
          <a:xfrm>
            <a:off x="8641080" y="1371600"/>
            <a:ext cx="868680" cy="868680"/>
          </a:xfrm>
          <a:prstGeom prst="ellipse">
            <a:avLst/>
          </a:prstGeom>
          <a:solidFill>
            <a:srgbClr val="326CE5"/>
          </a:solidFill>
          <a:ln/>
        </p:spPr>
      </p:sp>
      <p:pic>
        <p:nvPicPr>
          <p:cNvPr id="23" name="Image 4" descr="preencoded.png">    </p:cNvPr>
          <p:cNvPicPr>
            <a:picLocks noChangeAspect="1"/>
          </p:cNvPicPr>
          <p:nvPr/>
        </p:nvPicPr>
        <p:blipFill>
          <a:blip r:embed="rId5"/>
          <a:stretch>
            <a:fillRect/>
          </a:stretch>
        </p:blipFill>
        <p:spPr>
          <a:xfrm>
            <a:off x="8858250" y="1588770"/>
            <a:ext cx="434340" cy="434340"/>
          </a:xfrm>
          <a:prstGeom prst="rect">
            <a:avLst/>
          </a:prstGeom>
        </p:spPr>
      </p:pic>
      <p:sp>
        <p:nvSpPr>
          <p:cNvPr id="24" name="Shape 17"/>
          <p:cNvSpPr/>
          <p:nvPr/>
        </p:nvSpPr>
        <p:spPr>
          <a:xfrm>
            <a:off x="9601200" y="1805940"/>
            <a:ext cx="868680" cy="914"/>
          </a:xfrm>
          <a:prstGeom prst="line">
            <a:avLst/>
          </a:prstGeom>
          <a:noFill/>
          <a:ln w="19050">
            <a:solidFill>
              <a:schemeClr val="tx2"/>
            </a:solidFill>
            <a:prstDash val="solid"/>
            <a:tailEnd type="triangle"/>
          </a:ln>
        </p:spPr>
      </p:sp>
      <p:sp>
        <p:nvSpPr>
          <p:cNvPr id="25" name="Text 18"/>
          <p:cNvSpPr txBox="1"/>
          <p:nvPr/>
        </p:nvSpPr>
        <p:spPr>
          <a:xfrm>
            <a:off x="822960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Roll out</a:t>
            </a:r>
            <a:endParaRPr lang="en-US" sz="1500" dirty="0"/>
          </a:p>
        </p:txBody>
      </p:sp>
      <p:sp>
        <p:nvSpPr>
          <p:cNvPr id="26" name="Text 19"/>
          <p:cNvSpPr txBox="1"/>
          <p:nvPr/>
        </p:nvSpPr>
        <p:spPr>
          <a:xfrm>
            <a:off x="822960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All 4 clusters in parallel</a:t>
            </a:r>
            <a:endParaRPr lang="en-US" sz="1200" dirty="0"/>
          </a:p>
        </p:txBody>
      </p:sp>
      <p:sp>
        <p:nvSpPr>
          <p:cNvPr id="27" name="Shape 20"/>
          <p:cNvSpPr/>
          <p:nvPr/>
        </p:nvSpPr>
        <p:spPr>
          <a:xfrm>
            <a:off x="10561320" y="1371600"/>
            <a:ext cx="868680" cy="868680"/>
          </a:xfrm>
          <a:prstGeom prst="ellipse">
            <a:avLst/>
          </a:prstGeom>
          <a:solidFill>
            <a:schemeClr val="accent1"/>
          </a:solidFill>
          <a:ln/>
        </p:spPr>
      </p:sp>
      <p:pic>
        <p:nvPicPr>
          <p:cNvPr id="28" name="Image 5" descr="preencoded.png">    </p:cNvPr>
          <p:cNvPicPr>
            <a:picLocks noChangeAspect="1"/>
          </p:cNvPicPr>
          <p:nvPr/>
        </p:nvPicPr>
        <p:blipFill>
          <a:blip r:embed="rId6"/>
          <a:stretch>
            <a:fillRect/>
          </a:stretch>
        </p:blipFill>
        <p:spPr>
          <a:xfrm>
            <a:off x="10778490" y="1588770"/>
            <a:ext cx="434340" cy="434340"/>
          </a:xfrm>
          <a:prstGeom prst="rect">
            <a:avLst/>
          </a:prstGeom>
        </p:spPr>
      </p:pic>
      <p:sp>
        <p:nvSpPr>
          <p:cNvPr id="29" name="Text 21"/>
          <p:cNvSpPr txBox="1"/>
          <p:nvPr/>
        </p:nvSpPr>
        <p:spPr>
          <a:xfrm>
            <a:off x="101498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Traffic Manager</a:t>
            </a:r>
            <a:endParaRPr lang="en-US" sz="1500" dirty="0"/>
          </a:p>
        </p:txBody>
      </p:sp>
      <p:sp>
        <p:nvSpPr>
          <p:cNvPr id="30" name="Text 22"/>
          <p:cNvSpPr txBox="1"/>
          <p:nvPr/>
        </p:nvSpPr>
        <p:spPr>
          <a:xfrm>
            <a:off x="1014984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Endpoints updated</a:t>
            </a:r>
            <a:endParaRPr lang="en-US" sz="1200" dirty="0"/>
          </a:p>
        </p:txBody>
      </p:sp>
      <p:sp>
        <p:nvSpPr>
          <p:cNvPr id="31" name="Shape 23"/>
          <p:cNvSpPr/>
          <p:nvPr/>
        </p:nvSpPr>
        <p:spPr>
          <a:xfrm>
            <a:off x="548640" y="3657600"/>
            <a:ext cx="3520440" cy="2331720"/>
          </a:xfrm>
          <a:prstGeom prst="roundRect">
            <a:avLst>
              <a:gd name="adj" fmla="val 3137"/>
            </a:avLst>
          </a:prstGeom>
          <a:solidFill>
            <a:schemeClr val="bg2"/>
          </a:solidFill>
          <a:ln/>
        </p:spPr>
      </p:sp>
      <p:pic>
        <p:nvPicPr>
          <p:cNvPr id="32" name="Image 6" descr="preencoded.png">    </p:cNvPr>
          <p:cNvPicPr>
            <a:picLocks noChangeAspect="1"/>
          </p:cNvPicPr>
          <p:nvPr/>
        </p:nvPicPr>
        <p:blipFill>
          <a:blip r:embed="rId7"/>
          <a:stretch>
            <a:fillRect/>
          </a:stretch>
        </p:blipFill>
        <p:spPr>
          <a:xfrm>
            <a:off x="822960" y="3886200"/>
            <a:ext cx="384048" cy="384048"/>
          </a:xfrm>
          <a:prstGeom prst="rect">
            <a:avLst/>
          </a:prstGeom>
        </p:spPr>
      </p:pic>
      <p:sp>
        <p:nvSpPr>
          <p:cNvPr id="33" name="Text 24"/>
          <p:cNvSpPr txBox="1"/>
          <p:nvPr/>
        </p:nvSpPr>
        <p:spPr>
          <a:xfrm>
            <a:off x="132588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cloud.yml</a:t>
            </a:r>
            <a:endParaRPr lang="en-US" sz="1600" dirty="0"/>
          </a:p>
        </p:txBody>
      </p:sp>
      <p:sp>
        <p:nvSpPr>
          <p:cNvPr id="34" name="Text 25"/>
          <p:cNvSpPr txBox="1"/>
          <p:nvPr/>
        </p:nvSpPr>
        <p:spPr>
          <a:xfrm>
            <a:off x="82296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Creates or destroys both clouds. Apply waits for approval; a nightly 02:00 IST run destroys anything left (paused with KEEP_UP).</a:t>
            </a:r>
            <a:endParaRPr lang="en-US" sz="1400" dirty="0"/>
          </a:p>
        </p:txBody>
      </p:sp>
      <p:sp>
        <p:nvSpPr>
          <p:cNvPr id="35" name="Shape 26"/>
          <p:cNvSpPr/>
          <p:nvPr/>
        </p:nvSpPr>
        <p:spPr>
          <a:xfrm>
            <a:off x="4343400" y="3657600"/>
            <a:ext cx="3520440" cy="2331720"/>
          </a:xfrm>
          <a:prstGeom prst="roundRect">
            <a:avLst>
              <a:gd name="adj" fmla="val 3137"/>
            </a:avLst>
          </a:prstGeom>
          <a:solidFill>
            <a:schemeClr val="bg2"/>
          </a:solidFill>
          <a:ln/>
        </p:spPr>
      </p:sp>
      <p:pic>
        <p:nvPicPr>
          <p:cNvPr id="36" name="Image 7" descr="preencoded.png">    </p:cNvPr>
          <p:cNvPicPr>
            <a:picLocks noChangeAspect="1"/>
          </p:cNvPicPr>
          <p:nvPr/>
        </p:nvPicPr>
        <p:blipFill>
          <a:blip r:embed="rId8"/>
          <a:stretch>
            <a:fillRect/>
          </a:stretch>
        </p:blipFill>
        <p:spPr>
          <a:xfrm>
            <a:off x="4617720" y="3886200"/>
            <a:ext cx="384048" cy="384048"/>
          </a:xfrm>
          <a:prstGeom prst="rect">
            <a:avLst/>
          </a:prstGeom>
        </p:spPr>
      </p:pic>
      <p:sp>
        <p:nvSpPr>
          <p:cNvPr id="37" name="Text 27"/>
          <p:cNvSpPr txBox="1"/>
          <p:nvPr/>
        </p:nvSpPr>
        <p:spPr>
          <a:xfrm>
            <a:off x="512064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deploy.yml</a:t>
            </a:r>
            <a:endParaRPr lang="en-US" sz="1600" dirty="0"/>
          </a:p>
        </p:txBody>
      </p:sp>
      <p:sp>
        <p:nvSpPr>
          <p:cNvPr id="38" name="Text 28"/>
          <p:cNvSpPr txBox="1"/>
          <p:nvPr/>
        </p:nvSpPr>
        <p:spPr>
          <a:xfrm>
            <a:off x="461772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Runs after every green backend CI while the cloud is up. Builds once, rolls out to 4 clusters, updates Traffic Manager.</a:t>
            </a:r>
            <a:endParaRPr lang="en-US" sz="1400" dirty="0"/>
          </a:p>
        </p:txBody>
      </p:sp>
      <p:sp>
        <p:nvSpPr>
          <p:cNvPr id="39" name="Shape 29"/>
          <p:cNvSpPr/>
          <p:nvPr/>
        </p:nvSpPr>
        <p:spPr>
          <a:xfrm>
            <a:off x="8138160" y="3657600"/>
            <a:ext cx="3520440" cy="2331720"/>
          </a:xfrm>
          <a:prstGeom prst="roundRect">
            <a:avLst>
              <a:gd name="adj" fmla="val 3137"/>
            </a:avLst>
          </a:prstGeom>
          <a:solidFill>
            <a:schemeClr val="bg2"/>
          </a:solidFill>
          <a:ln/>
        </p:spPr>
      </p:sp>
      <p:pic>
        <p:nvPicPr>
          <p:cNvPr id="40" name="Image 8" descr="preencoded.png">    </p:cNvPr>
          <p:cNvPicPr>
            <a:picLocks noChangeAspect="1"/>
          </p:cNvPicPr>
          <p:nvPr/>
        </p:nvPicPr>
        <p:blipFill>
          <a:blip r:embed="rId9"/>
          <a:stretch>
            <a:fillRect/>
          </a:stretch>
        </p:blipFill>
        <p:spPr>
          <a:xfrm>
            <a:off x="8412480" y="3886200"/>
            <a:ext cx="384048" cy="384048"/>
          </a:xfrm>
          <a:prstGeom prst="rect">
            <a:avLst/>
          </a:prstGeom>
        </p:spPr>
      </p:pic>
      <p:sp>
        <p:nvSpPr>
          <p:cNvPr id="41" name="Text 30"/>
          <p:cNvSpPr txBox="1"/>
          <p:nvPr/>
        </p:nvSpPr>
        <p:spPr>
          <a:xfrm>
            <a:off x="891540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provision.yml</a:t>
            </a:r>
            <a:endParaRPr lang="en-US" sz="1600" dirty="0"/>
          </a:p>
        </p:txBody>
      </p:sp>
      <p:sp>
        <p:nvSpPr>
          <p:cNvPr id="42" name="Text 31"/>
          <p:cNvSpPr txBox="1"/>
          <p:nvPr/>
        </p:nvSpPr>
        <p:spPr>
          <a:xfrm>
            <a:off x="841248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Started by the Deployment Portal. Creates, plans or destroys an environment and reports each step back.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Failover in under a minute</a:t>
            </a:r>
            <a:endParaRPr lang="en-US" sz="3200" dirty="0"/>
          </a:p>
        </p:txBody>
      </p:sp>
      <p:graphicFrame>
        <p:nvGraphicFramePr>
          <p:cNvPr id="3" name="Chart 0" descr=""/>
          <p:cNvGraphicFramePr/>
          <p:nvPr/>
        </p:nvGraphicFramePr>
        <p:xfrm>
          <a:off x="54864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663440"/>
          </a:xfrm>
          <a:prstGeom prst="roundRect">
            <a:avLst>
              <a:gd name="adj" fmla="val 1778"/>
            </a:avLst>
          </a:prstGeom>
          <a:solidFill>
            <a:schemeClr val="bg2"/>
          </a:solidFill>
          <a:ln/>
        </p:spPr>
      </p:sp>
      <p:sp>
        <p:nvSpPr>
          <p:cNvPr id="5" name="Text 2"/>
          <p:cNvSpPr txBox="1"/>
          <p:nvPr/>
        </p:nvSpPr>
        <p:spPr>
          <a:xfrm>
            <a:off x="7772400" y="1554480"/>
            <a:ext cx="3657600" cy="365760"/>
          </a:xfrm>
          <a:prstGeom prst="rect">
            <a:avLst/>
          </a:prstGeom>
          <a:noFill/>
          <a:ln/>
        </p:spPr>
        <p:txBody>
          <a:bodyPr wrap="square" lIns="0" tIns="0" rIns="0" bIns="0" rtlCol="0" anchor="t"/>
          <a:lstStyle/>
          <a:p>
            <a:pPr indent="0" marL="0">
              <a:buNone/>
            </a:pPr>
            <a:r>
              <a:rPr lang="en-US" sz="1700" b="1" dirty="0">
                <a:solidFill>
                  <a:schemeClr val="tx1"/>
                </a:solidFill>
              </a:rPr>
              <a:t>How it works</a:t>
            </a:r>
            <a:endParaRPr lang="en-US" sz="1700" dirty="0"/>
          </a:p>
        </p:txBody>
      </p:sp>
      <p:sp>
        <p:nvSpPr>
          <p:cNvPr id="6" name="Text 3"/>
          <p:cNvSpPr txBox="1"/>
          <p:nvPr/>
        </p:nvSpPr>
        <p:spPr>
          <a:xfrm>
            <a:off x="7772400" y="2057400"/>
            <a:ext cx="3657600"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Traffic Manager probes /actuator/health on all 4 clusters every 10 s</a:t>
            </a:r>
            <a:endParaRPr lang="en-US" sz="1400" dirty="0"/>
          </a:p>
          <a:p>
            <a:pPr marL="342900" indent="-342900">
              <a:spcAft>
                <a:spcPts val="800"/>
              </a:spcAft>
              <a:buSzPct val="100000"/>
              <a:buChar char="•"/>
            </a:pPr>
            <a:r>
              <a:rPr lang="en-US" sz="1400" dirty="0">
                <a:solidFill>
                  <a:schemeClr val="tx1"/>
                </a:solidFill>
              </a:rPr>
              <a:t>3 failed probes mark a cluster Degraded; DNS TTL is 60 s</a:t>
            </a:r>
            <a:endParaRPr lang="en-US" sz="1400" dirty="0"/>
          </a:p>
          <a:p>
            <a:pPr marL="342900" indent="-342900">
              <a:spcAft>
                <a:spcPts val="800"/>
              </a:spcAft>
              <a:buSzPct val="100000"/>
              <a:buChar char="•"/>
            </a:pPr>
            <a:r>
              <a:rPr lang="en-US" sz="1400" dirty="0">
                <a:solidFill>
                  <a:schemeClr val="tx1"/>
                </a:solidFill>
              </a:rPr>
              <a:t>Traffic goes to the next healthy priority: P1 → P2 → P3 → P4</a:t>
            </a:r>
            <a:endParaRPr lang="en-US" sz="1400" dirty="0"/>
          </a:p>
          <a:p>
            <a:pPr marL="342900" indent="-342900">
              <a:spcAft>
                <a:spcPts val="800"/>
              </a:spcAft>
              <a:buSzPct val="100000"/>
              <a:buChar char="•"/>
            </a:pPr>
            <a:r>
              <a:rPr lang="en-US" sz="1400" dirty="0">
                <a:solidFill>
                  <a:schemeClr val="tx1"/>
                </a:solidFill>
              </a:rPr>
              <a:t>When the primary recovers, traffic returns to it automatically</a:t>
            </a:r>
            <a:endParaRPr lang="en-US" sz="1400" dirty="0"/>
          </a:p>
          <a:p>
            <a:pPr marL="342900" indent="-342900">
              <a:spcAft>
                <a:spcPts val="800"/>
              </a:spcAft>
              <a:buSzPct val="100000"/>
              <a:buChar char="•"/>
            </a:pPr>
            <a:r>
              <a:rPr lang="en-US" sz="1400" dirty="0">
                <a:solidFill>
                  <a:schemeClr val="tx1"/>
                </a:solidFill>
              </a:rPr>
              <a:t>Each cloud has its own database, so moving to Azure is disaster recovery, not live replication</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03</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One-click Deployment Portal</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An admin page that drives a real pipeline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click starts a real pipeline</a:t>
            </a:r>
            <a:endParaRPr lang="en-US" sz="3200" dirty="0"/>
          </a:p>
        </p:txBody>
      </p:sp>
      <p:sp>
        <p:nvSpPr>
          <p:cNvPr id="3" name="Shape 1"/>
          <p:cNvSpPr/>
          <p:nvPr/>
        </p:nvSpPr>
        <p:spPr>
          <a:xfrm>
            <a:off x="548640" y="1325880"/>
            <a:ext cx="2606040" cy="2103120"/>
          </a:xfrm>
          <a:prstGeom prst="roundRect">
            <a:avLst>
              <a:gd name="adj" fmla="val 3478"/>
            </a:avLst>
          </a:prstGeom>
          <a:solidFill>
            <a:schemeClr val="bg2"/>
          </a:solidFill>
          <a:ln/>
        </p:spPr>
      </p:sp>
      <p:sp>
        <p:nvSpPr>
          <p:cNvPr id="4" name="Shape 2"/>
          <p:cNvSpPr/>
          <p:nvPr/>
        </p:nvSpPr>
        <p:spPr>
          <a:xfrm>
            <a:off x="1444752" y="150876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639062" y="1703070"/>
            <a:ext cx="388620" cy="388620"/>
          </a:xfrm>
          <a:prstGeom prst="rect">
            <a:avLst/>
          </a:prstGeom>
        </p:spPr>
      </p:pic>
      <p:sp>
        <p:nvSpPr>
          <p:cNvPr id="6" name="Text 3"/>
          <p:cNvSpPr txBox="1"/>
          <p:nvPr/>
        </p:nvSpPr>
        <p:spPr>
          <a:xfrm>
            <a:off x="68580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Admin</a:t>
            </a:r>
            <a:endParaRPr lang="en-US" sz="1500" dirty="0"/>
          </a:p>
        </p:txBody>
      </p:sp>
      <p:sp>
        <p:nvSpPr>
          <p:cNvPr id="7" name="Text 4"/>
          <p:cNvSpPr txBox="1"/>
          <p:nvPr/>
        </p:nvSpPr>
        <p:spPr>
          <a:xfrm>
            <a:off x="68580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Picks cloud, region, environment, clusters</a:t>
            </a:r>
            <a:endParaRPr lang="en-US" sz="1200" dirty="0"/>
          </a:p>
        </p:txBody>
      </p:sp>
      <p:sp>
        <p:nvSpPr>
          <p:cNvPr id="8" name="Shape 5"/>
          <p:cNvSpPr/>
          <p:nvPr/>
        </p:nvSpPr>
        <p:spPr>
          <a:xfrm>
            <a:off x="3182112" y="1920240"/>
            <a:ext cx="219456" cy="914"/>
          </a:xfrm>
          <a:prstGeom prst="line">
            <a:avLst/>
          </a:prstGeom>
          <a:noFill/>
          <a:ln w="19050">
            <a:solidFill>
              <a:schemeClr val="tx2"/>
            </a:solidFill>
            <a:prstDash val="solid"/>
            <a:tailEnd type="triangle"/>
          </a:ln>
        </p:spPr>
      </p:sp>
      <p:sp>
        <p:nvSpPr>
          <p:cNvPr id="9" name="Shape 6"/>
          <p:cNvSpPr/>
          <p:nvPr/>
        </p:nvSpPr>
        <p:spPr>
          <a:xfrm>
            <a:off x="3429000" y="1325880"/>
            <a:ext cx="2606040" cy="2103120"/>
          </a:xfrm>
          <a:prstGeom prst="roundRect">
            <a:avLst>
              <a:gd name="adj" fmla="val 3478"/>
            </a:avLst>
          </a:prstGeom>
          <a:solidFill>
            <a:schemeClr val="bg2"/>
          </a:solidFill>
          <a:ln/>
        </p:spPr>
      </p:sp>
      <p:sp>
        <p:nvSpPr>
          <p:cNvPr id="10" name="Shape 7"/>
          <p:cNvSpPr/>
          <p:nvPr/>
        </p:nvSpPr>
        <p:spPr>
          <a:xfrm>
            <a:off x="4325112" y="1508760"/>
            <a:ext cx="777240" cy="777240"/>
          </a:xfrm>
          <a:prstGeom prst="ellipse">
            <a:avLst/>
          </a:prstGeom>
          <a:solidFill>
            <a:schemeClr val="accent4"/>
          </a:solidFill>
          <a:ln/>
        </p:spPr>
      </p:sp>
      <p:pic>
        <p:nvPicPr>
          <p:cNvPr id="11" name="Image 1" descr="preencoded.png">    </p:cNvPr>
          <p:cNvPicPr>
            <a:picLocks noChangeAspect="1"/>
          </p:cNvPicPr>
          <p:nvPr/>
        </p:nvPicPr>
        <p:blipFill>
          <a:blip r:embed="rId2"/>
          <a:stretch>
            <a:fillRect/>
          </a:stretch>
        </p:blipFill>
        <p:spPr>
          <a:xfrm>
            <a:off x="4519422" y="1703070"/>
            <a:ext cx="388620" cy="388620"/>
          </a:xfrm>
          <a:prstGeom prst="rect">
            <a:avLst/>
          </a:prstGeom>
        </p:spPr>
      </p:pic>
      <p:sp>
        <p:nvSpPr>
          <p:cNvPr id="12" name="Text 8"/>
          <p:cNvSpPr txBox="1"/>
          <p:nvPr/>
        </p:nvSpPr>
        <p:spPr>
          <a:xfrm>
            <a:off x="356616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TrackFlow backend</a:t>
            </a:r>
            <a:endParaRPr lang="en-US" sz="1500" dirty="0"/>
          </a:p>
        </p:txBody>
      </p:sp>
      <p:sp>
        <p:nvSpPr>
          <p:cNvPr id="13" name="Text 9"/>
          <p:cNvSpPr txBox="1"/>
          <p:nvPr/>
        </p:nvSpPr>
        <p:spPr>
          <a:xfrm>
            <a:off x="356616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Stores QUEUED; calls GitHub's workflow_dispatch API</a:t>
            </a:r>
            <a:endParaRPr lang="en-US" sz="1200" dirty="0"/>
          </a:p>
        </p:txBody>
      </p:sp>
      <p:sp>
        <p:nvSpPr>
          <p:cNvPr id="14" name="Shape 10"/>
          <p:cNvSpPr/>
          <p:nvPr/>
        </p:nvSpPr>
        <p:spPr>
          <a:xfrm>
            <a:off x="6062472" y="1920240"/>
            <a:ext cx="219456" cy="914"/>
          </a:xfrm>
          <a:prstGeom prst="line">
            <a:avLst/>
          </a:prstGeom>
          <a:noFill/>
          <a:ln w="19050">
            <a:solidFill>
              <a:schemeClr val="tx2"/>
            </a:solidFill>
            <a:prstDash val="solid"/>
            <a:tailEnd type="triangle"/>
          </a:ln>
        </p:spPr>
      </p:sp>
      <p:sp>
        <p:nvSpPr>
          <p:cNvPr id="15" name="Shape 11"/>
          <p:cNvSpPr/>
          <p:nvPr/>
        </p:nvSpPr>
        <p:spPr>
          <a:xfrm>
            <a:off x="6309360" y="1325880"/>
            <a:ext cx="2606040" cy="2103120"/>
          </a:xfrm>
          <a:prstGeom prst="roundRect">
            <a:avLst>
              <a:gd name="adj" fmla="val 3478"/>
            </a:avLst>
          </a:prstGeom>
          <a:solidFill>
            <a:schemeClr val="bg2"/>
          </a:solidFill>
          <a:ln/>
        </p:spPr>
      </p:sp>
      <p:sp>
        <p:nvSpPr>
          <p:cNvPr id="16" name="Shape 12"/>
          <p:cNvSpPr/>
          <p:nvPr/>
        </p:nvSpPr>
        <p:spPr>
          <a:xfrm>
            <a:off x="7205472" y="1508760"/>
            <a:ext cx="777240" cy="777240"/>
          </a:xfrm>
          <a:prstGeom prst="ellipse">
            <a:avLst/>
          </a:prstGeom>
          <a:solidFill>
            <a:schemeClr val="tx1"/>
          </a:solidFill>
          <a:ln/>
        </p:spPr>
      </p:sp>
      <p:pic>
        <p:nvPicPr>
          <p:cNvPr id="17" name="Image 2" descr="preencoded.png">    </p:cNvPr>
          <p:cNvPicPr>
            <a:picLocks noChangeAspect="1"/>
          </p:cNvPicPr>
          <p:nvPr/>
        </p:nvPicPr>
        <p:blipFill>
          <a:blip r:embed="rId3"/>
          <a:stretch>
            <a:fillRect/>
          </a:stretch>
        </p:blipFill>
        <p:spPr>
          <a:xfrm>
            <a:off x="7399782" y="1703070"/>
            <a:ext cx="388620" cy="388620"/>
          </a:xfrm>
          <a:prstGeom prst="rect">
            <a:avLst/>
          </a:prstGeom>
        </p:spPr>
      </p:pic>
      <p:sp>
        <p:nvSpPr>
          <p:cNvPr id="18" name="Text 13"/>
          <p:cNvSpPr txBox="1"/>
          <p:nvPr/>
        </p:nvSpPr>
        <p:spPr>
          <a:xfrm>
            <a:off x="644652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GitHub Actions</a:t>
            </a:r>
            <a:endParaRPr lang="en-US" sz="1500" dirty="0"/>
          </a:p>
        </p:txBody>
      </p:sp>
      <p:sp>
        <p:nvSpPr>
          <p:cNvPr id="19" name="Text 14"/>
          <p:cNvSpPr txBox="1"/>
          <p:nvPr/>
        </p:nvSpPr>
        <p:spPr>
          <a:xfrm>
            <a:off x="644652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provision.yml runs OpenTofu and kubectl</a:t>
            </a:r>
            <a:endParaRPr lang="en-US" sz="1200" dirty="0"/>
          </a:p>
        </p:txBody>
      </p:sp>
      <p:sp>
        <p:nvSpPr>
          <p:cNvPr id="20" name="Shape 15"/>
          <p:cNvSpPr/>
          <p:nvPr/>
        </p:nvSpPr>
        <p:spPr>
          <a:xfrm>
            <a:off x="8942832" y="1920240"/>
            <a:ext cx="219456" cy="914"/>
          </a:xfrm>
          <a:prstGeom prst="line">
            <a:avLst/>
          </a:prstGeom>
          <a:noFill/>
          <a:ln w="19050">
            <a:solidFill>
              <a:schemeClr val="tx2"/>
            </a:solidFill>
            <a:prstDash val="solid"/>
            <a:tailEnd type="triangle"/>
          </a:ln>
        </p:spPr>
      </p:sp>
      <p:sp>
        <p:nvSpPr>
          <p:cNvPr id="21" name="Shape 16"/>
          <p:cNvSpPr/>
          <p:nvPr/>
        </p:nvSpPr>
        <p:spPr>
          <a:xfrm>
            <a:off x="9189720" y="1325880"/>
            <a:ext cx="2606040" cy="2103120"/>
          </a:xfrm>
          <a:prstGeom prst="roundRect">
            <a:avLst>
              <a:gd name="adj" fmla="val 3478"/>
            </a:avLst>
          </a:prstGeom>
          <a:solidFill>
            <a:schemeClr val="bg2"/>
          </a:solidFill>
          <a:ln/>
        </p:spPr>
      </p:sp>
      <p:sp>
        <p:nvSpPr>
          <p:cNvPr id="22" name="Shape 17"/>
          <p:cNvSpPr/>
          <p:nvPr/>
        </p:nvSpPr>
        <p:spPr>
          <a:xfrm>
            <a:off x="10085832" y="1508760"/>
            <a:ext cx="777240" cy="777240"/>
          </a:xfrm>
          <a:prstGeom prst="ellipse">
            <a:avLst/>
          </a:prstGeom>
          <a:solidFill>
            <a:srgbClr val="326CE5"/>
          </a:solidFill>
          <a:ln/>
        </p:spPr>
      </p:sp>
      <p:pic>
        <p:nvPicPr>
          <p:cNvPr id="23" name="Image 3" descr="preencoded.png">    </p:cNvPr>
          <p:cNvPicPr>
            <a:picLocks noChangeAspect="1"/>
          </p:cNvPicPr>
          <p:nvPr/>
        </p:nvPicPr>
        <p:blipFill>
          <a:blip r:embed="rId4"/>
          <a:stretch>
            <a:fillRect/>
          </a:stretch>
        </p:blipFill>
        <p:spPr>
          <a:xfrm>
            <a:off x="10280142" y="1703070"/>
            <a:ext cx="388620" cy="388620"/>
          </a:xfrm>
          <a:prstGeom prst="rect">
            <a:avLst/>
          </a:prstGeom>
        </p:spPr>
      </p:pic>
      <p:sp>
        <p:nvSpPr>
          <p:cNvPr id="24" name="Text 18"/>
          <p:cNvSpPr txBox="1"/>
          <p:nvPr/>
        </p:nvSpPr>
        <p:spPr>
          <a:xfrm>
            <a:off x="932688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EKS / AKS + MySQL</a:t>
            </a:r>
            <a:endParaRPr lang="en-US" sz="1500" dirty="0"/>
          </a:p>
        </p:txBody>
      </p:sp>
      <p:sp>
        <p:nvSpPr>
          <p:cNvPr id="25" name="Text 19"/>
          <p:cNvSpPr txBox="1"/>
          <p:nvPr/>
        </p:nvSpPr>
        <p:spPr>
          <a:xfrm>
            <a:off x="932688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Namespace, database, backend, web app</a:t>
            </a:r>
            <a:endParaRPr lang="en-US" sz="1200" dirty="0"/>
          </a:p>
        </p:txBody>
      </p:sp>
      <p:sp>
        <p:nvSpPr>
          <p:cNvPr id="26" name="Shape 20"/>
          <p:cNvSpPr/>
          <p:nvPr/>
        </p:nvSpPr>
        <p:spPr>
          <a:xfrm>
            <a:off x="7612380" y="3429000"/>
            <a:ext cx="914" cy="365760"/>
          </a:xfrm>
          <a:prstGeom prst="line">
            <a:avLst/>
          </a:prstGeom>
          <a:noFill/>
          <a:ln w="22225">
            <a:solidFill>
              <a:schemeClr val="accent4"/>
            </a:solidFill>
            <a:prstDash val="solid"/>
          </a:ln>
        </p:spPr>
      </p:sp>
      <p:sp>
        <p:nvSpPr>
          <p:cNvPr id="27" name="Shape 21"/>
          <p:cNvSpPr/>
          <p:nvPr/>
        </p:nvSpPr>
        <p:spPr>
          <a:xfrm>
            <a:off x="4732020" y="3794760"/>
            <a:ext cx="2880360" cy="914"/>
          </a:xfrm>
          <a:prstGeom prst="line">
            <a:avLst/>
          </a:prstGeom>
          <a:noFill/>
          <a:ln w="22225">
            <a:solidFill>
              <a:schemeClr val="accent4"/>
            </a:solidFill>
            <a:prstDash val="solid"/>
          </a:ln>
        </p:spPr>
      </p:sp>
      <p:sp>
        <p:nvSpPr>
          <p:cNvPr id="28" name="Shape 22"/>
          <p:cNvSpPr/>
          <p:nvPr/>
        </p:nvSpPr>
        <p:spPr>
          <a:xfrm>
            <a:off x="4732020" y="3429000"/>
            <a:ext cx="914" cy="365760"/>
          </a:xfrm>
          <a:prstGeom prst="line">
            <a:avLst/>
          </a:prstGeom>
          <a:noFill/>
          <a:ln w="22225">
            <a:solidFill>
              <a:schemeClr val="accent4"/>
            </a:solidFill>
            <a:prstDash val="solid"/>
            <a:headEnd type="triangle"/>
          </a:ln>
        </p:spPr>
      </p:sp>
      <p:sp>
        <p:nvSpPr>
          <p:cNvPr id="29" name="Text 23"/>
          <p:cNvSpPr txBox="1"/>
          <p:nvPr/>
        </p:nvSpPr>
        <p:spPr>
          <a:xfrm>
            <a:off x="2377440" y="3886200"/>
            <a:ext cx="7589520" cy="320040"/>
          </a:xfrm>
          <a:prstGeom prst="rect">
            <a:avLst/>
          </a:prstGeom>
          <a:noFill/>
          <a:ln/>
        </p:spPr>
        <p:txBody>
          <a:bodyPr wrap="square" lIns="0" tIns="0" rIns="0" bIns="0" rtlCol="0" anchor="t"/>
          <a:lstStyle/>
          <a:p>
            <a:pPr algn="ctr" indent="0" marL="0">
              <a:buNone/>
            </a:pPr>
            <a:r>
              <a:rPr lang="en-US" sz="1300" b="1" dirty="0">
                <a:solidFill>
                  <a:schemeClr val="accent4"/>
                </a:solidFill>
              </a:rPr>
              <a:t>The workflow reports each step back to the backend, signed with HMAC-SHA256</a:t>
            </a:r>
            <a:endParaRPr lang="en-US" sz="1300" dirty="0"/>
          </a:p>
        </p:txBody>
      </p:sp>
      <p:sp>
        <p:nvSpPr>
          <p:cNvPr id="30" name="Text 24"/>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500" b="1" dirty="0">
                <a:solidFill>
                  <a:schemeClr val="tx1"/>
                </a:solidFill>
              </a:rPr>
              <a:t>What the admin sees, live:</a:t>
            </a:r>
            <a:endParaRPr lang="en-US" sz="1500" dirty="0"/>
          </a:p>
        </p:txBody>
      </p:sp>
      <p:sp>
        <p:nvSpPr>
          <p:cNvPr id="31" name="Shape 25"/>
          <p:cNvSpPr/>
          <p:nvPr/>
        </p:nvSpPr>
        <p:spPr>
          <a:xfrm>
            <a:off x="548640" y="4983480"/>
            <a:ext cx="1371600" cy="457200"/>
          </a:xfrm>
          <a:prstGeom prst="roundRect">
            <a:avLst>
              <a:gd name="adj" fmla="val 12000"/>
            </a:avLst>
          </a:prstGeom>
          <a:solidFill>
            <a:schemeClr val="accent1"/>
          </a:solidFill>
          <a:ln/>
        </p:spPr>
      </p:sp>
      <p:sp>
        <p:nvSpPr>
          <p:cNvPr id="32" name="Text 26"/>
          <p:cNvSpPr txBox="1"/>
          <p:nvPr/>
        </p:nvSpPr>
        <p:spPr>
          <a:xfrm>
            <a:off x="548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QUEUED</a:t>
            </a:r>
            <a:endParaRPr lang="en-US" sz="1200" dirty="0"/>
          </a:p>
        </p:txBody>
      </p:sp>
      <p:sp>
        <p:nvSpPr>
          <p:cNvPr id="33" name="Shape 27"/>
          <p:cNvSpPr/>
          <p:nvPr/>
        </p:nvSpPr>
        <p:spPr>
          <a:xfrm>
            <a:off x="1938528" y="5212080"/>
            <a:ext cx="192024" cy="914"/>
          </a:xfrm>
          <a:prstGeom prst="line">
            <a:avLst/>
          </a:prstGeom>
          <a:noFill/>
          <a:ln w="15875">
            <a:solidFill>
              <a:schemeClr val="tx2"/>
            </a:solidFill>
            <a:prstDash val="solid"/>
            <a:tailEnd type="triangle"/>
          </a:ln>
        </p:spPr>
      </p:sp>
      <p:sp>
        <p:nvSpPr>
          <p:cNvPr id="34" name="Shape 28"/>
          <p:cNvSpPr/>
          <p:nvPr/>
        </p:nvSpPr>
        <p:spPr>
          <a:xfrm>
            <a:off x="2148840" y="4983480"/>
            <a:ext cx="1371600" cy="457200"/>
          </a:xfrm>
          <a:prstGeom prst="roundRect">
            <a:avLst>
              <a:gd name="adj" fmla="val 12000"/>
            </a:avLst>
          </a:prstGeom>
          <a:solidFill>
            <a:schemeClr val="accent1"/>
          </a:solidFill>
          <a:ln/>
        </p:spPr>
      </p:sp>
      <p:sp>
        <p:nvSpPr>
          <p:cNvPr id="35" name="Text 29"/>
          <p:cNvSpPr txBox="1"/>
          <p:nvPr/>
        </p:nvSpPr>
        <p:spPr>
          <a:xfrm>
            <a:off x="2148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NETWORK</a:t>
            </a:r>
            <a:endParaRPr lang="en-US" sz="1200" dirty="0"/>
          </a:p>
        </p:txBody>
      </p:sp>
      <p:sp>
        <p:nvSpPr>
          <p:cNvPr id="36" name="Shape 30"/>
          <p:cNvSpPr/>
          <p:nvPr/>
        </p:nvSpPr>
        <p:spPr>
          <a:xfrm>
            <a:off x="3538728" y="5212080"/>
            <a:ext cx="192024" cy="914"/>
          </a:xfrm>
          <a:prstGeom prst="line">
            <a:avLst/>
          </a:prstGeom>
          <a:noFill/>
          <a:ln w="15875">
            <a:solidFill>
              <a:schemeClr val="tx2"/>
            </a:solidFill>
            <a:prstDash val="solid"/>
            <a:tailEnd type="triangle"/>
          </a:ln>
        </p:spPr>
      </p:sp>
      <p:sp>
        <p:nvSpPr>
          <p:cNvPr id="37" name="Shape 31"/>
          <p:cNvSpPr/>
          <p:nvPr/>
        </p:nvSpPr>
        <p:spPr>
          <a:xfrm>
            <a:off x="3749040" y="4983480"/>
            <a:ext cx="1371600" cy="457200"/>
          </a:xfrm>
          <a:prstGeom prst="roundRect">
            <a:avLst>
              <a:gd name="adj" fmla="val 12000"/>
            </a:avLst>
          </a:prstGeom>
          <a:solidFill>
            <a:schemeClr val="accent1"/>
          </a:solidFill>
          <a:ln/>
        </p:spPr>
      </p:sp>
      <p:sp>
        <p:nvSpPr>
          <p:cNvPr id="38" name="Text 32"/>
          <p:cNvSpPr txBox="1"/>
          <p:nvPr/>
        </p:nvSpPr>
        <p:spPr>
          <a:xfrm>
            <a:off x="37490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CLUSTER</a:t>
            </a:r>
            <a:endParaRPr lang="en-US" sz="1200" dirty="0"/>
          </a:p>
        </p:txBody>
      </p:sp>
      <p:sp>
        <p:nvSpPr>
          <p:cNvPr id="39" name="Shape 33"/>
          <p:cNvSpPr/>
          <p:nvPr/>
        </p:nvSpPr>
        <p:spPr>
          <a:xfrm>
            <a:off x="5138928" y="5212080"/>
            <a:ext cx="192024" cy="914"/>
          </a:xfrm>
          <a:prstGeom prst="line">
            <a:avLst/>
          </a:prstGeom>
          <a:noFill/>
          <a:ln w="15875">
            <a:solidFill>
              <a:schemeClr val="tx2"/>
            </a:solidFill>
            <a:prstDash val="solid"/>
            <a:tailEnd type="triangle"/>
          </a:ln>
        </p:spPr>
      </p:sp>
      <p:sp>
        <p:nvSpPr>
          <p:cNvPr id="40" name="Shape 34"/>
          <p:cNvSpPr/>
          <p:nvPr/>
        </p:nvSpPr>
        <p:spPr>
          <a:xfrm>
            <a:off x="5349240" y="4983480"/>
            <a:ext cx="1371600" cy="457200"/>
          </a:xfrm>
          <a:prstGeom prst="roundRect">
            <a:avLst>
              <a:gd name="adj" fmla="val 12000"/>
            </a:avLst>
          </a:prstGeom>
          <a:solidFill>
            <a:schemeClr val="accent1"/>
          </a:solidFill>
          <a:ln/>
        </p:spPr>
      </p:sp>
      <p:sp>
        <p:nvSpPr>
          <p:cNvPr id="41" name="Text 35"/>
          <p:cNvSpPr txBox="1"/>
          <p:nvPr/>
        </p:nvSpPr>
        <p:spPr>
          <a:xfrm>
            <a:off x="53492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DATABASE</a:t>
            </a:r>
            <a:endParaRPr lang="en-US" sz="1200" dirty="0"/>
          </a:p>
        </p:txBody>
      </p:sp>
      <p:sp>
        <p:nvSpPr>
          <p:cNvPr id="42" name="Shape 36"/>
          <p:cNvSpPr/>
          <p:nvPr/>
        </p:nvSpPr>
        <p:spPr>
          <a:xfrm>
            <a:off x="6739128" y="5212080"/>
            <a:ext cx="192024" cy="914"/>
          </a:xfrm>
          <a:prstGeom prst="line">
            <a:avLst/>
          </a:prstGeom>
          <a:noFill/>
          <a:ln w="15875">
            <a:solidFill>
              <a:schemeClr val="tx2"/>
            </a:solidFill>
            <a:prstDash val="solid"/>
            <a:tailEnd type="triangle"/>
          </a:ln>
        </p:spPr>
      </p:sp>
      <p:sp>
        <p:nvSpPr>
          <p:cNvPr id="43" name="Shape 37"/>
          <p:cNvSpPr/>
          <p:nvPr/>
        </p:nvSpPr>
        <p:spPr>
          <a:xfrm>
            <a:off x="6949440" y="4983480"/>
            <a:ext cx="1371600" cy="457200"/>
          </a:xfrm>
          <a:prstGeom prst="roundRect">
            <a:avLst>
              <a:gd name="adj" fmla="val 12000"/>
            </a:avLst>
          </a:prstGeom>
          <a:solidFill>
            <a:schemeClr val="accent1"/>
          </a:solidFill>
          <a:ln/>
        </p:spPr>
      </p:sp>
      <p:sp>
        <p:nvSpPr>
          <p:cNvPr id="44" name="Text 38"/>
          <p:cNvSpPr txBox="1"/>
          <p:nvPr/>
        </p:nvSpPr>
        <p:spPr>
          <a:xfrm>
            <a:off x="69494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p:txBody>
      </p:sp>
      <p:sp>
        <p:nvSpPr>
          <p:cNvPr id="45" name="Shape 39"/>
          <p:cNvSpPr/>
          <p:nvPr/>
        </p:nvSpPr>
        <p:spPr>
          <a:xfrm>
            <a:off x="8339328" y="5212080"/>
            <a:ext cx="192024" cy="914"/>
          </a:xfrm>
          <a:prstGeom prst="line">
            <a:avLst/>
          </a:prstGeom>
          <a:noFill/>
          <a:ln w="15875">
            <a:solidFill>
              <a:schemeClr val="tx2"/>
            </a:solidFill>
            <a:prstDash val="solid"/>
            <a:tailEnd type="triangle"/>
          </a:ln>
        </p:spPr>
      </p:sp>
      <p:sp>
        <p:nvSpPr>
          <p:cNvPr id="46" name="Shape 40"/>
          <p:cNvSpPr/>
          <p:nvPr/>
        </p:nvSpPr>
        <p:spPr>
          <a:xfrm>
            <a:off x="8549640" y="4983480"/>
            <a:ext cx="1371600" cy="457200"/>
          </a:xfrm>
          <a:prstGeom prst="roundRect">
            <a:avLst>
              <a:gd name="adj" fmla="val 12000"/>
            </a:avLst>
          </a:prstGeom>
          <a:solidFill>
            <a:schemeClr val="accent1"/>
          </a:solidFill>
          <a:ln/>
        </p:spPr>
      </p:sp>
      <p:sp>
        <p:nvSpPr>
          <p:cNvPr id="47" name="Text 41"/>
          <p:cNvSpPr txBox="1"/>
          <p:nvPr/>
        </p:nvSpPr>
        <p:spPr>
          <a:xfrm>
            <a:off x="8549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p:txBody>
      </p:sp>
      <p:sp>
        <p:nvSpPr>
          <p:cNvPr id="48" name="Shape 42"/>
          <p:cNvSpPr/>
          <p:nvPr/>
        </p:nvSpPr>
        <p:spPr>
          <a:xfrm>
            <a:off x="9939528" y="5212080"/>
            <a:ext cx="192024" cy="914"/>
          </a:xfrm>
          <a:prstGeom prst="line">
            <a:avLst/>
          </a:prstGeom>
          <a:noFill/>
          <a:ln w="15875">
            <a:solidFill>
              <a:schemeClr val="tx2"/>
            </a:solidFill>
            <a:prstDash val="solid"/>
            <a:tailEnd type="triangle"/>
          </a:ln>
        </p:spPr>
      </p:sp>
      <p:sp>
        <p:nvSpPr>
          <p:cNvPr id="49" name="Shape 43"/>
          <p:cNvSpPr/>
          <p:nvPr/>
        </p:nvSpPr>
        <p:spPr>
          <a:xfrm>
            <a:off x="10149840" y="4983480"/>
            <a:ext cx="1371600" cy="457200"/>
          </a:xfrm>
          <a:prstGeom prst="roundRect">
            <a:avLst>
              <a:gd name="adj" fmla="val 12000"/>
            </a:avLst>
          </a:prstGeom>
          <a:solidFill>
            <a:schemeClr val="accent4"/>
          </a:solidFill>
          <a:ln/>
        </p:spPr>
      </p:sp>
      <p:sp>
        <p:nvSpPr>
          <p:cNvPr id="50" name="Text 44"/>
          <p:cNvSpPr txBox="1"/>
          <p:nvPr/>
        </p:nvSpPr>
        <p:spPr>
          <a:xfrm>
            <a:off x="10149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COMPLETED</a:t>
            </a:r>
            <a:endParaRPr lang="en-US" sz="1200" dirty="0"/>
          </a:p>
        </p:txBody>
      </p:sp>
      <p:sp>
        <p:nvSpPr>
          <p:cNvPr id="51" name="Text 45"/>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400" i="1" dirty="0">
                <a:solidFill>
                  <a:schemeClr val="tx2"/>
                </a:solidFill>
              </a:rPr>
              <a:t>Cloud credentials never enter the app: the backend only holds a GitHub token that can start workflows.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Three actions, all tested live on 13 October</a:t>
            </a:r>
            <a:endParaRPr lang="en-US" sz="3200" dirty="0"/>
          </a:p>
        </p:txBody>
      </p:sp>
      <p:sp>
        <p:nvSpPr>
          <p:cNvPr id="3" name="Shape 1"/>
          <p:cNvSpPr/>
          <p:nvPr/>
        </p:nvSpPr>
        <p:spPr>
          <a:xfrm>
            <a:off x="548640" y="1325880"/>
            <a:ext cx="3520440" cy="4069080"/>
          </a:xfrm>
          <a:prstGeom prst="roundRect">
            <a:avLst>
              <a:gd name="adj" fmla="val 2078"/>
            </a:avLst>
          </a:prstGeom>
          <a:solidFill>
            <a:schemeClr val="bg2"/>
          </a:solidFill>
          <a:ln/>
        </p:spPr>
      </p:sp>
      <p:sp>
        <p:nvSpPr>
          <p:cNvPr id="4" name="Shape 2"/>
          <p:cNvSpPr/>
          <p:nvPr/>
        </p:nvSpPr>
        <p:spPr>
          <a:xfrm>
            <a:off x="822960" y="1554480"/>
            <a:ext cx="685800" cy="68580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45920" y="1691640"/>
            <a:ext cx="2286000" cy="411480"/>
          </a:xfrm>
          <a:prstGeom prst="rect">
            <a:avLst/>
          </a:prstGeom>
          <a:noFill/>
          <a:ln/>
        </p:spPr>
        <p:txBody>
          <a:bodyPr wrap="square" lIns="0" tIns="0" rIns="0" bIns="0" rtlCol="0" anchor="t"/>
          <a:lstStyle/>
          <a:p>
            <a:pPr indent="0" marL="0">
              <a:buNone/>
            </a:pPr>
            <a:r>
              <a:rPr lang="en-US" sz="1800" b="1" dirty="0">
                <a:solidFill>
                  <a:schemeClr val="accent4"/>
                </a:solidFill>
              </a:rPr>
              <a:t>APPLY · Dev</a:t>
            </a:r>
            <a:endParaRPr lang="en-US" sz="1800" dirty="0"/>
          </a:p>
        </p:txBody>
      </p:sp>
      <p:sp>
        <p:nvSpPr>
          <p:cNvPr id="7" name="Text 4"/>
          <p:cNvSpPr txBox="1"/>
          <p:nvPr/>
        </p:nvSpPr>
        <p:spPr>
          <a:xfrm>
            <a:off x="82296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new, isolated environment on the region's cluster: its own namespace, its own database on the cloud's MySQL server, backend and web app, and its own URL.</a:t>
            </a:r>
            <a:endParaRPr lang="en-US" sz="1400" dirty="0"/>
          </a:p>
        </p:txBody>
      </p:sp>
      <p:sp>
        <p:nvSpPr>
          <p:cNvPr id="8" name="Shape 5"/>
          <p:cNvSpPr/>
          <p:nvPr/>
        </p:nvSpPr>
        <p:spPr>
          <a:xfrm>
            <a:off x="822960" y="4343400"/>
            <a:ext cx="2971800" cy="868680"/>
          </a:xfrm>
          <a:prstGeom prst="roundRect">
            <a:avLst>
              <a:gd name="adj" fmla="val 6316"/>
            </a:avLst>
          </a:prstGeom>
          <a:solidFill>
            <a:schemeClr val="bg1"/>
          </a:solidFill>
          <a:ln w="12700">
            <a:solidFill>
              <a:schemeClr val="accent4"/>
            </a:solidFill>
            <a:prstDash val="solid"/>
          </a:ln>
        </p:spPr>
      </p:sp>
      <p:pic>
        <p:nvPicPr>
          <p:cNvPr id="9" name="Image 1" descr="preencoded.png">    </p:cNvPr>
          <p:cNvPicPr>
            <a:picLocks noChangeAspect="1"/>
          </p:cNvPicPr>
          <p:nvPr/>
        </p:nvPicPr>
        <p:blipFill>
          <a:blip r:embed="rId2"/>
          <a:stretch>
            <a:fillRect/>
          </a:stretch>
        </p:blipFill>
        <p:spPr>
          <a:xfrm>
            <a:off x="932688" y="4480560"/>
            <a:ext cx="274320" cy="274320"/>
          </a:xfrm>
          <a:prstGeom prst="rect">
            <a:avLst/>
          </a:prstGeom>
        </p:spPr>
      </p:pic>
      <p:sp>
        <p:nvSpPr>
          <p:cNvPr id="10" name="Text 6"/>
          <p:cNvSpPr txBox="1"/>
          <p:nvPr/>
        </p:nvSpPr>
        <p:spPr>
          <a:xfrm>
            <a:off x="132588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#2: COMPLETED in about 3 minutes; URL live, health UP</a:t>
            </a:r>
            <a:endParaRPr lang="en-US" sz="1200" dirty="0"/>
          </a:p>
        </p:txBody>
      </p:sp>
      <p:sp>
        <p:nvSpPr>
          <p:cNvPr id="11" name="Shape 7"/>
          <p:cNvSpPr/>
          <p:nvPr/>
        </p:nvSpPr>
        <p:spPr>
          <a:xfrm>
            <a:off x="4343400" y="1325880"/>
            <a:ext cx="3520440" cy="4069080"/>
          </a:xfrm>
          <a:prstGeom prst="roundRect">
            <a:avLst>
              <a:gd name="adj" fmla="val 2078"/>
            </a:avLst>
          </a:prstGeom>
          <a:solidFill>
            <a:schemeClr val="bg2"/>
          </a:solidFill>
          <a:ln/>
        </p:spPr>
      </p:sp>
      <p:sp>
        <p:nvSpPr>
          <p:cNvPr id="12" name="Shape 8"/>
          <p:cNvSpPr/>
          <p:nvPr/>
        </p:nvSpPr>
        <p:spPr>
          <a:xfrm>
            <a:off x="4617720" y="1554480"/>
            <a:ext cx="685800" cy="685800"/>
          </a:xfrm>
          <a:prstGeom prst="ellipse">
            <a:avLst/>
          </a:prstGeom>
          <a:solidFill>
            <a:schemeClr val="accent1"/>
          </a:solidFill>
          <a:ln/>
        </p:spPr>
      </p:sp>
      <p:pic>
        <p:nvPicPr>
          <p:cNvPr id="13" name="Image 2" descr="preencoded.png">    </p:cNvPr>
          <p:cNvPicPr>
            <a:picLocks noChangeAspect="1"/>
          </p:cNvPicPr>
          <p:nvPr/>
        </p:nvPicPr>
        <p:blipFill>
          <a:blip r:embed="rId3"/>
          <a:stretch>
            <a:fillRect/>
          </a:stretch>
        </p:blipFill>
        <p:spPr>
          <a:xfrm>
            <a:off x="4789170" y="1725930"/>
            <a:ext cx="342900" cy="342900"/>
          </a:xfrm>
          <a:prstGeom prst="rect">
            <a:avLst/>
          </a:prstGeom>
        </p:spPr>
      </p:pic>
      <p:sp>
        <p:nvSpPr>
          <p:cNvPr id="14" name="Text 9"/>
          <p:cNvSpPr txBox="1"/>
          <p:nvPr/>
        </p:nvSpPr>
        <p:spPr>
          <a:xfrm>
            <a:off x="5440680" y="1691640"/>
            <a:ext cx="2286000" cy="411480"/>
          </a:xfrm>
          <a:prstGeom prst="rect">
            <a:avLst/>
          </a:prstGeom>
          <a:noFill/>
          <a:ln/>
        </p:spPr>
        <p:txBody>
          <a:bodyPr wrap="square" lIns="0" tIns="0" rIns="0" bIns="0" rtlCol="0" anchor="t"/>
          <a:lstStyle/>
          <a:p>
            <a:pPr indent="0" marL="0">
              <a:buNone/>
            </a:pPr>
            <a:r>
              <a:rPr lang="en-US" sz="1800" b="1" dirty="0">
                <a:solidFill>
                  <a:schemeClr val="accent1"/>
                </a:solidFill>
              </a:rPr>
              <a:t>PLAN · QA and Prod</a:t>
            </a:r>
            <a:endParaRPr lang="en-US" sz="1800" dirty="0"/>
          </a:p>
        </p:txBody>
      </p:sp>
      <p:sp>
        <p:nvSpPr>
          <p:cNvPr id="15" name="Text 10"/>
          <p:cNvSpPr txBox="1"/>
          <p:nvPr/>
        </p:nvSpPr>
        <p:spPr>
          <a:xfrm>
            <a:off x="461772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real tofu plan of the full stack for that environment and region, from an empty state. Nothing is created and nothing is billed.</a:t>
            </a:r>
            <a:endParaRPr lang="en-US" sz="1400" dirty="0"/>
          </a:p>
        </p:txBody>
      </p:sp>
      <p:sp>
        <p:nvSpPr>
          <p:cNvPr id="16" name="Shape 11"/>
          <p:cNvSpPr/>
          <p:nvPr/>
        </p:nvSpPr>
        <p:spPr>
          <a:xfrm>
            <a:off x="4617720" y="4343400"/>
            <a:ext cx="2971800" cy="868680"/>
          </a:xfrm>
          <a:prstGeom prst="roundRect">
            <a:avLst>
              <a:gd name="adj" fmla="val 6316"/>
            </a:avLst>
          </a:prstGeom>
          <a:solidFill>
            <a:schemeClr val="bg1"/>
          </a:solidFill>
          <a:ln w="12700">
            <a:solidFill>
              <a:schemeClr val="accent1"/>
            </a:solidFill>
            <a:prstDash val="solid"/>
          </a:ln>
        </p:spPr>
      </p:sp>
      <p:pic>
        <p:nvPicPr>
          <p:cNvPr id="17" name="Image 3" descr="preencoded.png">    </p:cNvPr>
          <p:cNvPicPr>
            <a:picLocks noChangeAspect="1"/>
          </p:cNvPicPr>
          <p:nvPr/>
        </p:nvPicPr>
        <p:blipFill>
          <a:blip r:embed="rId4"/>
          <a:stretch>
            <a:fillRect/>
          </a:stretch>
        </p:blipFill>
        <p:spPr>
          <a:xfrm>
            <a:off x="4727448" y="4480560"/>
            <a:ext cx="274320" cy="274320"/>
          </a:xfrm>
          <a:prstGeom prst="rect">
            <a:avLst/>
          </a:prstGeom>
        </p:spPr>
      </p:pic>
      <p:sp>
        <p:nvSpPr>
          <p:cNvPr id="18" name="Text 12"/>
          <p:cNvSpPr txBox="1"/>
          <p:nvPr/>
        </p:nvSpPr>
        <p:spPr>
          <a:xfrm>
            <a:off x="512064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#3: Azure Prod, 20 resources incl. 2 AKS clusters, MySQL, ACR, Traffic Manager</a:t>
            </a:r>
            <a:endParaRPr lang="en-US" sz="1200" dirty="0"/>
          </a:p>
        </p:txBody>
      </p:sp>
      <p:sp>
        <p:nvSpPr>
          <p:cNvPr id="19" name="Shape 13"/>
          <p:cNvSpPr/>
          <p:nvPr/>
        </p:nvSpPr>
        <p:spPr>
          <a:xfrm>
            <a:off x="8138160" y="1325880"/>
            <a:ext cx="3520440" cy="4069080"/>
          </a:xfrm>
          <a:prstGeom prst="roundRect">
            <a:avLst>
              <a:gd name="adj" fmla="val 2078"/>
            </a:avLst>
          </a:prstGeom>
          <a:solidFill>
            <a:schemeClr val="bg2"/>
          </a:solidFill>
          <a:ln/>
        </p:spPr>
      </p:sp>
      <p:sp>
        <p:nvSpPr>
          <p:cNvPr id="20" name="Shape 14"/>
          <p:cNvSpPr/>
          <p:nvPr/>
        </p:nvSpPr>
        <p:spPr>
          <a:xfrm>
            <a:off x="8412480" y="1554480"/>
            <a:ext cx="685800" cy="685800"/>
          </a:xfrm>
          <a:prstGeom prst="ellipse">
            <a:avLst/>
          </a:prstGeom>
          <a:solidFill>
            <a:schemeClr val="accent5"/>
          </a:solidFill>
          <a:ln/>
        </p:spPr>
      </p:sp>
      <p:pic>
        <p:nvPicPr>
          <p:cNvPr id="21" name="Image 4" descr="preencoded.png">    </p:cNvPr>
          <p:cNvPicPr>
            <a:picLocks noChangeAspect="1"/>
          </p:cNvPicPr>
          <p:nvPr/>
        </p:nvPicPr>
        <p:blipFill>
          <a:blip r:embed="rId5"/>
          <a:stretch>
            <a:fillRect/>
          </a:stretch>
        </p:blipFill>
        <p:spPr>
          <a:xfrm>
            <a:off x="8583930" y="1725930"/>
            <a:ext cx="342900" cy="342900"/>
          </a:xfrm>
          <a:prstGeom prst="rect">
            <a:avLst/>
          </a:prstGeom>
        </p:spPr>
      </p:pic>
      <p:sp>
        <p:nvSpPr>
          <p:cNvPr id="22" name="Text 15"/>
          <p:cNvSpPr txBox="1"/>
          <p:nvPr/>
        </p:nvSpPr>
        <p:spPr>
          <a:xfrm>
            <a:off x="9235440" y="1691640"/>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DESTROY</a:t>
            </a:r>
            <a:endParaRPr lang="en-US" sz="1800" dirty="0"/>
          </a:p>
        </p:txBody>
      </p:sp>
      <p:sp>
        <p:nvSpPr>
          <p:cNvPr id="23" name="Text 16"/>
          <p:cNvSpPr txBox="1"/>
          <p:nvPr/>
        </p:nvSpPr>
        <p:spPr>
          <a:xfrm>
            <a:off x="841248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Drops the environment's database and deletes its namespace. Available once an apply has finished or failed.</a:t>
            </a:r>
            <a:endParaRPr lang="en-US" sz="1400" dirty="0"/>
          </a:p>
        </p:txBody>
      </p:sp>
      <p:sp>
        <p:nvSpPr>
          <p:cNvPr id="24" name="Shape 17"/>
          <p:cNvSpPr/>
          <p:nvPr/>
        </p:nvSpPr>
        <p:spPr>
          <a:xfrm>
            <a:off x="8412480" y="4343400"/>
            <a:ext cx="2971800" cy="868680"/>
          </a:xfrm>
          <a:prstGeom prst="roundRect">
            <a:avLst>
              <a:gd name="adj" fmla="val 6316"/>
            </a:avLst>
          </a:prstGeom>
          <a:solidFill>
            <a:schemeClr val="bg1"/>
          </a:solidFill>
          <a:ln w="12700">
            <a:solidFill>
              <a:schemeClr val="accent5"/>
            </a:solidFill>
            <a:prstDash val="solid"/>
          </a:ln>
        </p:spPr>
      </p:sp>
      <p:pic>
        <p:nvPicPr>
          <p:cNvPr id="25" name="Image 5" descr="preencoded.png">    </p:cNvPr>
          <p:cNvPicPr>
            <a:picLocks noChangeAspect="1"/>
          </p:cNvPicPr>
          <p:nvPr/>
        </p:nvPicPr>
        <p:blipFill>
          <a:blip r:embed="rId6"/>
          <a:stretch>
            <a:fillRect/>
          </a:stretch>
        </p:blipFill>
        <p:spPr>
          <a:xfrm>
            <a:off x="8522208" y="4480560"/>
            <a:ext cx="274320" cy="274320"/>
          </a:xfrm>
          <a:prstGeom prst="rect">
            <a:avLst/>
          </a:prstGeom>
        </p:spPr>
      </p:pic>
      <p:sp>
        <p:nvSpPr>
          <p:cNvPr id="26" name="Text 18"/>
          <p:cNvSpPr txBox="1"/>
          <p:nvPr/>
        </p:nvSpPr>
        <p:spPr>
          <a:xfrm>
            <a:off x="891540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#1: database dropped, namespace deleted in about 1 minute</a:t>
            </a:r>
            <a:endParaRPr lang="en-US" sz="1200" dirty="0"/>
          </a:p>
        </p:txBody>
      </p:sp>
      <p:sp>
        <p:nvSpPr>
          <p:cNvPr id="27" name="Text 19"/>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400" b="1" dirty="0">
                <a:solidFill>
                  <a:schemeClr val="tx2"/>
                </a:solidFill>
              </a:rPr>
              <a:t>Why environments, not new clusters: </a:t>
            </a:r>
            <a:pPr indent="0" marL="0">
              <a:buNone/>
            </a:pPr>
            <a:r>
              <a:rPr lang="en-US" sz="1400" dirty="0">
                <a:solidFill>
                  <a:schemeClr val="tx2"/>
                </a:solidFill>
              </a:rPr>
              <a:t>a new EKS/AKS cluster takes 20+ minutes and exceeds new-account quotas. The full-stack path is what PLAN shows and what cloud.yml already proves.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04</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Decisions and operations</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What changed from the plan, and how we kept it cheap</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Where reality changed the plan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108960"/>
                <a:gridCol w="3749040"/>
                <a:gridCol w="4206240"/>
              </a:tblGrid>
              <a:tr h="566928">
                <a:tc>
                  <a:txBody>
                    <a:bodyPr/>
                    <a:lstStyle/>
                    <a:p>
                      <a:pPr indent="0" marL="0">
                        <a:buNone/>
                      </a:pPr>
                      <a:r>
                        <a:rPr lang="en-US" sz="1400" b="1" dirty="0">
                          <a:solidFill>
                            <a:schemeClr val="bg1"/>
                          </a:solidFill>
                        </a:rPr>
                        <a:t>PRD plan</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we built</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Why</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r>
              <a:tr h="566928">
                <a:tc>
                  <a:txBody>
                    <a:bodyPr/>
                    <a:lstStyle/>
                    <a:p>
                      <a:pPr indent="0" marL="0">
                        <a:buNone/>
                      </a:pPr>
                      <a:r>
                        <a:rPr lang="en-US" sz="1300" dirty="0">
                          <a:solidFill>
                            <a:schemeClr val="tx1"/>
                          </a:solidFill>
                        </a:rPr>
                        <a:t>Azure East US + West Europe</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Azure East Asia + Korea Central</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student subscription allows only five regions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Route 53 in front of Traffic Manager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Traffic Manager across all four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global URL without buying a domain</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Load balancer ingress; SPA on S3 + CloudFront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ingress-nginx on the node IP; SPA in every cluster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AWS accounts can't create load balancers or CloudFront until Support enables them</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Cross-region read replicas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database per cloud; us-west-2 over VPC peering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Replicas aren't allowed on free plans (enable_replicas flag)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Portal creates new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Portal creates isolated environments; Plan shows the full stack</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clusters take 20+ min and exceed quotas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7 days, 12 steps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 days, 9 steps, cloud last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Prove everything locally before spending credits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Quality and cost control</a:t>
            </a:r>
            <a:endParaRPr lang="en-US" sz="3200" dirty="0"/>
          </a:p>
        </p:txBody>
      </p:sp>
      <p:sp>
        <p:nvSpPr>
          <p:cNvPr id="3" name="Shape 1"/>
          <p:cNvSpPr/>
          <p:nvPr/>
        </p:nvSpPr>
        <p:spPr>
          <a:xfrm>
            <a:off x="548640" y="1325880"/>
            <a:ext cx="5440680" cy="4709160"/>
          </a:xfrm>
          <a:prstGeom prst="roundRect">
            <a:avLst>
              <a:gd name="adj" fmla="val 1553"/>
            </a:avLst>
          </a:prstGeom>
          <a:solidFill>
            <a:schemeClr val="bg2"/>
          </a:solidFill>
          <a:ln/>
        </p:spPr>
      </p:sp>
      <p:sp>
        <p:nvSpPr>
          <p:cNvPr id="4" name="Shape 2"/>
          <p:cNvSpPr/>
          <p:nvPr/>
        </p:nvSpPr>
        <p:spPr>
          <a:xfrm>
            <a:off x="822960" y="1554480"/>
            <a:ext cx="685800" cy="68580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9164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Quality</a:t>
            </a:r>
            <a:endParaRPr lang="en-US" sz="2000" dirty="0"/>
          </a:p>
        </p:txBody>
      </p:sp>
      <p:sp>
        <p:nvSpPr>
          <p:cNvPr id="7" name="Text 4"/>
          <p:cNvSpPr txBox="1"/>
          <p:nvPr/>
        </p:nvSpPr>
        <p:spPr>
          <a:xfrm>
            <a:off x="822960" y="2514600"/>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98</a:t>
            </a:r>
            <a:endParaRPr lang="en-US" sz="3200" dirty="0"/>
          </a:p>
        </p:txBody>
      </p:sp>
      <p:sp>
        <p:nvSpPr>
          <p:cNvPr id="8" name="Text 5"/>
          <p:cNvSpPr txBox="1"/>
          <p:nvPr/>
        </p:nvSpPr>
        <p:spPr>
          <a:xfrm>
            <a:off x="2011680" y="2514600"/>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tests (unit + Testcontainers)</a:t>
            </a:r>
            <a:endParaRPr lang="en-US" sz="1500" dirty="0"/>
          </a:p>
        </p:txBody>
      </p:sp>
      <p:sp>
        <p:nvSpPr>
          <p:cNvPr id="9" name="Text 6"/>
          <p:cNvSpPr txBox="1"/>
          <p:nvPr/>
        </p:nvSpPr>
        <p:spPr>
          <a:xfrm>
            <a:off x="822960" y="3355848"/>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19</a:t>
            </a:r>
            <a:endParaRPr lang="en-US" sz="3200" dirty="0"/>
          </a:p>
        </p:txBody>
      </p:sp>
      <p:sp>
        <p:nvSpPr>
          <p:cNvPr id="10" name="Text 7"/>
          <p:cNvSpPr txBox="1"/>
          <p:nvPr/>
        </p:nvSpPr>
        <p:spPr>
          <a:xfrm>
            <a:off x="2011680" y="3355848"/>
            <a:ext cx="3840480" cy="640080"/>
          </a:xfrm>
          <a:prstGeom prst="rect">
            <a:avLst/>
          </a:prstGeom>
          <a:noFill/>
          <a:ln/>
        </p:spPr>
        <p:txBody>
          <a:bodyPr wrap="square" lIns="0" tIns="0" rIns="0" bIns="0" rtlCol="0" anchor="ctr"/>
          <a:lstStyle/>
          <a:p>
            <a:pPr indent="0" marL="0">
              <a:buNone/>
            </a:pPr>
            <a:r>
              <a:rPr lang="en-US" sz="1500" dirty="0">
                <a:solidFill>
                  <a:schemeClr val="tx1"/>
                </a:solidFill>
              </a:rPr>
              <a:t>frontend tests (Vitest)</a:t>
            </a:r>
            <a:endParaRPr lang="en-US" sz="1500" dirty="0"/>
          </a:p>
        </p:txBody>
      </p:sp>
      <p:sp>
        <p:nvSpPr>
          <p:cNvPr id="11" name="Text 8"/>
          <p:cNvSpPr txBox="1"/>
          <p:nvPr/>
        </p:nvSpPr>
        <p:spPr>
          <a:xfrm>
            <a:off x="822960" y="4197096"/>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93%</a:t>
            </a:r>
            <a:endParaRPr lang="en-US" sz="3200" dirty="0"/>
          </a:p>
        </p:txBody>
      </p:sp>
      <p:sp>
        <p:nvSpPr>
          <p:cNvPr id="12" name="Text 9"/>
          <p:cNvSpPr txBox="1"/>
          <p:nvPr/>
        </p:nvSpPr>
        <p:spPr>
          <a:xfrm>
            <a:off x="2011680" y="4197096"/>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line coverage</a:t>
            </a:r>
            <a:endParaRPr lang="en-US" sz="1500" dirty="0"/>
          </a:p>
        </p:txBody>
      </p:sp>
      <p:sp>
        <p:nvSpPr>
          <p:cNvPr id="13" name="Text 10"/>
          <p:cNvSpPr txBox="1"/>
          <p:nvPr/>
        </p:nvSpPr>
        <p:spPr>
          <a:xfrm>
            <a:off x="822960" y="5038344"/>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4</a:t>
            </a:r>
            <a:endParaRPr lang="en-US" sz="3200" dirty="0"/>
          </a:p>
        </p:txBody>
      </p:sp>
      <p:sp>
        <p:nvSpPr>
          <p:cNvPr id="14" name="Text 11"/>
          <p:cNvSpPr txBox="1"/>
          <p:nvPr/>
        </p:nvSpPr>
        <p:spPr>
          <a:xfrm>
            <a:off x="2011680" y="5038344"/>
            <a:ext cx="3840480" cy="640080"/>
          </a:xfrm>
          <a:prstGeom prst="rect">
            <a:avLst/>
          </a:prstGeom>
          <a:noFill/>
          <a:ln/>
        </p:spPr>
        <p:txBody>
          <a:bodyPr wrap="square" lIns="0" tIns="0" rIns="0" bIns="0" rtlCol="0" anchor="ctr"/>
          <a:lstStyle/>
          <a:p>
            <a:pPr indent="0" marL="0">
              <a:buNone/>
            </a:pPr>
            <a:r>
              <a:rPr lang="en-US" sz="1500" dirty="0">
                <a:solidFill>
                  <a:schemeClr val="tx1"/>
                </a:solidFill>
              </a:rPr>
              <a:t>CI workflows: backend, frontend, k8s, infra</a:t>
            </a:r>
            <a:endParaRPr lang="en-US" sz="1500" dirty="0"/>
          </a:p>
        </p:txBody>
      </p:sp>
      <p:sp>
        <p:nvSpPr>
          <p:cNvPr id="15" name="Shape 12"/>
          <p:cNvSpPr/>
          <p:nvPr/>
        </p:nvSpPr>
        <p:spPr>
          <a:xfrm>
            <a:off x="6172200" y="1325880"/>
            <a:ext cx="5440680" cy="4709160"/>
          </a:xfrm>
          <a:prstGeom prst="roundRect">
            <a:avLst>
              <a:gd name="adj" fmla="val 1553"/>
            </a:avLst>
          </a:prstGeom>
          <a:solidFill>
            <a:schemeClr val="bg2"/>
          </a:solidFill>
          <a:ln/>
        </p:spPr>
      </p:sp>
      <p:sp>
        <p:nvSpPr>
          <p:cNvPr id="16" name="Shape 13"/>
          <p:cNvSpPr/>
          <p:nvPr/>
        </p:nvSpPr>
        <p:spPr>
          <a:xfrm>
            <a:off x="6446520" y="1554480"/>
            <a:ext cx="685800" cy="685800"/>
          </a:xfrm>
          <a:prstGeom prst="ellipse">
            <a:avLst/>
          </a:prstGeom>
          <a:solidFill>
            <a:schemeClr val="accent4"/>
          </a:solidFill>
          <a:ln/>
        </p:spPr>
      </p:sp>
      <p:pic>
        <p:nvPicPr>
          <p:cNvPr id="17" name="Image 1" descr="preencoded.png">    </p:cNvPr>
          <p:cNvPicPr>
            <a:picLocks noChangeAspect="1"/>
          </p:cNvPicPr>
          <p:nvPr/>
        </p:nvPicPr>
        <p:blipFill>
          <a:blip r:embed="rId2"/>
          <a:stretch>
            <a:fillRect/>
          </a:stretch>
        </p:blipFill>
        <p:spPr>
          <a:xfrm>
            <a:off x="6617970" y="1725930"/>
            <a:ext cx="342900" cy="342900"/>
          </a:xfrm>
          <a:prstGeom prst="rect">
            <a:avLst/>
          </a:prstGeom>
        </p:spPr>
      </p:pic>
      <p:sp>
        <p:nvSpPr>
          <p:cNvPr id="18" name="Text 14"/>
          <p:cNvSpPr txBox="1"/>
          <p:nvPr/>
        </p:nvSpPr>
        <p:spPr>
          <a:xfrm>
            <a:off x="731520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Cost</a:t>
            </a:r>
            <a:endParaRPr lang="en-US" sz="2000" dirty="0"/>
          </a:p>
        </p:txBody>
      </p:sp>
      <p:sp>
        <p:nvSpPr>
          <p:cNvPr id="19" name="Text 15"/>
          <p:cNvSpPr txBox="1"/>
          <p:nvPr/>
        </p:nvSpPr>
        <p:spPr>
          <a:xfrm>
            <a:off x="6446520" y="2423160"/>
            <a:ext cx="2743200" cy="731520"/>
          </a:xfrm>
          <a:prstGeom prst="rect">
            <a:avLst/>
          </a:prstGeom>
          <a:noFill/>
          <a:ln/>
        </p:spPr>
        <p:txBody>
          <a:bodyPr wrap="square" lIns="0" tIns="0" rIns="0" bIns="0" rtlCol="0" anchor="t"/>
          <a:lstStyle/>
          <a:p>
            <a:pPr indent="0" marL="0">
              <a:buNone/>
            </a:pPr>
            <a:r>
              <a:rPr lang="en-US" sz="3600" b="1" dirty="0">
                <a:solidFill>
                  <a:schemeClr val="accent4"/>
                </a:solidFill>
              </a:rPr>
              <a:t>~$1.45/h</a:t>
            </a:r>
            <a:endParaRPr lang="en-US" sz="3600" dirty="0"/>
          </a:p>
        </p:txBody>
      </p:sp>
      <p:sp>
        <p:nvSpPr>
          <p:cNvPr id="20" name="Text 16"/>
          <p:cNvSpPr txBox="1"/>
          <p:nvPr/>
        </p:nvSpPr>
        <p:spPr>
          <a:xfrm>
            <a:off x="6446520" y="3154680"/>
            <a:ext cx="4937760" cy="548640"/>
          </a:xfrm>
          <a:prstGeom prst="rect">
            <a:avLst/>
          </a:prstGeom>
          <a:noFill/>
          <a:ln/>
        </p:spPr>
        <p:txBody>
          <a:bodyPr wrap="square" lIns="0" tIns="0" rIns="0" bIns="0" rtlCol="0" anchor="t"/>
          <a:lstStyle/>
          <a:p>
            <a:pPr indent="0" marL="0">
              <a:buNone/>
            </a:pPr>
            <a:r>
              <a:rPr lang="en-US" sz="1400" dirty="0">
                <a:solidFill>
                  <a:schemeClr val="tx2"/>
                </a:solidFill>
              </a:rPr>
              <a:t>4 clusters + 2 databases (AWS ~$1.33, Azure ~$0.12), from free credits: $0 out of pocket</a:t>
            </a:r>
            <a:endParaRPr lang="en-US" sz="1400" dirty="0"/>
          </a:p>
        </p:txBody>
      </p:sp>
      <p:sp>
        <p:nvSpPr>
          <p:cNvPr id="21" name="Text 17"/>
          <p:cNvSpPr txBox="1"/>
          <p:nvPr/>
        </p:nvSpPr>
        <p:spPr>
          <a:xfrm>
            <a:off x="6446520" y="3840480"/>
            <a:ext cx="4937760"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Nightly destroy at 02:00 IST; KEEP_UP pauses it for reviews</a:t>
            </a:r>
            <a:endParaRPr lang="en-US" sz="1400" dirty="0"/>
          </a:p>
          <a:p>
            <a:pPr marL="342900" indent="-342900">
              <a:spcAft>
                <a:spcPts val="600"/>
              </a:spcAft>
              <a:buSzPct val="100000"/>
              <a:buChar char="•"/>
            </a:pPr>
            <a:r>
              <a:rPr lang="en-US" sz="1400" dirty="0">
                <a:solidFill>
                  <a:schemeClr val="tx1"/>
                </a:solidFill>
              </a:rPr>
              <a:t>Smallest free-plan node and database sizes</a:t>
            </a:r>
            <a:endParaRPr lang="en-US" sz="1400" dirty="0"/>
          </a:p>
          <a:p>
            <a:pPr marL="342900" indent="-342900">
              <a:spcAft>
                <a:spcPts val="600"/>
              </a:spcAft>
              <a:buSzPct val="100000"/>
              <a:buChar char="•"/>
            </a:pPr>
            <a:r>
              <a:rPr lang="en-US" sz="1400" dirty="0">
                <a:solidFill>
                  <a:schemeClr val="tx1"/>
                </a:solidFill>
              </a:rPr>
              <a:t>After every destroy, both accounts checked for leftovers</a:t>
            </a:r>
            <a:endParaRPr lang="en-US" sz="1400" dirty="0"/>
          </a:p>
          <a:p>
            <a:pPr marL="342900" indent="-342900">
              <a:spcAft>
                <a:spcPts val="600"/>
              </a:spcAft>
              <a:buSzPct val="100000"/>
              <a:buChar char="•"/>
            </a:pPr>
            <a:r>
              <a:rPr lang="en-US" sz="1400" dirty="0">
                <a:solidFill>
                  <a:schemeClr val="tx1"/>
                </a:solidFill>
              </a:rPr>
              <a:t>Portal Plan is free; Apply reuses existing clusters</a:t>
            </a:r>
            <a:endParaRPr lang="en-US" sz="1400" dirty="0"/>
          </a:p>
          <a:p>
            <a:pPr marL="342900" indent="-342900">
              <a:spcAft>
                <a:spcPts val="600"/>
              </a:spcAft>
              <a:buSzPct val="100000"/>
              <a:buChar char="•"/>
            </a:pPr>
            <a:r>
              <a:rPr lang="en-US" sz="1400" dirty="0">
                <a:solidFill>
                  <a:schemeClr val="tx1"/>
                </a:solidFill>
              </a:rPr>
              <a:t>Lesson: EKS 1.33 is now in extended support (6× control-plane price); 1.34 fixes 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Shape 1"/>
          <p:cNvSpPr/>
          <p:nvPr/>
        </p:nvSpPr>
        <p:spPr>
          <a:xfrm>
            <a:off x="548640" y="1417320"/>
            <a:ext cx="548640" cy="548640"/>
          </a:xfrm>
          <a:prstGeom prst="roundRect">
            <a:avLst>
              <a:gd name="adj" fmla="val 10000"/>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71600"/>
            <a:ext cx="2743200" cy="365760"/>
          </a:xfrm>
          <a:prstGeom prst="rect">
            <a:avLst/>
          </a:prstGeom>
          <a:noFill/>
          <a:ln/>
        </p:spPr>
        <p:txBody>
          <a:bodyPr wrap="square" lIns="0" tIns="0" rIns="0" bIns="0" rtlCol="0" anchor="t"/>
          <a:lstStyle/>
          <a:p>
            <a:pPr indent="0" marL="0">
              <a:buNone/>
            </a:pPr>
            <a:r>
              <a:rPr lang="en-US" sz="1700" b="1" dirty="0">
                <a:solidFill>
                  <a:schemeClr val="tx1"/>
                </a:solidFill>
              </a:rPr>
              <a:t>Architecture</a:t>
            </a:r>
            <a:endParaRPr lang="en-US" sz="1700" dirty="0"/>
          </a:p>
        </p:txBody>
      </p:sp>
      <p:sp>
        <p:nvSpPr>
          <p:cNvPr id="6" name="Text 4"/>
          <p:cNvSpPr txBox="1"/>
          <p:nvPr/>
        </p:nvSpPr>
        <p:spPr>
          <a:xfrm>
            <a:off x="1325880" y="1737360"/>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2 min</a:t>
            </a:r>
            <a:endParaRPr lang="en-US" sz="1300" dirty="0"/>
          </a:p>
        </p:txBody>
      </p:sp>
      <p:sp>
        <p:nvSpPr>
          <p:cNvPr id="7" name="Text 5"/>
          <p:cNvSpPr txBox="1"/>
          <p:nvPr/>
        </p:nvSpPr>
        <p:spPr>
          <a:xfrm>
            <a:off x="4023360" y="1399032"/>
            <a:ext cx="7589520" cy="731520"/>
          </a:xfrm>
          <a:prstGeom prst="rect">
            <a:avLst/>
          </a:prstGeom>
          <a:noFill/>
          <a:ln/>
        </p:spPr>
        <p:txBody>
          <a:bodyPr wrap="square" lIns="0" tIns="0" rIns="0" bIns="0" rtlCol="0" anchor="ctr"/>
          <a:lstStyle/>
          <a:p>
            <a:pPr indent="0" marL="0">
              <a:buNone/>
            </a:pPr>
            <a:r>
              <a:rPr lang="en-US" sz="1500" dirty="0">
                <a:solidFill>
                  <a:schemeClr val="tx2"/>
                </a:solidFill>
              </a:rPr>
              <a:t>This deck: one URL, four clusters, two clouds</a:t>
            </a:r>
            <a:endParaRPr lang="en-US" sz="1500" dirty="0"/>
          </a:p>
        </p:txBody>
      </p:sp>
      <p:sp>
        <p:nvSpPr>
          <p:cNvPr id="8" name="Shape 6"/>
          <p:cNvSpPr/>
          <p:nvPr/>
        </p:nvSpPr>
        <p:spPr>
          <a:xfrm>
            <a:off x="548640" y="2359152"/>
            <a:ext cx="548640" cy="548640"/>
          </a:xfrm>
          <a:prstGeom prst="roundRect">
            <a:avLst>
              <a:gd name="adj" fmla="val 10000"/>
            </a:avLst>
          </a:prstGeom>
          <a:solidFill>
            <a:schemeClr val="accent1"/>
          </a:solidFill>
          <a:ln/>
        </p:spPr>
      </p:sp>
      <p:sp>
        <p:nvSpPr>
          <p:cNvPr id="9" name="Text 7"/>
          <p:cNvSpPr txBox="1"/>
          <p:nvPr/>
        </p:nvSpPr>
        <p:spPr>
          <a:xfrm>
            <a:off x="548640" y="23591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325880" y="2313432"/>
            <a:ext cx="2743200" cy="365760"/>
          </a:xfrm>
          <a:prstGeom prst="rect">
            <a:avLst/>
          </a:prstGeom>
          <a:noFill/>
          <a:ln/>
        </p:spPr>
        <p:txBody>
          <a:bodyPr wrap="square" lIns="0" tIns="0" rIns="0" bIns="0" rtlCol="0" anchor="t"/>
          <a:lstStyle/>
          <a:p>
            <a:pPr indent="0" marL="0">
              <a:buNone/>
            </a:pPr>
            <a:r>
              <a:rPr lang="en-US" sz="1700" b="1" dirty="0">
                <a:solidFill>
                  <a:schemeClr val="tx1"/>
                </a:solidFill>
              </a:rPr>
              <a:t>Ticket lifecycle</a:t>
            </a:r>
            <a:endParaRPr lang="en-US" sz="1700" dirty="0"/>
          </a:p>
        </p:txBody>
      </p:sp>
      <p:sp>
        <p:nvSpPr>
          <p:cNvPr id="11" name="Text 9"/>
          <p:cNvSpPr txBox="1"/>
          <p:nvPr/>
        </p:nvSpPr>
        <p:spPr>
          <a:xfrm>
            <a:off x="1325880" y="2679192"/>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5 min</a:t>
            </a:r>
            <a:endParaRPr lang="en-US" sz="1300" dirty="0"/>
          </a:p>
        </p:txBody>
      </p:sp>
      <p:sp>
        <p:nvSpPr>
          <p:cNvPr id="12" name="Text 10"/>
          <p:cNvSpPr txBox="1"/>
          <p:nvPr/>
        </p:nvSpPr>
        <p:spPr>
          <a:xfrm>
            <a:off x="4023360" y="2340864"/>
            <a:ext cx="7589520" cy="731520"/>
          </a:xfrm>
          <a:prstGeom prst="rect">
            <a:avLst/>
          </a:prstGeom>
          <a:noFill/>
          <a:ln/>
        </p:spPr>
        <p:txBody>
          <a:bodyPr wrap="square" lIns="0" tIns="0" rIns="0" bIns="0" rtlCol="0" anchor="ctr"/>
          <a:lstStyle/>
          <a:p>
            <a:pPr indent="0" marL="0">
              <a:buNone/>
            </a:pPr>
            <a:r>
              <a:rPr lang="en-US" sz="1500" dirty="0">
                <a:solidFill>
                  <a:schemeClr val="tx2"/>
                </a:solidFill>
              </a:rPr>
              <a:t>USER raises a critical bug → PM assigns → DEVELOPER moves to In Review → PM closes; history and dashboard</a:t>
            </a:r>
            <a:endParaRPr lang="en-US" sz="1500" dirty="0"/>
          </a:p>
        </p:txBody>
      </p:sp>
      <p:sp>
        <p:nvSpPr>
          <p:cNvPr id="13" name="Shape 11"/>
          <p:cNvSpPr/>
          <p:nvPr/>
        </p:nvSpPr>
        <p:spPr>
          <a:xfrm>
            <a:off x="548640" y="3300984"/>
            <a:ext cx="548640" cy="548640"/>
          </a:xfrm>
          <a:prstGeom prst="roundRect">
            <a:avLst>
              <a:gd name="adj" fmla="val 10000"/>
            </a:avLst>
          </a:prstGeom>
          <a:solidFill>
            <a:schemeClr val="accent1"/>
          </a:solidFill>
          <a:ln/>
        </p:spPr>
      </p:sp>
      <p:sp>
        <p:nvSpPr>
          <p:cNvPr id="14" name="Text 12"/>
          <p:cNvSpPr txBox="1"/>
          <p:nvPr/>
        </p:nvSpPr>
        <p:spPr>
          <a:xfrm>
            <a:off x="548640" y="330098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1325880" y="3255264"/>
            <a:ext cx="2743200" cy="365760"/>
          </a:xfrm>
          <a:prstGeom prst="rect">
            <a:avLst/>
          </a:prstGeom>
          <a:noFill/>
          <a:ln/>
        </p:spPr>
        <p:txBody>
          <a:bodyPr wrap="square" lIns="0" tIns="0" rIns="0" bIns="0" rtlCol="0" anchor="t"/>
          <a:lstStyle/>
          <a:p>
            <a:pPr indent="0" marL="0">
              <a:buNone/>
            </a:pPr>
            <a:r>
              <a:rPr lang="en-US" sz="1700" b="1" dirty="0">
                <a:solidFill>
                  <a:schemeClr val="tx1"/>
                </a:solidFill>
              </a:rPr>
              <a:t>Deployment Portal</a:t>
            </a:r>
            <a:endParaRPr lang="en-US" sz="1700" dirty="0"/>
          </a:p>
        </p:txBody>
      </p:sp>
      <p:sp>
        <p:nvSpPr>
          <p:cNvPr id="16" name="Text 14"/>
          <p:cNvSpPr txBox="1"/>
          <p:nvPr/>
        </p:nvSpPr>
        <p:spPr>
          <a:xfrm>
            <a:off x="1325880" y="3621024"/>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4 min</a:t>
            </a:r>
            <a:endParaRPr lang="en-US" sz="1300" dirty="0"/>
          </a:p>
        </p:txBody>
      </p:sp>
      <p:sp>
        <p:nvSpPr>
          <p:cNvPr id="17" name="Text 15"/>
          <p:cNvSpPr txBox="1"/>
          <p:nvPr/>
        </p:nvSpPr>
        <p:spPr>
          <a:xfrm>
            <a:off x="4023360" y="3282696"/>
            <a:ext cx="7589520" cy="731520"/>
          </a:xfrm>
          <a:prstGeom prst="rect">
            <a:avLst/>
          </a:prstGeom>
          <a:noFill/>
          <a:ln/>
        </p:spPr>
        <p:txBody>
          <a:bodyPr wrap="square" lIns="0" tIns="0" rIns="0" bIns="0" rtlCol="0" anchor="ctr"/>
          <a:lstStyle/>
          <a:p>
            <a:pPr indent="0" marL="0">
              <a:buNone/>
            </a:pPr>
            <a:r>
              <a:rPr lang="en-US" sz="1500" dirty="0">
                <a:solidFill>
                  <a:schemeClr val="tx2"/>
                </a:solidFill>
              </a:rPr>
              <a:t>ADMIN: Apply AWS us-east-1 Dev and watch the steps; open the new URL. Plan Azure Prod</a:t>
            </a:r>
            <a:endParaRPr lang="en-US" sz="1500" dirty="0"/>
          </a:p>
        </p:txBody>
      </p:sp>
      <p:sp>
        <p:nvSpPr>
          <p:cNvPr id="18" name="Shape 16"/>
          <p:cNvSpPr/>
          <p:nvPr/>
        </p:nvSpPr>
        <p:spPr>
          <a:xfrm>
            <a:off x="548640" y="4242816"/>
            <a:ext cx="548640" cy="548640"/>
          </a:xfrm>
          <a:prstGeom prst="roundRect">
            <a:avLst>
              <a:gd name="adj" fmla="val 10000"/>
            </a:avLst>
          </a:prstGeom>
          <a:solidFill>
            <a:schemeClr val="accent1"/>
          </a:solidFill>
          <a:ln/>
        </p:spPr>
      </p:sp>
      <p:sp>
        <p:nvSpPr>
          <p:cNvPr id="19" name="Text 17"/>
          <p:cNvSpPr txBox="1"/>
          <p:nvPr/>
        </p:nvSpPr>
        <p:spPr>
          <a:xfrm>
            <a:off x="548640" y="424281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Text 18"/>
          <p:cNvSpPr txBox="1"/>
          <p:nvPr/>
        </p:nvSpPr>
        <p:spPr>
          <a:xfrm>
            <a:off x="1325880" y="4197096"/>
            <a:ext cx="2743200" cy="365760"/>
          </a:xfrm>
          <a:prstGeom prst="rect">
            <a:avLst/>
          </a:prstGeom>
          <a:noFill/>
          <a:ln/>
        </p:spPr>
        <p:txBody>
          <a:bodyPr wrap="square" lIns="0" tIns="0" rIns="0" bIns="0" rtlCol="0" anchor="t"/>
          <a:lstStyle/>
          <a:p>
            <a:pPr indent="0" marL="0">
              <a:buNone/>
            </a:pPr>
            <a:r>
              <a:rPr lang="en-US" sz="1700" b="1" dirty="0">
                <a:solidFill>
                  <a:schemeClr val="tx1"/>
                </a:solidFill>
              </a:rPr>
              <a:t>Failover</a:t>
            </a:r>
            <a:endParaRPr lang="en-US" sz="1700" dirty="0"/>
          </a:p>
        </p:txBody>
      </p:sp>
      <p:sp>
        <p:nvSpPr>
          <p:cNvPr id="21" name="Text 19"/>
          <p:cNvSpPr txBox="1"/>
          <p:nvPr/>
        </p:nvSpPr>
        <p:spPr>
          <a:xfrm>
            <a:off x="1325880" y="4562856"/>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3 min</a:t>
            </a:r>
            <a:endParaRPr lang="en-US" sz="1300" dirty="0"/>
          </a:p>
        </p:txBody>
      </p:sp>
      <p:sp>
        <p:nvSpPr>
          <p:cNvPr id="22" name="Text 20"/>
          <p:cNvSpPr txBox="1"/>
          <p:nvPr/>
        </p:nvSpPr>
        <p:spPr>
          <a:xfrm>
            <a:off x="4023360" y="4224528"/>
            <a:ext cx="7589520" cy="731520"/>
          </a:xfrm>
          <a:prstGeom prst="rect">
            <a:avLst/>
          </a:prstGeom>
          <a:noFill/>
          <a:ln/>
        </p:spPr>
        <p:txBody>
          <a:bodyPr wrap="square" lIns="0" tIns="0" rIns="0" bIns="0" rtlCol="0" anchor="ctr"/>
          <a:lstStyle/>
          <a:p>
            <a:pPr indent="0" marL="0">
              <a:buNone/>
            </a:pPr>
            <a:r>
              <a:rPr lang="en-US" sz="1500" dirty="0">
                <a:solidFill>
                  <a:schemeClr val="tx2"/>
                </a:solidFill>
              </a:rPr>
              <a:t>Take us-east-1's backend down; Traffic Manager marks it Degraded; the same URL keeps working</a:t>
            </a:r>
            <a:endParaRPr lang="en-US" sz="1500" dirty="0"/>
          </a:p>
        </p:txBody>
      </p:sp>
      <p:sp>
        <p:nvSpPr>
          <p:cNvPr id="23" name="Shape 21"/>
          <p:cNvSpPr/>
          <p:nvPr/>
        </p:nvSpPr>
        <p:spPr>
          <a:xfrm>
            <a:off x="548640" y="5184648"/>
            <a:ext cx="548640" cy="548640"/>
          </a:xfrm>
          <a:prstGeom prst="roundRect">
            <a:avLst>
              <a:gd name="adj" fmla="val 10000"/>
            </a:avLst>
          </a:prstGeom>
          <a:solidFill>
            <a:schemeClr val="accent1"/>
          </a:solidFill>
          <a:ln/>
        </p:spPr>
      </p:sp>
      <p:sp>
        <p:nvSpPr>
          <p:cNvPr id="24" name="Text 22"/>
          <p:cNvSpPr txBox="1"/>
          <p:nvPr/>
        </p:nvSpPr>
        <p:spPr>
          <a:xfrm>
            <a:off x="548640" y="51846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1325880" y="5138928"/>
            <a:ext cx="2743200" cy="365760"/>
          </a:xfrm>
          <a:prstGeom prst="rect">
            <a:avLst/>
          </a:prstGeom>
          <a:noFill/>
          <a:ln/>
        </p:spPr>
        <p:txBody>
          <a:bodyPr wrap="square" lIns="0" tIns="0" rIns="0" bIns="0" rtlCol="0" anchor="t"/>
          <a:lstStyle/>
          <a:p>
            <a:pPr indent="0" marL="0">
              <a:buNone/>
            </a:pPr>
            <a:r>
              <a:rPr lang="en-US" sz="1700" b="1" dirty="0">
                <a:solidFill>
                  <a:schemeClr val="tx1"/>
                </a:solidFill>
              </a:rPr>
              <a:t>Questions</a:t>
            </a:r>
            <a:endParaRPr lang="en-US" sz="1700" dirty="0"/>
          </a:p>
        </p:txBody>
      </p:sp>
      <p:sp>
        <p:nvSpPr>
          <p:cNvPr id="26" name="Text 24"/>
          <p:cNvSpPr txBox="1"/>
          <p:nvPr/>
        </p:nvSpPr>
        <p:spPr>
          <a:xfrm>
            <a:off x="1325880" y="5504688"/>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1 min</a:t>
            </a:r>
            <a:endParaRPr lang="en-US" sz="1300" dirty="0"/>
          </a:p>
        </p:txBody>
      </p:sp>
      <p:sp>
        <p:nvSpPr>
          <p:cNvPr id="27" name="Text 25"/>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300" i="1" dirty="0">
                <a:solidFill>
                  <a:schemeClr val="tx2"/>
                </a:solidFill>
              </a:rPr>
              <a:t>Demo logins: admin@, pm@, dev@, user@trackflow.dev</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One codebase, two clouds, one click</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All 9 delivery steps done and tested in the real cloud</a:t>
            </a:r>
            <a:endParaRPr lang="en-US" sz="2200" dirty="0"/>
          </a:p>
        </p:txBody>
      </p:sp>
      <p:sp>
        <p:nvSpPr>
          <p:cNvPr id="4" name="Text 2"/>
          <p:cNvSpPr txBox="1"/>
          <p:nvPr/>
        </p:nvSpPr>
        <p:spPr>
          <a:xfrm>
            <a:off x="731520" y="406908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Next steps</a:t>
            </a:r>
            <a:endParaRPr lang="en-US" sz="1800" dirty="0"/>
          </a:p>
        </p:txBody>
      </p:sp>
      <p:sp>
        <p:nvSpPr>
          <p:cNvPr id="5" name="Text 3"/>
          <p:cNvSpPr txBox="1"/>
          <p:nvPr/>
        </p:nvSpPr>
        <p:spPr>
          <a:xfrm>
            <a:off x="731520" y="4480560"/>
            <a:ext cx="777240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HTTPS through CloudFront once AWS enables it on the account</a:t>
            </a:r>
            <a:endParaRPr lang="en-US" sz="1600" dirty="0"/>
          </a:p>
          <a:p>
            <a:pPr marL="342900" indent="-342900">
              <a:spcAft>
                <a:spcPts val="600"/>
              </a:spcAft>
              <a:buSzPct val="100000"/>
              <a:buChar char="•"/>
            </a:pPr>
            <a:r>
              <a:rPr lang="en-US" sz="1600" dirty="0">
                <a:solidFill>
                  <a:schemeClr val="bg1"/>
                </a:solidFill>
              </a:rPr>
              <a:t>Cross-region database replicas on a paid plan (one flag)</a:t>
            </a:r>
            <a:endParaRPr lang="en-US" sz="1600" dirty="0"/>
          </a:p>
          <a:p>
            <a:pPr marL="342900" indent="-342900">
              <a:spcAft>
                <a:spcPts val="600"/>
              </a:spcAft>
              <a:buSzPct val="100000"/>
              <a:buChar char="•"/>
            </a:pPr>
            <a:r>
              <a:rPr lang="en-US" sz="1600" dirty="0">
                <a:solidFill>
                  <a:schemeClr val="bg1"/>
                </a:solidFill>
              </a:rPr>
              <a:t>Prometheus is exposed already; add Grafana dashboards and alerts</a:t>
            </a:r>
            <a:endParaRPr lang="en-US" sz="1600" dirty="0"/>
          </a:p>
        </p:txBody>
      </p:sp>
      <p:sp>
        <p:nvSpPr>
          <p:cNvPr id="6" name="Text 4"/>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github.com/Chetansahney/multicloud-tms</a:t>
            </a:r>
            <a:endParaRPr lang="en-US" sz="1400" dirty="0"/>
          </a:p>
        </p:txBody>
      </p:sp>
      <p:sp>
        <p:nvSpPr>
          <p:cNvPr id="7" name="Shape 5"/>
          <p:cNvSpPr/>
          <p:nvPr/>
        </p:nvSpPr>
        <p:spPr>
          <a:xfrm>
            <a:off x="9326880" y="1554480"/>
            <a:ext cx="1051560" cy="1051560"/>
          </a:xfrm>
          <a:prstGeom prst="ellipse">
            <a:avLst/>
          </a:prstGeom>
          <a:solidFill>
            <a:schemeClr val="accent2"/>
          </a:solidFill>
          <a:ln/>
        </p:spPr>
      </p:sp>
      <p:pic>
        <p:nvPicPr>
          <p:cNvPr id="8"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9" name="Shape 6"/>
          <p:cNvSpPr/>
          <p:nvPr/>
        </p:nvSpPr>
        <p:spPr>
          <a:xfrm>
            <a:off x="10515600" y="1554480"/>
            <a:ext cx="1051560" cy="10515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11" name="Shape 7"/>
          <p:cNvSpPr/>
          <p:nvPr/>
        </p:nvSpPr>
        <p:spPr>
          <a:xfrm>
            <a:off x="9921240" y="2743200"/>
            <a:ext cx="1051560" cy="1051560"/>
          </a:xfrm>
          <a:prstGeom prst="ellipse">
            <a:avLst/>
          </a:prstGeom>
          <a:solidFill>
            <a:srgbClr val="326CE5"/>
          </a:solidFill>
          <a:ln/>
        </p:spPr>
      </p:sp>
      <p:pic>
        <p:nvPicPr>
          <p:cNvPr id="12"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theme/theme1.xml><?xml version="1.0" encoding="utf-8"?>
<a:theme xmlns:a="http://schemas.openxmlformats.org/drawingml/2006/main" name="TrackFlow">
  <a:themeElements>
    <a:clrScheme name="TrackFlow">
      <a:dk1>
        <a:srgbClr val="172B4D"/>
      </a:dk1>
      <a:lt1>
        <a:srgbClr val="FFFFFF"/>
      </a:lt1>
      <a:dk2>
        <a:srgbClr val="0B1B33"/>
      </a:dk2>
      <a:lt2>
        <a:srgbClr val="F1F4F8"/>
      </a:lt2>
      <a:accent1>
        <a:srgbClr val="0C66E4"/>
      </a:accent1>
      <a:accent2>
        <a:srgbClr val="FF9900"/>
      </a:accent2>
      <a:accent3>
        <a:srgbClr val="0078D4"/>
      </a:accent3>
      <a:accent4>
        <a:srgbClr val="1F845A"/>
      </a:accent4>
      <a:accent5>
        <a:srgbClr val="C9372C"/>
      </a:accent5>
      <a:accent6>
        <a:srgbClr val="6E5DC6"/>
      </a:accent6>
      <a:hlink>
        <a:srgbClr val="0C66E4"/>
      </a:hlink>
      <a:folHlink>
        <a:srgbClr val="6E5DC6"/>
      </a:folHlink>
    </a:clrScheme>
    <a:fontScheme name="TrackFl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TrackFlow — Multi-Cloud Ticket Management System</dc:title>
  <dc:subject>Final demo</dc:subject>
  <dc:creator>Chetan Sahney</dc:creator>
  <cp:lastModifiedBy>Chetan Sahney</cp:lastModifiedBy>
  <cp:revision>1</cp:revision>
  <dcterms:created xsi:type="dcterms:W3CDTF">2026-10-17T14:25:56Z</dcterms:created>
  <dcterms:modified xsi:type="dcterms:W3CDTF">2026-10-17T14:25:56Z</dcterms:modified>
</cp:coreProperties>
</file>